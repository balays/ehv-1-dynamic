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relative expression</c:v>
                </c:pt>
              </c:strCache>
            </c:strRef>
          </c:tx>
          <c:spPr>
            <a:solidFill>
              <a:srgbClr val="A7B1BE"/>
            </a:solidFill>
            <a:effectLst/>
          </c:spPr>
          <c:invertIfNegative val="0"/>
          <c:dLbls>
            <c:numFmt formatCode="0.0x" sourceLinked="0"/>
            <c:txPr>
              <a:bodyPr/>
              <a:lstStyle/>
              <a:p>
                <a:pPr>
                  <a:defRPr b="0" i="0" strike="noStrike" sz="1200" u="none">
                    <a:solidFill>
                      <a:srgbClr val="12263A"/>
                    </a:solidFill>
                    <a:latin typeface="Arial"/>
                  </a:defRPr>
                </a:pPr>
              </a:p>
            </c:txPr>
            <c:showLegendKey val="0"/>
            <c:showVal val="1"/>
            <c:showCatName val="0"/>
            <c:showSerName val="0"/>
            <c:showPercent val="0"/>
            <c:showBubbleSize val="0"/>
            <c:showLeaderLines val="0"/>
          </c:dLbls>
          <c:dPt>
            <c:idx val="0"/>
            <c:invertIfNegative val="0"/>
            <c:bubble3D val="0"/>
            <c:spPr>
              <a:solidFill>
                <a:srgbClr val="A7B1BE"/>
              </a:solidFill>
              <a:effectLst/>
            </c:spPr>
          </c:dPt>
          <c:dPt>
            <c:idx val="1"/>
            <c:invertIfNegative val="0"/>
            <c:bubble3D val="0"/>
            <c:spPr>
              <a:solidFill>
                <a:srgbClr val="E15759"/>
              </a:solidFill>
              <a:effectLst/>
            </c:spPr>
          </c:dPt>
          <c:cat>
            <c:multiLvlStrRef>
              <c:f>Sheet1!$A$2:$A$3</c:f>
              <c:multiLvlStrCache>
                <c:ptCount val="2"/>
                <c:lvl>
                  <c:pt idx="0">
                    <c:v>ORF67
(next highest)</c:v>
                  </c:pt>
                  <c:pt idx="1">
                    <c:v>ORF64</c:v>
                  </c:pt>
                </c:lvl>
              </c:multiLvlStrCache>
            </c:multiLvlStrRef>
          </c:cat>
          <c:val>
            <c:numRef>
              <c:f>Sheet1!$B$2:$B$3</c:f>
              <c:numCache>
                <c:formatCode>General</c:formatCode>
                <c:ptCount val="2"/>
                <c:pt idx="0">
                  <c:v>1</c:v>
                </c:pt>
                <c:pt idx="1">
                  <c:v>12.1</c:v>
                </c:pt>
              </c:numCache>
            </c:numRef>
          </c:val>
        </c:ser>
        <c:dLbls>
          <c:numFmt formatCode="0.0x" sourceLinked="0"/>
          <c:txPr>
            <a:bodyPr/>
            <a:lstStyle/>
            <a:p>
              <a:pPr>
                <a:defRPr b="0" i="0" strike="noStrike" sz="1200" u="none">
                  <a:solidFill>
                    <a:srgbClr val="1226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ORF5 · E</c:v>
                </c:pt>
              </c:strCache>
            </c:strRef>
          </c:tx>
          <c:spPr>
            <a:solidFill>
              <a:srgbClr val="F28E2B"/>
            </a:solidFill>
            <a:ln w="29210" cap="flat">
              <a:solidFill>
                <a:srgbClr val="F28E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28E2B"/>
              </a:solidFill>
              <a:ln w="9525" cap="flat">
                <a:solidFill>
                  <a:srgbClr val="F28E2B"/>
                </a:solidFill>
                <a:prstDash val="solid"/>
                <a:round/>
              </a:ln>
              <a:effectLst/>
            </c:spPr>
          </c:marker>
          <c:cat>
            <c:multiLvlStrRef>
              <c:f>Sheet1!$A$2:$A$10</c:f>
              <c:multiLvlStrCache>
                <c:ptCount val="9"/>
                <c:lvl>
                  <c:pt idx="0">
                    <c:v>1</c:v>
                  </c:pt>
                  <c:pt idx="1">
                    <c:v>2</c:v>
                  </c:pt>
                  <c:pt idx="2">
                    <c:v>4</c:v>
                  </c:pt>
                  <c:pt idx="3">
                    <c:v>6</c:v>
                  </c:pt>
                  <c:pt idx="4">
                    <c:v>8</c:v>
                  </c:pt>
                  <c:pt idx="5">
                    <c:v>12</c:v>
                  </c:pt>
                  <c:pt idx="6">
                    <c:v>18</c:v>
                  </c:pt>
                  <c:pt idx="7">
                    <c:v>24</c:v>
                  </c:pt>
                  <c:pt idx="8">
                    <c:v>48</c:v>
                  </c:pt>
                </c:lvl>
              </c:multiLvlStrCache>
            </c:multiLvlStrRef>
          </c:cat>
          <c:val>
            <c:numRef>
              <c:f>Sheet1!$B$2:$B$10</c:f>
              <c:numCache>
                <c:formatCode>General</c:formatCode>
                <c:ptCount val="9"/>
                <c:pt idx="0">
                  <c:v>0</c:v>
                </c:pt>
                <c:pt idx="1">
                  <c:v>1</c:v>
                </c:pt>
                <c:pt idx="2">
                  <c:v>0.7432962465211177</c:v>
                </c:pt>
                <c:pt idx="3">
                  <c:v>0.11262137872162525</c:v>
                </c:pt>
                <c:pt idx="4">
                  <c:v>0.08453294580035062</c:v>
                </c:pt>
                <c:pt idx="5">
                  <c:v>0.04474954917724814</c:v>
                </c:pt>
                <c:pt idx="6">
                  <c:v>0.006069478369839889</c:v>
                </c:pt>
                <c:pt idx="7">
                  <c:v>0.005479164335685482</c:v>
                </c:pt>
                <c:pt idx="8">
                  <c:v>0.004752605692136087</c:v>
                </c:pt>
              </c:numCache>
            </c:numRef>
          </c:val>
          <c:smooth val="0"/>
        </c:ser>
        <c:ser>
          <c:idx val="1"/>
          <c:order val="1"/>
          <c:tx>
            <c:strRef>
              <c:f>Sheet1!$C$1</c:f>
              <c:strCache>
                <c:ptCount val="1"/>
                <c:pt idx="0">
                  <c:v>ORF31 · E</c:v>
                </c:pt>
              </c:strCache>
            </c:strRef>
          </c:tx>
          <c:spPr>
            <a:solidFill>
              <a:srgbClr val="E3A54E"/>
            </a:solidFill>
            <a:ln w="29210" cap="flat">
              <a:solidFill>
                <a:srgbClr val="E3A54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3A54E"/>
              </a:solidFill>
              <a:ln w="9525" cap="flat">
                <a:solidFill>
                  <a:srgbClr val="E3A54E"/>
                </a:solidFill>
                <a:prstDash val="solid"/>
                <a:round/>
              </a:ln>
              <a:effectLst/>
            </c:spPr>
          </c:marker>
          <c:cat>
            <c:multiLvlStrRef>
              <c:f>Sheet1!$A$2:$A$10</c:f>
              <c:multiLvlStrCache>
                <c:ptCount val="9"/>
                <c:lvl>
                  <c:pt idx="0">
                    <c:v>1</c:v>
                  </c:pt>
                  <c:pt idx="1">
                    <c:v>2</c:v>
                  </c:pt>
                  <c:pt idx="2">
                    <c:v>4</c:v>
                  </c:pt>
                  <c:pt idx="3">
                    <c:v>6</c:v>
                  </c:pt>
                  <c:pt idx="4">
                    <c:v>8</c:v>
                  </c:pt>
                  <c:pt idx="5">
                    <c:v>12</c:v>
                  </c:pt>
                  <c:pt idx="6">
                    <c:v>18</c:v>
                  </c:pt>
                  <c:pt idx="7">
                    <c:v>24</c:v>
                  </c:pt>
                  <c:pt idx="8">
                    <c:v>48</c:v>
                  </c:pt>
                </c:lvl>
              </c:multiLvlStrCache>
            </c:multiLvlStrRef>
          </c:cat>
          <c:val>
            <c:numRef>
              <c:f>Sheet1!$C$2:$C$10</c:f>
              <c:numCache>
                <c:formatCode>General</c:formatCode>
                <c:ptCount val="9"/>
                <c:pt idx="0">
                  <c:v>0</c:v>
                </c:pt>
                <c:pt idx="1">
                  <c:v>0.9172290475439476</c:v>
                </c:pt>
                <c:pt idx="2">
                  <c:v>1</c:v>
                </c:pt>
                <c:pt idx="3">
                  <c:v>0.09330821973322312</c:v>
                </c:pt>
                <c:pt idx="4">
                  <c:v>0.28127964849093523</c:v>
                </c:pt>
                <c:pt idx="5">
                  <c:v>0.18904328002209322</c:v>
                </c:pt>
                <c:pt idx="6">
                  <c:v>0.016189389395516618</c:v>
                </c:pt>
                <c:pt idx="7">
                  <c:v>0.052066318279667775</c:v>
                </c:pt>
                <c:pt idx="8">
                  <c:v>0.0303101006392276</c:v>
                </c:pt>
              </c:numCache>
            </c:numRef>
          </c:val>
          <c:smooth val="0"/>
        </c:ser>
        <c:ser>
          <c:idx val="2"/>
          <c:order val="2"/>
          <c:tx>
            <c:strRef>
              <c:f>Sheet1!$D$1</c:f>
              <c:strCache>
                <c:ptCount val="1"/>
                <c:pt idx="0">
                  <c:v>ORF22 · L</c:v>
                </c:pt>
              </c:strCache>
            </c:strRef>
          </c:tx>
          <c:spPr>
            <a:solidFill>
              <a:srgbClr val="59A14F"/>
            </a:solidFill>
            <a:ln w="29210" cap="flat">
              <a:solidFill>
                <a:srgbClr val="59A1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59A14F"/>
              </a:solidFill>
              <a:ln w="9525" cap="flat">
                <a:solidFill>
                  <a:srgbClr val="59A14F"/>
                </a:solidFill>
                <a:prstDash val="solid"/>
                <a:round/>
              </a:ln>
              <a:effectLst/>
            </c:spPr>
          </c:marker>
          <c:cat>
            <c:multiLvlStrRef>
              <c:f>Sheet1!$A$2:$A$10</c:f>
              <c:multiLvlStrCache>
                <c:ptCount val="9"/>
                <c:lvl>
                  <c:pt idx="0">
                    <c:v>1</c:v>
                  </c:pt>
                  <c:pt idx="1">
                    <c:v>2</c:v>
                  </c:pt>
                  <c:pt idx="2">
                    <c:v>4</c:v>
                  </c:pt>
                  <c:pt idx="3">
                    <c:v>6</c:v>
                  </c:pt>
                  <c:pt idx="4">
                    <c:v>8</c:v>
                  </c:pt>
                  <c:pt idx="5">
                    <c:v>12</c:v>
                  </c:pt>
                  <c:pt idx="6">
                    <c:v>18</c:v>
                  </c:pt>
                  <c:pt idx="7">
                    <c:v>24</c:v>
                  </c:pt>
                  <c:pt idx="8">
                    <c:v>48</c:v>
                  </c:pt>
                </c:lvl>
              </c:multiLvlStrCache>
            </c:multiLvlStrRef>
          </c:cat>
          <c:val>
            <c:numRef>
              <c:f>Sheet1!$D$2:$D$10</c:f>
              <c:numCache>
                <c:formatCode>General</c:formatCode>
                <c:ptCount val="9"/>
                <c:pt idx="0">
                  <c:v>0</c:v>
                </c:pt>
                <c:pt idx="1">
                  <c:v>0.2888070852021209</c:v>
                </c:pt>
                <c:pt idx="2">
                  <c:v>0.5682253771726843</c:v>
                </c:pt>
                <c:pt idx="3">
                  <c:v>0.3805952029909543</c:v>
                </c:pt>
                <c:pt idx="4">
                  <c:v>0.9922765494166736</c:v>
                </c:pt>
                <c:pt idx="5">
                  <c:v>1</c:v>
                </c:pt>
                <c:pt idx="6">
                  <c:v>0.539634694113514</c:v>
                </c:pt>
                <c:pt idx="7">
                  <c:v>0.9658090215012628</c:v>
                </c:pt>
                <c:pt idx="8">
                  <c:v>0.6835044224953569</c:v>
                </c:pt>
              </c:numCache>
            </c:numRef>
          </c:val>
          <c:smooth val="0"/>
        </c:ser>
        <c:ser>
          <c:idx val="3"/>
          <c:order val="3"/>
          <c:tx>
            <c:strRef>
              <c:f>Sheet1!$E$1</c:f>
              <c:strCache>
                <c:ptCount val="1"/>
                <c:pt idx="0">
                  <c:v>ORF43 · L</c:v>
                </c:pt>
              </c:strCache>
            </c:strRef>
          </c:tx>
          <c:spPr>
            <a:solidFill>
              <a:srgbClr val="4E79A7"/>
            </a:solidFill>
            <a:ln w="29210" cap="flat">
              <a:solidFill>
                <a:srgbClr val="4E79A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E79A7"/>
              </a:solidFill>
              <a:ln w="9525" cap="flat">
                <a:solidFill>
                  <a:srgbClr val="4E79A7"/>
                </a:solidFill>
                <a:prstDash val="solid"/>
                <a:round/>
              </a:ln>
              <a:effectLst/>
            </c:spPr>
          </c:marker>
          <c:cat>
            <c:multiLvlStrRef>
              <c:f>Sheet1!$A$2:$A$10</c:f>
              <c:multiLvlStrCache>
                <c:ptCount val="9"/>
                <c:lvl>
                  <c:pt idx="0">
                    <c:v>1</c:v>
                  </c:pt>
                  <c:pt idx="1">
                    <c:v>2</c:v>
                  </c:pt>
                  <c:pt idx="2">
                    <c:v>4</c:v>
                  </c:pt>
                  <c:pt idx="3">
                    <c:v>6</c:v>
                  </c:pt>
                  <c:pt idx="4">
                    <c:v>8</c:v>
                  </c:pt>
                  <c:pt idx="5">
                    <c:v>12</c:v>
                  </c:pt>
                  <c:pt idx="6">
                    <c:v>18</c:v>
                  </c:pt>
                  <c:pt idx="7">
                    <c:v>24</c:v>
                  </c:pt>
                  <c:pt idx="8">
                    <c:v>48</c:v>
                  </c:pt>
                </c:lvl>
              </c:multiLvlStrCache>
            </c:multiLvlStrRef>
          </c:cat>
          <c:val>
            <c:numRef>
              <c:f>Sheet1!$E$2:$E$10</c:f>
              <c:numCache>
                <c:formatCode>General</c:formatCode>
                <c:ptCount val="9"/>
                <c:pt idx="0">
                  <c:v>0</c:v>
                </c:pt>
                <c:pt idx="1">
                  <c:v>0.041087401661010374</c:v>
                </c:pt>
                <c:pt idx="2">
                  <c:v>0.09982347027807273</c:v>
                </c:pt>
                <c:pt idx="3">
                  <c:v>0.18813647104655745</c:v>
                </c:pt>
                <c:pt idx="4">
                  <c:v>0.7917857198102912</c:v>
                </c:pt>
                <c:pt idx="5">
                  <c:v>1</c:v>
                </c:pt>
                <c:pt idx="6">
                  <c:v>0.45752434723976504</c:v>
                </c:pt>
                <c:pt idx="7">
                  <c:v>0.8390007122663651</c:v>
                </c:pt>
                <c:pt idx="8">
                  <c:v>0.6685738698265635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b="0" i="0" u="none" strike="noStrike">
                    <a:solidFill>
                      <a:srgbClr val="000000"/>
                    </a:solidFill>
                    <a:latin typeface="Arial"/>
                  </a:defRPr>
                </a:pPr>
                <a:r>
                  <a:rPr b="0" i="0" u="none" strike="noStrike">
                    <a:solidFill>
                      <a:srgbClr val="000000"/>
                    </a:solidFill>
                    <a:latin typeface="Arial"/>
                  </a:rPr>
                  <a:t>hours post-infection</a:t>
                </a:r>
              </a:p>
            </c:rich>
          </c:tx>
          <c:layout/>
          <c:overlay val="0"/>
        </c:title>
        <c:numFmt formatCode="General" sourceLinked="1"/>
        <c:majorTickMark val="out"/>
        <c:minorTickMark val="none"/>
        <c:tickLblPos val="low"/>
        <c:spPr>
          <a:ln w="12700" cap="flat">
            <a:solidFill>
              <a:srgbClr val="AAB5C1"/>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5"/>
          <c:min val="0"/>
        </c:scaling>
        <c:delete val="0"/>
        <c:axPos val="l"/>
        <c:majorGridlines>
          <c:spPr>
            <a:ln w="12700" cap="flat">
              <a:solidFill>
                <a:srgbClr val="888888"/>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within-gene normalized abundance</a:t>
                </a:r>
              </a:p>
            </c:rich>
          </c:tx>
          <c:layout/>
          <c:overlay val="0"/>
        </c:title>
        <c:numFmt formatCode="General" sourceLinked="0"/>
        <c:majorTickMark val="out"/>
        <c:minorTickMark val="none"/>
        <c:tickLblPos val="nextTo"/>
        <c:spPr>
          <a:ln w="12700" cap="flat">
            <a:solidFill>
              <a:srgbClr val="AAB5C1"/>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majorUnit val="0.25"/>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ORF54 canonical</c:v>
                </c:pt>
              </c:strCache>
            </c:strRef>
          </c:tx>
          <c:spPr>
            <a:solidFill>
              <a:srgbClr val="1F8A8A"/>
            </a:solidFill>
            <a:ln w="29210" cap="flat">
              <a:solidFill>
                <a:srgbClr val="1F8A8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F8A8A"/>
              </a:solidFill>
              <a:ln w="9525" cap="flat">
                <a:solidFill>
                  <a:srgbClr val="1F8A8A"/>
                </a:solidFill>
                <a:prstDash val="solid"/>
                <a:round/>
              </a:ln>
              <a:effectLst/>
            </c:spPr>
          </c:marker>
          <c:cat>
            <c:multiLvlStrRef>
              <c:f>Sheet1!$A$2:$A$10</c:f>
              <c:multiLvlStrCache>
                <c:ptCount val="9"/>
                <c:lvl>
                  <c:pt idx="0">
                    <c:v>1</c:v>
                  </c:pt>
                  <c:pt idx="1">
                    <c:v>2</c:v>
                  </c:pt>
                  <c:pt idx="2">
                    <c:v>4</c:v>
                  </c:pt>
                  <c:pt idx="3">
                    <c:v>6</c:v>
                  </c:pt>
                  <c:pt idx="4">
                    <c:v>8</c:v>
                  </c:pt>
                  <c:pt idx="5">
                    <c:v>12</c:v>
                  </c:pt>
                  <c:pt idx="6">
                    <c:v>18</c:v>
                  </c:pt>
                  <c:pt idx="7">
                    <c:v>24</c:v>
                  </c:pt>
                  <c:pt idx="8">
                    <c:v>48</c:v>
                  </c:pt>
                </c:lvl>
              </c:multiLvlStrCache>
            </c:multiLvlStrRef>
          </c:cat>
          <c:val>
            <c:numRef>
              <c:f>Sheet1!$B$2:$B$10</c:f>
              <c:numCache>
                <c:formatCode>General</c:formatCode>
                <c:ptCount val="9"/>
                <c:pt idx="0">
                  <c:v>0</c:v>
                </c:pt>
                <c:pt idx="1">
                  <c:v>0</c:v>
                </c:pt>
                <c:pt idx="2">
                  <c:v>0</c:v>
                </c:pt>
                <c:pt idx="3">
                  <c:v>0.2777778</c:v>
                </c:pt>
                <c:pt idx="4">
                  <c:v>0.488478</c:v>
                </c:pt>
                <c:pt idx="5">
                  <c:v>0.8117061</c:v>
                </c:pt>
                <c:pt idx="6">
                  <c:v>0.9636016</c:v>
                </c:pt>
                <c:pt idx="7">
                  <c:v>0.9257059</c:v>
                </c:pt>
                <c:pt idx="8">
                  <c:v>0.9316761</c:v>
                </c:pt>
              </c:numCache>
            </c:numRef>
          </c:val>
          <c:smooth val="0"/>
        </c:ser>
        <c:ser>
          <c:idx val="1"/>
          <c:order val="1"/>
          <c:tx>
            <c:strRef>
              <c:f>Sheet1!$C$1</c:f>
              <c:strCache>
                <c:ptCount val="1"/>
                <c:pt idx="0">
                  <c:v>ORF54-S</c:v>
                </c:pt>
              </c:strCache>
            </c:strRef>
          </c:tx>
          <c:spPr>
            <a:solidFill>
              <a:srgbClr val="F28E2B"/>
            </a:solidFill>
            <a:ln w="29210" cap="flat">
              <a:solidFill>
                <a:srgbClr val="F28E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28E2B"/>
              </a:solidFill>
              <a:ln w="9525" cap="flat">
                <a:solidFill>
                  <a:srgbClr val="F28E2B"/>
                </a:solidFill>
                <a:prstDash val="solid"/>
                <a:round/>
              </a:ln>
              <a:effectLst/>
            </c:spPr>
          </c:marker>
          <c:cat>
            <c:multiLvlStrRef>
              <c:f>Sheet1!$A$2:$A$10</c:f>
              <c:multiLvlStrCache>
                <c:ptCount val="9"/>
                <c:lvl>
                  <c:pt idx="0">
                    <c:v>1</c:v>
                  </c:pt>
                  <c:pt idx="1">
                    <c:v>2</c:v>
                  </c:pt>
                  <c:pt idx="2">
                    <c:v>4</c:v>
                  </c:pt>
                  <c:pt idx="3">
                    <c:v>6</c:v>
                  </c:pt>
                  <c:pt idx="4">
                    <c:v>8</c:v>
                  </c:pt>
                  <c:pt idx="5">
                    <c:v>12</c:v>
                  </c:pt>
                  <c:pt idx="6">
                    <c:v>18</c:v>
                  </c:pt>
                  <c:pt idx="7">
                    <c:v>24</c:v>
                  </c:pt>
                  <c:pt idx="8">
                    <c:v>48</c:v>
                  </c:pt>
                </c:lvl>
              </c:multiLvlStrCache>
            </c:multiLvlStrRef>
          </c:cat>
          <c:val>
            <c:numRef>
              <c:f>Sheet1!$C$2:$C$10</c:f>
              <c:numCache>
                <c:formatCode>General</c:formatCode>
                <c:ptCount val="9"/>
                <c:pt idx="0">
                  <c:v>0</c:v>
                </c:pt>
                <c:pt idx="1">
                  <c:v>1</c:v>
                </c:pt>
                <c:pt idx="2">
                  <c:v>0.9761905</c:v>
                </c:pt>
                <c:pt idx="3">
                  <c:v>0.6</c:v>
                </c:pt>
                <c:pt idx="4">
                  <c:v>0.2247037</c:v>
                </c:pt>
                <c:pt idx="5">
                  <c:v>0.0148631</c:v>
                </c:pt>
                <c:pt idx="6">
                  <c:v>0.0107202</c:v>
                </c:pt>
                <c:pt idx="7">
                  <c:v>0.0012667</c:v>
                </c:pt>
                <c:pt idx="8">
                  <c:v>0.0084559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b="0" i="0" u="none" strike="noStrike">
                    <a:solidFill>
                      <a:srgbClr val="000000"/>
                    </a:solidFill>
                    <a:latin typeface="Arial"/>
                  </a:defRPr>
                </a:pPr>
                <a:r>
                  <a:rPr b="0" i="0" u="none" strike="noStrike">
                    <a:solidFill>
                      <a:srgbClr val="000000"/>
                    </a:solidFill>
                    <a:latin typeface="Arial"/>
                  </a:rPr>
                  <a:t>hours post-infection</a:t>
                </a:r>
              </a:p>
            </c:rich>
          </c:tx>
          <c:layout/>
          <c:overlay val="0"/>
        </c:title>
        <c:numFmt formatCode="General" sourceLinked="1"/>
        <c:majorTickMark val="out"/>
        <c:minorTickMark val="none"/>
        <c:tickLblPos val="low"/>
        <c:spPr>
          <a:ln w="12700" cap="flat">
            <a:solidFill>
              <a:srgbClr val="AAB5C1"/>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5"/>
          <c:min val="0"/>
        </c:scaling>
        <c:delete val="0"/>
        <c:axPos val="l"/>
        <c:majorGridlines>
          <c:spPr>
            <a:ln w="12700" cap="flat">
              <a:solidFill>
                <a:srgbClr val="888888"/>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fraction of ORF54 isoforms</a:t>
                </a:r>
              </a:p>
            </c:rich>
          </c:tx>
          <c:layout/>
          <c:overlay val="0"/>
        </c:title>
        <c:numFmt formatCode="General" sourceLinked="0"/>
        <c:majorTickMark val="out"/>
        <c:minorTickMark val="none"/>
        <c:tickLblPos val="nextTo"/>
        <c:spPr>
          <a:ln w="12700" cap="flat">
            <a:solidFill>
              <a:srgbClr val="AAB5C1"/>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majorUnit val="0.25"/>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EHV-1 is a compact DNA virus, but its transcriptome is anything but simple. In this study we combined full-length nanopore sequencing with cap-specific CAGE data to follow transcript architecture over the entire infection cycle. The key point of the talk is that gene expression is not only changing in amount — the identity and structure of the RNA molecules changes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problem. EHV-1 has a roughly 150 kb double-stranded DNA genome and 76 unique protein-coding genes, yet adjacent genes frequently share transcript ends or are embedded in longer RNAs. The classical immediate-early, early and late scheme describes gene-level timing, but it does not necessarily describe which full-length RNA isoform is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methodological idea is complementarity. CAGE is excellent for capped 5-prime ends. Direct cDNA provides long reads that connect those starts to splice junctions and transcript ends. The earlier native direct-RNA dataset is especially useful as an independent validation source, although its 5-prime ends are less reliable because of truncation.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 course is one of the strengths of the study: nine points from one hour to 48 hours post infection, with three replicates at each point, yielding 27 direct-cDNA libraries and about 3.33 million viral long reads. A separate cycloheximide experiment blocks new protein synthesis and tests which viral genes can still be expressed as true immediate-early genes.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methodological core. Long-read alignments were converted into nucleotide-resolved transfrags retaining adapter evidence. CAGEfightR identifies TSS clusters, and broad clusters were refined using the actual dcDNA 5-prime-end peaks. Refined TSSs are then paired to validated TESs. Novel transcripts require multiple reads, correct adapters and agreement with the independent CAGE evidence. Putative embedded mRNAs received an extra stringent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integration has a concrete annotation payoff: 169 novel transcript models. The paper explicitly reports 80 monocistronic UTR isoforms, 18 multicistronic UTR isoforms, 26 non-coding RNAs and 29 putative embedded mRNAs. I would not add these numbers as if they exhaust the 169, because the published category list is not a complete partition. The important message is that the EHV-1 transcriptome is substantially richer than a one-gene-one-transcript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Cycloheximide gives a clean biological anchor for the kinetic program. ORF64 remains dramatically more abundant than every other viral gene when new protein synthesis is blocked. Its expression is 12.1-fold higher than the second most abundant gene, ORF67, with an extreme statistical signal. This confirms ORF64 as the sole immediate-early gene.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require reads to span both the canonical TSS and TES, the expected temporal waves are visible. Early genes such as ORF5 and ORF31 are strongest around two to four hours, whereas representative late genes rise around eight to twelve hours. So the classical model is not wrong — the question is how much complexity it hides.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important conceptual point for the audience. A transcription end may be shared by several RNAs initiated from different promoters. Conversely, one promoter can generate alternative transcript ends. Measuring ends independently therefore mixes molecules. Long reads let us link the two ends and any introns on the same RNA, which is the only way to assign kinetics to a specific transcript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 novo clustering makes the central biological message clearer. Most genes still align with early or late behavior, but the borders are fuzzy. ORF38 is traditionally late yet shows an early-like TSS peak; ORF54 is classified as early but has a late TSS peak; and ORF45 shows a bimodal pattern. The transcriptome behaves as overlapping temporal waves rather than three sealed compartments.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Splicing shows its own kinetics. For ORF9, the two highlighted spliced transcripts are essentially absent from one through eight hours. They appear at 12 hours, exceed eleven percent by 18 hours and reach about 17 percent at 48 hours. In parallel, the canonical ORF9 RNA loses dominance. So the identity of the transcript pool changes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ORF54 is one of the strongest visual examples for a talk. The short isoform dominates extremely early, but by eight hours the canonical transcript overtakes it and by 18 hours the canonical RNA is over 96 percent of the detected ORF54 isoform pool. ORF19 shows another dramatic shift: the canonical RNA falls from complete early dominance to about 15 percent by 48 hours, while complex isoforms become dominant.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raw-read view emphasizes another property of herpesvirus transcription: overlaps become more extensive as infection progresses. This means neighboring polymerases can potentially interfere with one another. The paper discusses transcriptional interference as a plausible regulatory mechanism, but I would present that explicitly as a hypothesis rather than a demonstrated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synthesis slide. Gene abundance is only one layer. Promoter choice changes 5-prime structure; termination changes transcript length and overlap; splicing changes exon composition; and overlapping or antisense transcription changes the genomic environment itself. Long reads make it possible to study these layers together on individual RNA molecules.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three points. First, integrating CAGE with long reads materially improves transcript annotation. Second, ORF64 is a clean immediate-early outlier, whereas the downstream program has overlapping waves. Third, the strongest new biological insight is transcript-level regulation: the proportions of different RNAs from the same locus change through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only if methods questions come up. The main point is that the pipeline does not accept every long-read boundary as a transcript. Adapter evidence, independent CAGE support, TES validation and extra filtering for potentially truncated ORF-carrying RNAs were combined to reduce false positives.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backup slide is useful if someone asks where the data or code can be found. The paper provides the ENA accessions and the GitHub repository contains the workflows, processed result tables and generated publication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8A8A"/>
          </a:solidFill>
          <a:ln w="12700">
            <a:solidFill>
              <a:srgbClr val="1F8A8A"/>
            </a:solidFill>
            <a:prstDash val="solid"/>
          </a:ln>
        </p:spPr>
      </p:sp>
      <p:sp>
        <p:nvSpPr>
          <p:cNvPr id="3" name="Text 1"/>
          <p:cNvSpPr/>
          <p:nvPr/>
        </p:nvSpPr>
        <p:spPr>
          <a:xfrm>
            <a:off x="502920" y="6510528"/>
            <a:ext cx="4389120" cy="164592"/>
          </a:xfrm>
          <a:prstGeom prst="rect">
            <a:avLst/>
          </a:prstGeom>
          <a:noFill/>
          <a:ln/>
        </p:spPr>
        <p:txBody>
          <a:bodyPr wrap="square" lIns="0" tIns="0" rIns="0" bIns="0" rtlCol="0" anchor="ctr"/>
          <a:lstStyle/>
          <a:p>
            <a:pPr indent="0" marL="0">
              <a:buNone/>
            </a:pPr>
            <a:r>
              <a:rPr lang="en-US" sz="850" dirty="0">
                <a:solidFill>
                  <a:srgbClr val="8A97A6"/>
                </a:solidFill>
                <a:latin typeface="Aptos" pitchFamily="34" charset="0"/>
                <a:ea typeface="Aptos" pitchFamily="34" charset="-122"/>
                <a:cs typeface="Aptos" pitchFamily="34" charset="-120"/>
              </a:rPr>
              <a:t>EHV-1 dynamic transcriptome</a:t>
            </a:r>
            <a:endParaRPr lang="en-US" sz="850" dirty="0"/>
          </a:p>
        </p:txBody>
      </p:sp>
      <p:sp>
        <p:nvSpPr>
          <p:cNvPr id="4" name="Text 2"/>
          <p:cNvSpPr/>
          <p:nvPr/>
        </p:nvSpPr>
        <p:spPr>
          <a:xfrm>
            <a:off x="6537960" y="6510528"/>
            <a:ext cx="5120640" cy="164592"/>
          </a:xfrm>
          <a:prstGeom prst="rect">
            <a:avLst/>
          </a:prstGeom>
          <a:noFill/>
          <a:ln/>
        </p:spPr>
        <p:txBody>
          <a:bodyPr wrap="square" lIns="0" tIns="0" rIns="0" bIns="0" rtlCol="0" anchor="ctr"/>
          <a:lstStyle/>
          <a:p>
            <a:pPr algn="r" indent="0" marL="0">
              <a:buNone/>
            </a:pPr>
            <a:r>
              <a:rPr lang="en-US" sz="850" dirty="0">
                <a:solidFill>
                  <a:srgbClr val="8A97A6"/>
                </a:solidFill>
                <a:latin typeface="Aptos" pitchFamily="34" charset="0"/>
                <a:ea typeface="Aptos" pitchFamily="34" charset="-122"/>
                <a:cs typeface="Aptos" pitchFamily="34" charset="-120"/>
              </a:rPr>
              <a:t>Tombácz et al. · PLOS ONE 2025 · doi:10.1371/journal.pone.0320439</a:t>
            </a:r>
            <a:endParaRPr lang="en-US" sz="850" dirty="0"/>
          </a:p>
        </p:txBody>
      </p:sp>
      <p:sp>
        <p:nvSpPr>
          <p:cNvPr id="25" name="Slide Number Placeholder 0"/>
          <p:cNvSpPr>
            <a:spLocks noGrp="1"/>
          </p:cNvSpPr>
          <p:nvPr>
            <p:ph type="sldNum" sz="quarter" idx="4294967295"/>
          </p:nvPr>
        </p:nvSpPr>
        <p:spPr>
          <a:xfrm>
            <a:off x="11722608" y="6501384"/>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A97A6"/>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22608" y="6501384"/>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A97A6"/>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A"/>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8A8A"/>
          </a:solidFill>
          <a:ln w="12700">
            <a:solidFill>
              <a:srgbClr val="1F8A8A"/>
            </a:solidFill>
            <a:prstDash val="solid"/>
          </a:ln>
        </p:spPr>
      </p:sp>
      <p:sp>
        <p:nvSpPr>
          <p:cNvPr id="3" name="Text 1"/>
          <p:cNvSpPr/>
          <p:nvPr/>
        </p:nvSpPr>
        <p:spPr>
          <a:xfrm>
            <a:off x="713232" y="640080"/>
            <a:ext cx="4663440" cy="256032"/>
          </a:xfrm>
          <a:prstGeom prst="rect">
            <a:avLst/>
          </a:prstGeom>
          <a:noFill/>
          <a:ln/>
        </p:spPr>
        <p:txBody>
          <a:bodyPr wrap="square" lIns="0" tIns="0" rIns="0" bIns="0" rtlCol="0" anchor="ctr"/>
          <a:lstStyle/>
          <a:p>
            <a:pPr indent="0" marL="0">
              <a:buNone/>
            </a:pPr>
            <a:r>
              <a:rPr lang="en-US" sz="1150" b="1" spc="180" kern="0" dirty="0">
                <a:solidFill>
                  <a:srgbClr val="75D1CE"/>
                </a:solidFill>
              </a:rPr>
              <a:t>LONG-READ VIRAL TRANSCRIPTOMICS</a:t>
            </a:r>
            <a:endParaRPr lang="en-US" sz="1150" dirty="0"/>
          </a:p>
        </p:txBody>
      </p:sp>
      <p:sp>
        <p:nvSpPr>
          <p:cNvPr id="4" name="Text 2"/>
          <p:cNvSpPr/>
          <p:nvPr/>
        </p:nvSpPr>
        <p:spPr>
          <a:xfrm>
            <a:off x="713232" y="1024128"/>
            <a:ext cx="8046720" cy="1298448"/>
          </a:xfrm>
          <a:prstGeom prst="rect">
            <a:avLst/>
          </a:prstGeom>
          <a:noFill/>
          <a:ln/>
        </p:spPr>
        <p:txBody>
          <a:bodyPr wrap="square" lIns="0" tIns="0" rIns="0" bIns="0" rtlCol="0" anchor="ctr"/>
          <a:lstStyle/>
          <a:p>
            <a:pPr indent="0" marL="0">
              <a:buNone/>
            </a:pPr>
            <a:r>
              <a:rPr lang="en-US" sz="3300" b="1" dirty="0">
                <a:solidFill>
                  <a:srgbClr val="FFFFFF"/>
                </a:solidFill>
              </a:rPr>
              <a:t>Long-read transcriptomics reveals</a:t>
            </a:r>
            <a:endParaRPr lang="en-US" sz="3300" dirty="0"/>
          </a:p>
          <a:p>
            <a:pPr indent="0" marL="0">
              <a:buNone/>
            </a:pPr>
            <a:r>
              <a:rPr lang="en-US" sz="3300" b="1" dirty="0">
                <a:solidFill>
                  <a:srgbClr val="FFFFFF"/>
                </a:solidFill>
              </a:rPr>
              <a:t>the dynamic EHV-1 transcriptional program</a:t>
            </a:r>
            <a:endParaRPr lang="en-US" sz="3300" dirty="0"/>
          </a:p>
        </p:txBody>
      </p:sp>
      <p:sp>
        <p:nvSpPr>
          <p:cNvPr id="5" name="Text 3"/>
          <p:cNvSpPr/>
          <p:nvPr/>
        </p:nvSpPr>
        <p:spPr>
          <a:xfrm>
            <a:off x="749808" y="2532888"/>
            <a:ext cx="7955280" cy="585216"/>
          </a:xfrm>
          <a:prstGeom prst="rect">
            <a:avLst/>
          </a:prstGeom>
          <a:noFill/>
          <a:ln/>
        </p:spPr>
        <p:txBody>
          <a:bodyPr wrap="square" lIns="0" tIns="0" rIns="0" bIns="0" rtlCol="0" anchor="ctr"/>
          <a:lstStyle/>
          <a:p>
            <a:pPr indent="0" marL="0">
              <a:buNone/>
            </a:pPr>
            <a:r>
              <a:rPr lang="en-US" sz="1800" dirty="0">
                <a:solidFill>
                  <a:srgbClr val="D6E2EA"/>
                </a:solidFill>
              </a:rPr>
              <a:t>Integrating nanopore direct cDNA sequencing, CAGE-Seq and native RNA validation across infection</a:t>
            </a:r>
            <a:endParaRPr lang="en-US" sz="1800" dirty="0"/>
          </a:p>
        </p:txBody>
      </p:sp>
      <p:sp>
        <p:nvSpPr>
          <p:cNvPr id="6" name="Shape 4"/>
          <p:cNvSpPr/>
          <p:nvPr/>
        </p:nvSpPr>
        <p:spPr>
          <a:xfrm>
            <a:off x="7132320" y="3703320"/>
            <a:ext cx="3886200" cy="0"/>
          </a:xfrm>
          <a:prstGeom prst="line">
            <a:avLst/>
          </a:prstGeom>
          <a:noFill/>
          <a:ln w="26670">
            <a:solidFill>
              <a:srgbClr val="4E79A7">
                <a:alpha val="90000"/>
              </a:srgbClr>
            </a:solidFill>
            <a:prstDash val="solid"/>
            <a:tailEnd type="triangle"/>
          </a:ln>
        </p:spPr>
      </p:sp>
      <p:sp>
        <p:nvSpPr>
          <p:cNvPr id="7" name="Shape 5"/>
          <p:cNvSpPr/>
          <p:nvPr/>
        </p:nvSpPr>
        <p:spPr>
          <a:xfrm>
            <a:off x="7077456" y="3648456"/>
            <a:ext cx="109728" cy="109728"/>
          </a:xfrm>
          <a:prstGeom prst="ellipse">
            <a:avLst/>
          </a:prstGeom>
          <a:solidFill>
            <a:srgbClr val="F28E2B"/>
          </a:solidFill>
          <a:ln w="12700">
            <a:solidFill>
              <a:srgbClr val="F28E2B"/>
            </a:solidFill>
            <a:prstDash val="solid"/>
          </a:ln>
        </p:spPr>
      </p:sp>
      <p:sp>
        <p:nvSpPr>
          <p:cNvPr id="8" name="Shape 6"/>
          <p:cNvSpPr/>
          <p:nvPr/>
        </p:nvSpPr>
        <p:spPr>
          <a:xfrm>
            <a:off x="7406640" y="4050792"/>
            <a:ext cx="3666744" cy="0"/>
          </a:xfrm>
          <a:prstGeom prst="line">
            <a:avLst/>
          </a:prstGeom>
          <a:noFill/>
          <a:ln w="26670">
            <a:solidFill>
              <a:srgbClr val="56BFC2">
                <a:alpha val="90000"/>
              </a:srgbClr>
            </a:solidFill>
            <a:prstDash val="solid"/>
            <a:tailEnd type="triangle"/>
          </a:ln>
        </p:spPr>
      </p:sp>
      <p:sp>
        <p:nvSpPr>
          <p:cNvPr id="9" name="Shape 7"/>
          <p:cNvSpPr/>
          <p:nvPr/>
        </p:nvSpPr>
        <p:spPr>
          <a:xfrm>
            <a:off x="7351776" y="3995928"/>
            <a:ext cx="109728" cy="109728"/>
          </a:xfrm>
          <a:prstGeom prst="ellipse">
            <a:avLst/>
          </a:prstGeom>
          <a:solidFill>
            <a:srgbClr val="F28E2B"/>
          </a:solidFill>
          <a:ln w="12700">
            <a:solidFill>
              <a:srgbClr val="F28E2B"/>
            </a:solidFill>
            <a:prstDash val="solid"/>
          </a:ln>
        </p:spPr>
      </p:sp>
      <p:sp>
        <p:nvSpPr>
          <p:cNvPr id="10" name="Shape 8"/>
          <p:cNvSpPr/>
          <p:nvPr/>
        </p:nvSpPr>
        <p:spPr>
          <a:xfrm>
            <a:off x="7132320" y="4398264"/>
            <a:ext cx="3447288" cy="0"/>
          </a:xfrm>
          <a:prstGeom prst="line">
            <a:avLst/>
          </a:prstGeom>
          <a:noFill/>
          <a:ln w="26670">
            <a:solidFill>
              <a:srgbClr val="4E79A7">
                <a:alpha val="90000"/>
              </a:srgbClr>
            </a:solidFill>
            <a:prstDash val="solid"/>
            <a:tailEnd type="triangle"/>
          </a:ln>
        </p:spPr>
      </p:sp>
      <p:sp>
        <p:nvSpPr>
          <p:cNvPr id="11" name="Shape 9"/>
          <p:cNvSpPr/>
          <p:nvPr/>
        </p:nvSpPr>
        <p:spPr>
          <a:xfrm>
            <a:off x="7077456" y="4343400"/>
            <a:ext cx="109728" cy="109728"/>
          </a:xfrm>
          <a:prstGeom prst="ellipse">
            <a:avLst/>
          </a:prstGeom>
          <a:solidFill>
            <a:srgbClr val="F28E2B"/>
          </a:solidFill>
          <a:ln w="12700">
            <a:solidFill>
              <a:srgbClr val="F28E2B"/>
            </a:solidFill>
            <a:prstDash val="solid"/>
          </a:ln>
        </p:spPr>
      </p:sp>
      <p:sp>
        <p:nvSpPr>
          <p:cNvPr id="12" name="Shape 10"/>
          <p:cNvSpPr/>
          <p:nvPr/>
        </p:nvSpPr>
        <p:spPr>
          <a:xfrm>
            <a:off x="7406640" y="4745736"/>
            <a:ext cx="3227832" cy="0"/>
          </a:xfrm>
          <a:prstGeom prst="line">
            <a:avLst/>
          </a:prstGeom>
          <a:noFill/>
          <a:ln w="26670">
            <a:solidFill>
              <a:srgbClr val="56BFC2">
                <a:alpha val="90000"/>
              </a:srgbClr>
            </a:solidFill>
            <a:prstDash val="solid"/>
            <a:tailEnd type="triangle"/>
          </a:ln>
        </p:spPr>
      </p:sp>
      <p:sp>
        <p:nvSpPr>
          <p:cNvPr id="13" name="Shape 11"/>
          <p:cNvSpPr/>
          <p:nvPr/>
        </p:nvSpPr>
        <p:spPr>
          <a:xfrm>
            <a:off x="7351776" y="4690872"/>
            <a:ext cx="109728" cy="109728"/>
          </a:xfrm>
          <a:prstGeom prst="ellipse">
            <a:avLst/>
          </a:prstGeom>
          <a:solidFill>
            <a:srgbClr val="F28E2B"/>
          </a:solidFill>
          <a:ln w="12700">
            <a:solidFill>
              <a:srgbClr val="F28E2B"/>
            </a:solidFill>
            <a:prstDash val="solid"/>
          </a:ln>
        </p:spPr>
      </p:sp>
      <p:sp>
        <p:nvSpPr>
          <p:cNvPr id="14" name="Shape 12"/>
          <p:cNvSpPr/>
          <p:nvPr/>
        </p:nvSpPr>
        <p:spPr>
          <a:xfrm>
            <a:off x="7132320" y="5093208"/>
            <a:ext cx="3008376" cy="0"/>
          </a:xfrm>
          <a:prstGeom prst="line">
            <a:avLst/>
          </a:prstGeom>
          <a:noFill/>
          <a:ln w="26670">
            <a:solidFill>
              <a:srgbClr val="4E79A7">
                <a:alpha val="90000"/>
              </a:srgbClr>
            </a:solidFill>
            <a:prstDash val="solid"/>
            <a:tailEnd type="triangle"/>
          </a:ln>
        </p:spPr>
      </p:sp>
      <p:sp>
        <p:nvSpPr>
          <p:cNvPr id="15" name="Shape 13"/>
          <p:cNvSpPr/>
          <p:nvPr/>
        </p:nvSpPr>
        <p:spPr>
          <a:xfrm>
            <a:off x="7077456" y="5038344"/>
            <a:ext cx="109728" cy="109728"/>
          </a:xfrm>
          <a:prstGeom prst="ellipse">
            <a:avLst/>
          </a:prstGeom>
          <a:solidFill>
            <a:srgbClr val="F28E2B"/>
          </a:solidFill>
          <a:ln w="12700">
            <a:solidFill>
              <a:srgbClr val="F28E2B"/>
            </a:solidFill>
            <a:prstDash val="solid"/>
          </a:ln>
        </p:spPr>
      </p:sp>
      <p:sp>
        <p:nvSpPr>
          <p:cNvPr id="16" name="Shape 14"/>
          <p:cNvSpPr/>
          <p:nvPr/>
        </p:nvSpPr>
        <p:spPr>
          <a:xfrm>
            <a:off x="7406640" y="5440680"/>
            <a:ext cx="2788920" cy="0"/>
          </a:xfrm>
          <a:prstGeom prst="line">
            <a:avLst/>
          </a:prstGeom>
          <a:noFill/>
          <a:ln w="26670">
            <a:solidFill>
              <a:srgbClr val="56BFC2">
                <a:alpha val="90000"/>
              </a:srgbClr>
            </a:solidFill>
            <a:prstDash val="solid"/>
            <a:tailEnd type="triangle"/>
          </a:ln>
        </p:spPr>
      </p:sp>
      <p:sp>
        <p:nvSpPr>
          <p:cNvPr id="17" name="Shape 15"/>
          <p:cNvSpPr/>
          <p:nvPr/>
        </p:nvSpPr>
        <p:spPr>
          <a:xfrm>
            <a:off x="7351776" y="5385816"/>
            <a:ext cx="109728" cy="109728"/>
          </a:xfrm>
          <a:prstGeom prst="ellipse">
            <a:avLst/>
          </a:prstGeom>
          <a:solidFill>
            <a:srgbClr val="F28E2B"/>
          </a:solidFill>
          <a:ln w="12700">
            <a:solidFill>
              <a:srgbClr val="F28E2B"/>
            </a:solidFill>
            <a:prstDash val="solid"/>
          </a:ln>
        </p:spPr>
      </p:sp>
      <p:sp>
        <p:nvSpPr>
          <p:cNvPr id="18" name="Text 16"/>
          <p:cNvSpPr/>
          <p:nvPr/>
        </p:nvSpPr>
        <p:spPr>
          <a:xfrm>
            <a:off x="749808" y="4937760"/>
            <a:ext cx="9875520" cy="502920"/>
          </a:xfrm>
          <a:prstGeom prst="rect">
            <a:avLst/>
          </a:prstGeom>
          <a:noFill/>
          <a:ln/>
        </p:spPr>
        <p:txBody>
          <a:bodyPr wrap="square" lIns="0" tIns="0" rIns="0" bIns="0" rtlCol="0" anchor="ctr"/>
          <a:lstStyle/>
          <a:p>
            <a:pPr indent="0" marL="0">
              <a:buNone/>
            </a:pPr>
            <a:r>
              <a:rPr lang="en-US" sz="1320" dirty="0">
                <a:solidFill>
                  <a:srgbClr val="D6E2EA"/>
                </a:solidFill>
              </a:rPr>
              <a:t>Balázs Kakuk · Dóra Tombácz · Gábor Torma · Ádám Fülöp · Ákos Dörmő · Gábor Gulyás · Zsolt Csabai · Zsolt Boldogkői</a:t>
            </a:r>
            <a:endParaRPr lang="en-US" sz="1320" dirty="0"/>
          </a:p>
        </p:txBody>
      </p:sp>
      <p:sp>
        <p:nvSpPr>
          <p:cNvPr id="19" name="Text 17"/>
          <p:cNvSpPr/>
          <p:nvPr/>
        </p:nvSpPr>
        <p:spPr>
          <a:xfrm>
            <a:off x="749808" y="5513832"/>
            <a:ext cx="6858000" cy="256032"/>
          </a:xfrm>
          <a:prstGeom prst="rect">
            <a:avLst/>
          </a:prstGeom>
          <a:noFill/>
          <a:ln/>
        </p:spPr>
        <p:txBody>
          <a:bodyPr wrap="square" lIns="0" tIns="0" rIns="0" bIns="0" rtlCol="0" anchor="ctr"/>
          <a:lstStyle/>
          <a:p>
            <a:pPr indent="0" marL="0">
              <a:buNone/>
            </a:pPr>
            <a:r>
              <a:rPr lang="en-US" sz="1250" dirty="0">
                <a:solidFill>
                  <a:srgbClr val="AFC0CC"/>
                </a:solidFill>
              </a:rPr>
              <a:t>Department of Medical Biology · University of Szeged</a:t>
            </a:r>
            <a:endParaRPr lang="en-US" sz="1250" dirty="0"/>
          </a:p>
        </p:txBody>
      </p:sp>
      <p:sp>
        <p:nvSpPr>
          <p:cNvPr id="20" name="Text 18"/>
          <p:cNvSpPr/>
          <p:nvPr/>
        </p:nvSpPr>
        <p:spPr>
          <a:xfrm>
            <a:off x="749808" y="5916168"/>
            <a:ext cx="6309360" cy="219456"/>
          </a:xfrm>
          <a:prstGeom prst="rect">
            <a:avLst/>
          </a:prstGeom>
          <a:noFill/>
          <a:ln/>
        </p:spPr>
        <p:txBody>
          <a:bodyPr wrap="square" lIns="0" tIns="0" rIns="0" bIns="0" rtlCol="0" anchor="ctr"/>
          <a:lstStyle/>
          <a:p>
            <a:pPr indent="0" marL="0">
              <a:buNone/>
            </a:pPr>
            <a:r>
              <a:rPr lang="en-US" sz="1050" dirty="0">
                <a:solidFill>
                  <a:srgbClr val="8FA8B7"/>
                </a:solidFill>
              </a:rPr>
              <a:t>Based on Tombácz et al., PLOS ONE 20(4): e0320439 (2025)</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47472"/>
            <a:ext cx="4114800" cy="228600"/>
          </a:xfrm>
          <a:prstGeom prst="rect">
            <a:avLst/>
          </a:prstGeom>
          <a:noFill/>
          <a:ln/>
        </p:spPr>
        <p:txBody>
          <a:bodyPr wrap="square" lIns="0" tIns="0" rIns="0" bIns="0" rtlCol="0" anchor="ctr"/>
          <a:lstStyle/>
          <a:p>
            <a:pPr indent="0" marL="0">
              <a:buNone/>
            </a:pPr>
            <a:r>
              <a:rPr lang="en-US" sz="1050" b="1" spc="160" kern="0" dirty="0">
                <a:solidFill>
                  <a:srgbClr val="1F8A8A"/>
                </a:solidFill>
              </a:rPr>
              <a:t>PROBLEM</a:t>
            </a:r>
            <a:endParaRPr lang="en-US" sz="1050" dirty="0"/>
          </a:p>
        </p:txBody>
      </p:sp>
      <p:sp>
        <p:nvSpPr>
          <p:cNvPr id="3" name="Text 1"/>
          <p:cNvSpPr/>
          <p:nvPr/>
        </p:nvSpPr>
        <p:spPr>
          <a:xfrm>
            <a:off x="594360" y="603504"/>
            <a:ext cx="10972800" cy="493776"/>
          </a:xfrm>
          <a:prstGeom prst="rect">
            <a:avLst/>
          </a:prstGeom>
          <a:noFill/>
          <a:ln/>
        </p:spPr>
        <p:txBody>
          <a:bodyPr wrap="square" lIns="0" tIns="0" rIns="0" bIns="0" rtlCol="0" anchor="ctr"/>
          <a:lstStyle/>
          <a:p>
            <a:pPr indent="0" marL="0">
              <a:buNone/>
            </a:pPr>
            <a:r>
              <a:rPr lang="en-US" sz="2800" b="1" dirty="0">
                <a:solidFill>
                  <a:srgbClr val="12263A"/>
                </a:solidFill>
              </a:rPr>
              <a:t>Why is a 150 kb viral genome transcriptomically difficult?</a:t>
            </a:r>
            <a:endParaRPr lang="en-US" sz="2800" dirty="0"/>
          </a:p>
        </p:txBody>
      </p:sp>
      <p:sp>
        <p:nvSpPr>
          <p:cNvPr id="4" name="Text 2"/>
          <p:cNvSpPr/>
          <p:nvPr/>
        </p:nvSpPr>
        <p:spPr>
          <a:xfrm>
            <a:off x="640080" y="1188720"/>
            <a:ext cx="5669280" cy="384048"/>
          </a:xfrm>
          <a:prstGeom prst="rect">
            <a:avLst/>
          </a:prstGeom>
          <a:noFill/>
          <a:ln/>
        </p:spPr>
        <p:txBody>
          <a:bodyPr wrap="square" lIns="0" tIns="0" rIns="0" bIns="0" rtlCol="0" anchor="ctr"/>
          <a:lstStyle/>
          <a:p>
            <a:pPr indent="0" marL="0">
              <a:buNone/>
            </a:pPr>
            <a:r>
              <a:rPr lang="en-US" sz="1900" dirty="0">
                <a:solidFill>
                  <a:srgbClr val="667085"/>
                </a:solidFill>
              </a:rPr>
              <a:t>EHV-1 packages dense transcriptional logic into a small genome.</a:t>
            </a:r>
            <a:endParaRPr lang="en-US" sz="1900" dirty="0"/>
          </a:p>
        </p:txBody>
      </p:sp>
      <p:sp>
        <p:nvSpPr>
          <p:cNvPr id="5" name="Text 3"/>
          <p:cNvSpPr/>
          <p:nvPr/>
        </p:nvSpPr>
        <p:spPr>
          <a:xfrm>
            <a:off x="777240" y="1499616"/>
            <a:ext cx="6446520" cy="228600"/>
          </a:xfrm>
          <a:prstGeom prst="rect">
            <a:avLst/>
          </a:prstGeom>
          <a:noFill/>
          <a:ln/>
        </p:spPr>
        <p:txBody>
          <a:bodyPr wrap="square" lIns="0" tIns="0" rIns="0" bIns="0" rtlCol="0" anchor="ctr"/>
          <a:lstStyle/>
          <a:p>
            <a:pPr indent="0" marL="0">
              <a:buNone/>
            </a:pPr>
            <a:r>
              <a:rPr lang="en-US" sz="1250" b="1" dirty="0">
                <a:solidFill>
                  <a:srgbClr val="12263A"/>
                </a:solidFill>
              </a:rPr>
              <a:t>~150 kb dsDNA genome · 76 unique protein-coding genes</a:t>
            </a:r>
            <a:endParaRPr lang="en-US" sz="1250" dirty="0"/>
          </a:p>
        </p:txBody>
      </p:sp>
      <p:sp>
        <p:nvSpPr>
          <p:cNvPr id="6" name="Shape 4"/>
          <p:cNvSpPr/>
          <p:nvPr/>
        </p:nvSpPr>
        <p:spPr>
          <a:xfrm>
            <a:off x="777240" y="1847088"/>
            <a:ext cx="685800" cy="329184"/>
          </a:xfrm>
          <a:prstGeom prst="chevron">
            <a:avLst/>
          </a:prstGeom>
          <a:solidFill>
            <a:srgbClr val="1F8A8A"/>
          </a:solidFill>
          <a:ln w="12700">
            <a:solidFill>
              <a:srgbClr val="1F8A8A"/>
            </a:solidFill>
            <a:prstDash val="solid"/>
          </a:ln>
        </p:spPr>
      </p:sp>
      <p:sp>
        <p:nvSpPr>
          <p:cNvPr id="7" name="Text 5"/>
          <p:cNvSpPr/>
          <p:nvPr/>
        </p:nvSpPr>
        <p:spPr>
          <a:xfrm>
            <a:off x="777240" y="1892808"/>
            <a:ext cx="685800" cy="182880"/>
          </a:xfrm>
          <a:prstGeom prst="rect">
            <a:avLst/>
          </a:prstGeom>
          <a:noFill/>
          <a:ln/>
        </p:spPr>
        <p:txBody>
          <a:bodyPr wrap="square" lIns="0" tIns="0" rIns="0" bIns="0" rtlCol="0" anchor="ctr"/>
          <a:lstStyle/>
          <a:p>
            <a:pPr algn="ctr" indent="0" marL="0">
              <a:buNone/>
            </a:pPr>
            <a:r>
              <a:rPr lang="en-US" sz="950" b="1" dirty="0">
                <a:solidFill>
                  <a:srgbClr val="FFFFFF"/>
                </a:solidFill>
              </a:rPr>
              <a:t>ORF1</a:t>
            </a:r>
            <a:endParaRPr lang="en-US" sz="950" dirty="0"/>
          </a:p>
        </p:txBody>
      </p:sp>
      <p:sp>
        <p:nvSpPr>
          <p:cNvPr id="8" name="Shape 6"/>
          <p:cNvSpPr/>
          <p:nvPr/>
        </p:nvSpPr>
        <p:spPr>
          <a:xfrm>
            <a:off x="1408176" y="1847088"/>
            <a:ext cx="502920" cy="329184"/>
          </a:xfrm>
          <a:prstGeom prst="chevron">
            <a:avLst/>
          </a:prstGeom>
          <a:solidFill>
            <a:srgbClr val="4E79A7"/>
          </a:solidFill>
          <a:ln w="12700">
            <a:solidFill>
              <a:srgbClr val="4E79A7"/>
            </a:solidFill>
            <a:prstDash val="solid"/>
          </a:ln>
        </p:spPr>
      </p:sp>
      <p:sp>
        <p:nvSpPr>
          <p:cNvPr id="9" name="Text 7"/>
          <p:cNvSpPr/>
          <p:nvPr/>
        </p:nvSpPr>
        <p:spPr>
          <a:xfrm>
            <a:off x="1408176" y="1892808"/>
            <a:ext cx="502920" cy="182880"/>
          </a:xfrm>
          <a:prstGeom prst="rect">
            <a:avLst/>
          </a:prstGeom>
          <a:noFill/>
          <a:ln/>
        </p:spPr>
        <p:txBody>
          <a:bodyPr wrap="square" lIns="0" tIns="0" rIns="0" bIns="0" rtlCol="0" anchor="ctr"/>
          <a:lstStyle/>
          <a:p>
            <a:pPr algn="ctr" indent="0" marL="0">
              <a:buNone/>
            </a:pPr>
            <a:r>
              <a:rPr lang="en-US" sz="950" b="1" dirty="0">
                <a:solidFill>
                  <a:srgbClr val="FFFFFF"/>
                </a:solidFill>
              </a:rPr>
              <a:t>ORF2</a:t>
            </a:r>
            <a:endParaRPr lang="en-US" sz="950" dirty="0"/>
          </a:p>
        </p:txBody>
      </p:sp>
      <p:sp>
        <p:nvSpPr>
          <p:cNvPr id="10" name="Shape 8"/>
          <p:cNvSpPr/>
          <p:nvPr/>
        </p:nvSpPr>
        <p:spPr>
          <a:xfrm>
            <a:off x="1856232" y="1847088"/>
            <a:ext cx="822960" cy="329184"/>
          </a:xfrm>
          <a:prstGeom prst="chevron">
            <a:avLst/>
          </a:prstGeom>
          <a:solidFill>
            <a:srgbClr val="1F8A8A"/>
          </a:solidFill>
          <a:ln w="12700">
            <a:solidFill>
              <a:srgbClr val="1F8A8A"/>
            </a:solidFill>
            <a:prstDash val="solid"/>
          </a:ln>
        </p:spPr>
      </p:sp>
      <p:sp>
        <p:nvSpPr>
          <p:cNvPr id="11" name="Text 9"/>
          <p:cNvSpPr/>
          <p:nvPr/>
        </p:nvSpPr>
        <p:spPr>
          <a:xfrm>
            <a:off x="1856232" y="1892808"/>
            <a:ext cx="822960" cy="182880"/>
          </a:xfrm>
          <a:prstGeom prst="rect">
            <a:avLst/>
          </a:prstGeom>
          <a:noFill/>
          <a:ln/>
        </p:spPr>
        <p:txBody>
          <a:bodyPr wrap="square" lIns="0" tIns="0" rIns="0" bIns="0" rtlCol="0" anchor="ctr"/>
          <a:lstStyle/>
          <a:p>
            <a:pPr algn="ctr" indent="0" marL="0">
              <a:buNone/>
            </a:pPr>
            <a:r>
              <a:rPr lang="en-US" sz="950" b="1" dirty="0">
                <a:solidFill>
                  <a:srgbClr val="FFFFFF"/>
                </a:solidFill>
              </a:rPr>
              <a:t>ORF3</a:t>
            </a:r>
            <a:endParaRPr lang="en-US" sz="950" dirty="0"/>
          </a:p>
        </p:txBody>
      </p:sp>
      <p:sp>
        <p:nvSpPr>
          <p:cNvPr id="12" name="Shape 10"/>
          <p:cNvSpPr/>
          <p:nvPr/>
        </p:nvSpPr>
        <p:spPr>
          <a:xfrm>
            <a:off x="2624328" y="1847088"/>
            <a:ext cx="548640" cy="329184"/>
          </a:xfrm>
          <a:prstGeom prst="chevron">
            <a:avLst/>
          </a:prstGeom>
          <a:solidFill>
            <a:srgbClr val="4E79A7"/>
          </a:solidFill>
          <a:ln w="12700">
            <a:solidFill>
              <a:srgbClr val="4E79A7"/>
            </a:solidFill>
            <a:prstDash val="solid"/>
          </a:ln>
        </p:spPr>
      </p:sp>
      <p:sp>
        <p:nvSpPr>
          <p:cNvPr id="13" name="Text 11"/>
          <p:cNvSpPr/>
          <p:nvPr/>
        </p:nvSpPr>
        <p:spPr>
          <a:xfrm>
            <a:off x="2624328" y="1892808"/>
            <a:ext cx="548640" cy="182880"/>
          </a:xfrm>
          <a:prstGeom prst="rect">
            <a:avLst/>
          </a:prstGeom>
          <a:noFill/>
          <a:ln/>
        </p:spPr>
        <p:txBody>
          <a:bodyPr wrap="square" lIns="0" tIns="0" rIns="0" bIns="0" rtlCol="0" anchor="ctr"/>
          <a:lstStyle/>
          <a:p>
            <a:pPr algn="ctr" indent="0" marL="0">
              <a:buNone/>
            </a:pPr>
            <a:r>
              <a:rPr lang="en-US" sz="950" b="1" dirty="0">
                <a:solidFill>
                  <a:srgbClr val="FFFFFF"/>
                </a:solidFill>
              </a:rPr>
              <a:t>ORF4</a:t>
            </a:r>
            <a:endParaRPr lang="en-US" sz="950" dirty="0"/>
          </a:p>
        </p:txBody>
      </p:sp>
      <p:sp>
        <p:nvSpPr>
          <p:cNvPr id="14" name="Shape 12"/>
          <p:cNvSpPr/>
          <p:nvPr/>
        </p:nvSpPr>
        <p:spPr>
          <a:xfrm>
            <a:off x="3118104" y="1847088"/>
            <a:ext cx="914400" cy="329184"/>
          </a:xfrm>
          <a:prstGeom prst="chevron">
            <a:avLst/>
          </a:prstGeom>
          <a:solidFill>
            <a:srgbClr val="1F8A8A"/>
          </a:solidFill>
          <a:ln w="12700">
            <a:solidFill>
              <a:srgbClr val="1F8A8A"/>
            </a:solidFill>
            <a:prstDash val="solid"/>
          </a:ln>
        </p:spPr>
      </p:sp>
      <p:sp>
        <p:nvSpPr>
          <p:cNvPr id="15" name="Text 13"/>
          <p:cNvSpPr/>
          <p:nvPr/>
        </p:nvSpPr>
        <p:spPr>
          <a:xfrm>
            <a:off x="3118104" y="1892808"/>
            <a:ext cx="914400" cy="182880"/>
          </a:xfrm>
          <a:prstGeom prst="rect">
            <a:avLst/>
          </a:prstGeom>
          <a:noFill/>
          <a:ln/>
        </p:spPr>
        <p:txBody>
          <a:bodyPr wrap="square" lIns="0" tIns="0" rIns="0" bIns="0" rtlCol="0" anchor="ctr"/>
          <a:lstStyle/>
          <a:p>
            <a:pPr algn="ctr" indent="0" marL="0">
              <a:buNone/>
            </a:pPr>
            <a:r>
              <a:rPr lang="en-US" sz="950" b="1" dirty="0">
                <a:solidFill>
                  <a:srgbClr val="FFFFFF"/>
                </a:solidFill>
              </a:rPr>
              <a:t>ORF5</a:t>
            </a:r>
            <a:endParaRPr lang="en-US" sz="950" dirty="0"/>
          </a:p>
        </p:txBody>
      </p:sp>
      <p:sp>
        <p:nvSpPr>
          <p:cNvPr id="16" name="Shape 14"/>
          <p:cNvSpPr/>
          <p:nvPr/>
        </p:nvSpPr>
        <p:spPr>
          <a:xfrm>
            <a:off x="3977640" y="1847088"/>
            <a:ext cx="640080" cy="329184"/>
          </a:xfrm>
          <a:prstGeom prst="chevron">
            <a:avLst/>
          </a:prstGeom>
          <a:solidFill>
            <a:srgbClr val="4E79A7"/>
          </a:solidFill>
          <a:ln w="12700">
            <a:solidFill>
              <a:srgbClr val="4E79A7"/>
            </a:solidFill>
            <a:prstDash val="solid"/>
          </a:ln>
        </p:spPr>
      </p:sp>
      <p:sp>
        <p:nvSpPr>
          <p:cNvPr id="17" name="Text 15"/>
          <p:cNvSpPr/>
          <p:nvPr/>
        </p:nvSpPr>
        <p:spPr>
          <a:xfrm>
            <a:off x="3977640" y="1892808"/>
            <a:ext cx="640080" cy="182880"/>
          </a:xfrm>
          <a:prstGeom prst="rect">
            <a:avLst/>
          </a:prstGeom>
          <a:noFill/>
          <a:ln/>
        </p:spPr>
        <p:txBody>
          <a:bodyPr wrap="square" lIns="0" tIns="0" rIns="0" bIns="0" rtlCol="0" anchor="ctr"/>
          <a:lstStyle/>
          <a:p>
            <a:pPr algn="ctr" indent="0" marL="0">
              <a:buNone/>
            </a:pPr>
            <a:r>
              <a:rPr lang="en-US" sz="950" b="1" dirty="0">
                <a:solidFill>
                  <a:srgbClr val="FFFFFF"/>
                </a:solidFill>
              </a:rPr>
              <a:t>ORF6</a:t>
            </a:r>
            <a:endParaRPr lang="en-US" sz="950" dirty="0"/>
          </a:p>
        </p:txBody>
      </p:sp>
      <p:sp>
        <p:nvSpPr>
          <p:cNvPr id="18" name="Shape 16"/>
          <p:cNvSpPr/>
          <p:nvPr/>
        </p:nvSpPr>
        <p:spPr>
          <a:xfrm rot="10800000">
            <a:off x="4562856" y="1847088"/>
            <a:ext cx="822960" cy="329184"/>
          </a:xfrm>
          <a:prstGeom prst="chevron">
            <a:avLst/>
          </a:prstGeom>
          <a:solidFill>
            <a:srgbClr val="1F8A8A"/>
          </a:solidFill>
          <a:ln w="12700">
            <a:solidFill>
              <a:srgbClr val="1F8A8A"/>
            </a:solidFill>
            <a:prstDash val="solid"/>
          </a:ln>
        </p:spPr>
      </p:sp>
      <p:sp>
        <p:nvSpPr>
          <p:cNvPr id="19" name="Text 17"/>
          <p:cNvSpPr/>
          <p:nvPr/>
        </p:nvSpPr>
        <p:spPr>
          <a:xfrm>
            <a:off x="4562856" y="1892808"/>
            <a:ext cx="822960" cy="182880"/>
          </a:xfrm>
          <a:prstGeom prst="rect">
            <a:avLst/>
          </a:prstGeom>
          <a:noFill/>
          <a:ln/>
        </p:spPr>
        <p:txBody>
          <a:bodyPr wrap="square" lIns="0" tIns="0" rIns="0" bIns="0" rtlCol="0" anchor="ctr"/>
          <a:lstStyle/>
          <a:p>
            <a:pPr algn="ctr" indent="0" marL="0">
              <a:buNone/>
            </a:pPr>
            <a:r>
              <a:rPr lang="en-US" sz="950" b="1" dirty="0">
                <a:solidFill>
                  <a:srgbClr val="FFFFFF"/>
                </a:solidFill>
              </a:rPr>
              <a:t>ORF7</a:t>
            </a:r>
            <a:endParaRPr lang="en-US" sz="950" dirty="0"/>
          </a:p>
        </p:txBody>
      </p:sp>
      <p:sp>
        <p:nvSpPr>
          <p:cNvPr id="20" name="Shape 18"/>
          <p:cNvSpPr/>
          <p:nvPr/>
        </p:nvSpPr>
        <p:spPr>
          <a:xfrm>
            <a:off x="5330952" y="1847088"/>
            <a:ext cx="640080" cy="329184"/>
          </a:xfrm>
          <a:prstGeom prst="chevron">
            <a:avLst/>
          </a:prstGeom>
          <a:solidFill>
            <a:srgbClr val="4E79A7"/>
          </a:solidFill>
          <a:ln w="12700">
            <a:solidFill>
              <a:srgbClr val="4E79A7"/>
            </a:solidFill>
            <a:prstDash val="solid"/>
          </a:ln>
        </p:spPr>
      </p:sp>
      <p:sp>
        <p:nvSpPr>
          <p:cNvPr id="21" name="Text 19"/>
          <p:cNvSpPr/>
          <p:nvPr/>
        </p:nvSpPr>
        <p:spPr>
          <a:xfrm>
            <a:off x="5330952" y="1892808"/>
            <a:ext cx="640080" cy="182880"/>
          </a:xfrm>
          <a:prstGeom prst="rect">
            <a:avLst/>
          </a:prstGeom>
          <a:noFill/>
          <a:ln/>
        </p:spPr>
        <p:txBody>
          <a:bodyPr wrap="square" lIns="0" tIns="0" rIns="0" bIns="0" rtlCol="0" anchor="ctr"/>
          <a:lstStyle/>
          <a:p>
            <a:pPr algn="ctr" indent="0" marL="0">
              <a:buNone/>
            </a:pPr>
            <a:r>
              <a:rPr lang="en-US" sz="950" b="1" dirty="0">
                <a:solidFill>
                  <a:srgbClr val="FFFFFF"/>
                </a:solidFill>
              </a:rPr>
              <a:t>ORF8</a:t>
            </a:r>
            <a:endParaRPr lang="en-US" sz="950" dirty="0"/>
          </a:p>
        </p:txBody>
      </p:sp>
      <p:sp>
        <p:nvSpPr>
          <p:cNvPr id="22" name="Shape 20"/>
          <p:cNvSpPr/>
          <p:nvPr/>
        </p:nvSpPr>
        <p:spPr>
          <a:xfrm>
            <a:off x="5916168" y="1847088"/>
            <a:ext cx="594360" cy="329184"/>
          </a:xfrm>
          <a:prstGeom prst="chevron">
            <a:avLst/>
          </a:prstGeom>
          <a:solidFill>
            <a:srgbClr val="1F8A8A"/>
          </a:solidFill>
          <a:ln w="12700">
            <a:solidFill>
              <a:srgbClr val="1F8A8A"/>
            </a:solidFill>
            <a:prstDash val="solid"/>
          </a:ln>
        </p:spPr>
      </p:sp>
      <p:sp>
        <p:nvSpPr>
          <p:cNvPr id="23" name="Text 21"/>
          <p:cNvSpPr/>
          <p:nvPr/>
        </p:nvSpPr>
        <p:spPr>
          <a:xfrm>
            <a:off x="5916168" y="1892808"/>
            <a:ext cx="594360" cy="182880"/>
          </a:xfrm>
          <a:prstGeom prst="rect">
            <a:avLst/>
          </a:prstGeom>
          <a:noFill/>
          <a:ln/>
        </p:spPr>
        <p:txBody>
          <a:bodyPr wrap="square" lIns="0" tIns="0" rIns="0" bIns="0" rtlCol="0" anchor="ctr"/>
          <a:lstStyle/>
          <a:p>
            <a:pPr algn="ctr" indent="0" marL="0">
              <a:buNone/>
            </a:pPr>
            <a:r>
              <a:rPr lang="en-US" sz="950" b="1" dirty="0">
                <a:solidFill>
                  <a:srgbClr val="FFFFFF"/>
                </a:solidFill>
              </a:rPr>
              <a:t>ORF9</a:t>
            </a:r>
            <a:endParaRPr lang="en-US" sz="950" dirty="0"/>
          </a:p>
        </p:txBody>
      </p:sp>
      <p:sp>
        <p:nvSpPr>
          <p:cNvPr id="24" name="Shape 22"/>
          <p:cNvSpPr/>
          <p:nvPr/>
        </p:nvSpPr>
        <p:spPr>
          <a:xfrm>
            <a:off x="6455664" y="1847088"/>
            <a:ext cx="822960" cy="329184"/>
          </a:xfrm>
          <a:prstGeom prst="chevron">
            <a:avLst/>
          </a:prstGeom>
          <a:solidFill>
            <a:srgbClr val="4E79A7"/>
          </a:solidFill>
          <a:ln w="12700">
            <a:solidFill>
              <a:srgbClr val="4E79A7"/>
            </a:solidFill>
            <a:prstDash val="solid"/>
          </a:ln>
        </p:spPr>
      </p:sp>
      <p:sp>
        <p:nvSpPr>
          <p:cNvPr id="25" name="Text 23"/>
          <p:cNvSpPr/>
          <p:nvPr/>
        </p:nvSpPr>
        <p:spPr>
          <a:xfrm>
            <a:off x="6455664" y="1892808"/>
            <a:ext cx="822960" cy="182880"/>
          </a:xfrm>
          <a:prstGeom prst="rect">
            <a:avLst/>
          </a:prstGeom>
          <a:noFill/>
          <a:ln/>
        </p:spPr>
        <p:txBody>
          <a:bodyPr wrap="square" lIns="0" tIns="0" rIns="0" bIns="0" rtlCol="0" anchor="ctr"/>
          <a:lstStyle/>
          <a:p>
            <a:pPr algn="ctr" indent="0" marL="0">
              <a:buNone/>
            </a:pPr>
            <a:r>
              <a:rPr lang="en-US" sz="950" b="1" dirty="0">
                <a:solidFill>
                  <a:srgbClr val="FFFFFF"/>
                </a:solidFill>
              </a:rPr>
              <a:t>ORF10</a:t>
            </a:r>
            <a:endParaRPr lang="en-US" sz="950" dirty="0"/>
          </a:p>
        </p:txBody>
      </p:sp>
      <p:sp>
        <p:nvSpPr>
          <p:cNvPr id="26" name="Text 24"/>
          <p:cNvSpPr/>
          <p:nvPr/>
        </p:nvSpPr>
        <p:spPr>
          <a:xfrm>
            <a:off x="777240" y="2377440"/>
            <a:ext cx="6446520" cy="384048"/>
          </a:xfrm>
          <a:prstGeom prst="rect">
            <a:avLst/>
          </a:prstGeom>
          <a:noFill/>
          <a:ln/>
        </p:spPr>
        <p:txBody>
          <a:bodyPr wrap="square" lIns="0" tIns="0" rIns="0" bIns="0" rtlCol="0" anchor="ctr"/>
          <a:lstStyle/>
          <a:p>
            <a:pPr indent="0" marL="0">
              <a:buNone/>
            </a:pPr>
            <a:r>
              <a:rPr lang="en-US" sz="1450" dirty="0">
                <a:solidFill>
                  <a:srgbClr val="667085"/>
                </a:solidFill>
              </a:rPr>
              <a:t>Genes are tandem, convergent and divergent — and many transcripts share sequence.</a:t>
            </a:r>
            <a:endParaRPr lang="en-US" sz="1450" dirty="0"/>
          </a:p>
        </p:txBody>
      </p:sp>
      <p:sp>
        <p:nvSpPr>
          <p:cNvPr id="27" name="Text 25"/>
          <p:cNvSpPr/>
          <p:nvPr/>
        </p:nvSpPr>
        <p:spPr>
          <a:xfrm>
            <a:off x="777240" y="3017520"/>
            <a:ext cx="2743200" cy="274320"/>
          </a:xfrm>
          <a:prstGeom prst="rect">
            <a:avLst/>
          </a:prstGeom>
          <a:noFill/>
          <a:ln/>
        </p:spPr>
        <p:txBody>
          <a:bodyPr wrap="square" lIns="0" tIns="0" rIns="0" bIns="0" rtlCol="0" anchor="ctr"/>
          <a:lstStyle/>
          <a:p>
            <a:pPr indent="0" marL="0">
              <a:buNone/>
            </a:pPr>
            <a:r>
              <a:rPr lang="en-US" sz="1400" b="1" dirty="0">
                <a:solidFill>
                  <a:srgbClr val="12263A"/>
                </a:solidFill>
              </a:rPr>
              <a:t>One genomic region can generate…</a:t>
            </a:r>
            <a:endParaRPr lang="en-US" sz="1400" dirty="0"/>
          </a:p>
        </p:txBody>
      </p:sp>
      <p:sp>
        <p:nvSpPr>
          <p:cNvPr id="28" name="Shape 26"/>
          <p:cNvSpPr/>
          <p:nvPr/>
        </p:nvSpPr>
        <p:spPr>
          <a:xfrm>
            <a:off x="1046988" y="3566160"/>
            <a:ext cx="3090672" cy="0"/>
          </a:xfrm>
          <a:prstGeom prst="line">
            <a:avLst/>
          </a:prstGeom>
          <a:noFill/>
          <a:ln w="30480">
            <a:solidFill>
              <a:srgbClr val="1F8A8A"/>
            </a:solidFill>
            <a:prstDash val="solid"/>
            <a:headEnd type="none"/>
            <a:tailEnd type="triangle"/>
          </a:ln>
        </p:spPr>
      </p:sp>
      <p:sp>
        <p:nvSpPr>
          <p:cNvPr id="29" name="Text 27"/>
          <p:cNvSpPr/>
          <p:nvPr/>
        </p:nvSpPr>
        <p:spPr>
          <a:xfrm>
            <a:off x="1046988" y="3419856"/>
            <a:ext cx="3090672" cy="164592"/>
          </a:xfrm>
          <a:prstGeom prst="rect">
            <a:avLst/>
          </a:prstGeom>
          <a:noFill/>
          <a:ln/>
        </p:spPr>
        <p:txBody>
          <a:bodyPr wrap="square" lIns="0" tIns="0" rIns="0" bIns="0" rtlCol="0" anchor="ctr"/>
          <a:lstStyle/>
          <a:p>
            <a:pPr indent="0" marL="0">
              <a:buNone/>
            </a:pPr>
            <a:r>
              <a:rPr lang="en-US" sz="950" dirty="0">
                <a:solidFill>
                  <a:srgbClr val="1F8A8A"/>
                </a:solidFill>
              </a:rPr>
              <a:t>canonical</a:t>
            </a:r>
            <a:endParaRPr lang="en-US" sz="950" dirty="0"/>
          </a:p>
        </p:txBody>
      </p:sp>
      <p:sp>
        <p:nvSpPr>
          <p:cNvPr id="30" name="Shape 28"/>
          <p:cNvSpPr/>
          <p:nvPr/>
        </p:nvSpPr>
        <p:spPr>
          <a:xfrm>
            <a:off x="1046988" y="3931920"/>
            <a:ext cx="4457700" cy="0"/>
          </a:xfrm>
          <a:prstGeom prst="line">
            <a:avLst/>
          </a:prstGeom>
          <a:noFill/>
          <a:ln w="30480">
            <a:solidFill>
              <a:srgbClr val="4E79A7"/>
            </a:solidFill>
            <a:prstDash val="solid"/>
            <a:headEnd type="none"/>
            <a:tailEnd type="triangle"/>
          </a:ln>
        </p:spPr>
      </p:sp>
      <p:sp>
        <p:nvSpPr>
          <p:cNvPr id="31" name="Text 29"/>
          <p:cNvSpPr/>
          <p:nvPr/>
        </p:nvSpPr>
        <p:spPr>
          <a:xfrm>
            <a:off x="1046988" y="3785616"/>
            <a:ext cx="4457700" cy="164592"/>
          </a:xfrm>
          <a:prstGeom prst="rect">
            <a:avLst/>
          </a:prstGeom>
          <a:noFill/>
          <a:ln/>
        </p:spPr>
        <p:txBody>
          <a:bodyPr wrap="square" lIns="0" tIns="0" rIns="0" bIns="0" rtlCol="0" anchor="ctr"/>
          <a:lstStyle/>
          <a:p>
            <a:pPr indent="0" marL="0">
              <a:buNone/>
            </a:pPr>
            <a:r>
              <a:rPr lang="en-US" sz="950" dirty="0">
                <a:solidFill>
                  <a:srgbClr val="4E79A7"/>
                </a:solidFill>
              </a:rPr>
              <a:t>long 5′-UTR isoform</a:t>
            </a:r>
            <a:endParaRPr lang="en-US" sz="950" dirty="0"/>
          </a:p>
        </p:txBody>
      </p:sp>
      <p:sp>
        <p:nvSpPr>
          <p:cNvPr id="32" name="Shape 30"/>
          <p:cNvSpPr/>
          <p:nvPr/>
        </p:nvSpPr>
        <p:spPr>
          <a:xfrm>
            <a:off x="1046988" y="4297680"/>
            <a:ext cx="5527548" cy="0"/>
          </a:xfrm>
          <a:prstGeom prst="line">
            <a:avLst/>
          </a:prstGeom>
          <a:noFill/>
          <a:ln w="30480">
            <a:solidFill>
              <a:srgbClr val="F28E2B"/>
            </a:solidFill>
            <a:prstDash val="solid"/>
            <a:headEnd type="none"/>
            <a:tailEnd type="triangle"/>
          </a:ln>
        </p:spPr>
      </p:sp>
      <p:sp>
        <p:nvSpPr>
          <p:cNvPr id="33" name="Text 31"/>
          <p:cNvSpPr/>
          <p:nvPr/>
        </p:nvSpPr>
        <p:spPr>
          <a:xfrm>
            <a:off x="1046988" y="4151376"/>
            <a:ext cx="5527548" cy="164592"/>
          </a:xfrm>
          <a:prstGeom prst="rect">
            <a:avLst/>
          </a:prstGeom>
          <a:noFill/>
          <a:ln/>
        </p:spPr>
        <p:txBody>
          <a:bodyPr wrap="square" lIns="0" tIns="0" rIns="0" bIns="0" rtlCol="0" anchor="ctr"/>
          <a:lstStyle/>
          <a:p>
            <a:pPr indent="0" marL="0">
              <a:buNone/>
            </a:pPr>
            <a:r>
              <a:rPr lang="en-US" sz="950" dirty="0">
                <a:solidFill>
                  <a:srgbClr val="F28E2B"/>
                </a:solidFill>
              </a:rPr>
              <a:t>multicistronic RNA</a:t>
            </a:r>
            <a:endParaRPr lang="en-US" sz="950" dirty="0"/>
          </a:p>
        </p:txBody>
      </p:sp>
      <p:sp>
        <p:nvSpPr>
          <p:cNvPr id="34" name="Shape 32"/>
          <p:cNvSpPr/>
          <p:nvPr/>
        </p:nvSpPr>
        <p:spPr>
          <a:xfrm>
            <a:off x="2651760" y="4663440"/>
            <a:ext cx="1485900" cy="0"/>
          </a:xfrm>
          <a:prstGeom prst="line">
            <a:avLst/>
          </a:prstGeom>
          <a:noFill/>
          <a:ln w="30480">
            <a:solidFill>
              <a:srgbClr val="E15759"/>
            </a:solidFill>
            <a:prstDash val="solid"/>
            <a:headEnd type="none"/>
            <a:tailEnd type="triangle"/>
          </a:ln>
        </p:spPr>
      </p:sp>
      <p:sp>
        <p:nvSpPr>
          <p:cNvPr id="35" name="Text 33"/>
          <p:cNvSpPr/>
          <p:nvPr/>
        </p:nvSpPr>
        <p:spPr>
          <a:xfrm>
            <a:off x="2651760" y="4517136"/>
            <a:ext cx="1485900" cy="164592"/>
          </a:xfrm>
          <a:prstGeom prst="rect">
            <a:avLst/>
          </a:prstGeom>
          <a:noFill/>
          <a:ln/>
        </p:spPr>
        <p:txBody>
          <a:bodyPr wrap="square" lIns="0" tIns="0" rIns="0" bIns="0" rtlCol="0" anchor="ctr"/>
          <a:lstStyle/>
          <a:p>
            <a:pPr indent="0" marL="0">
              <a:buNone/>
            </a:pPr>
            <a:r>
              <a:rPr lang="en-US" sz="950" dirty="0">
                <a:solidFill>
                  <a:srgbClr val="E15759"/>
                </a:solidFill>
              </a:rPr>
              <a:t>5′-truncated / embedded mRNA</a:t>
            </a:r>
            <a:endParaRPr lang="en-US" sz="950" dirty="0"/>
          </a:p>
        </p:txBody>
      </p:sp>
      <p:sp>
        <p:nvSpPr>
          <p:cNvPr id="36" name="Text 34"/>
          <p:cNvSpPr/>
          <p:nvPr/>
        </p:nvSpPr>
        <p:spPr>
          <a:xfrm>
            <a:off x="7726680" y="1261872"/>
            <a:ext cx="3383280" cy="274320"/>
          </a:xfrm>
          <a:prstGeom prst="rect">
            <a:avLst/>
          </a:prstGeom>
          <a:noFill/>
          <a:ln/>
        </p:spPr>
        <p:txBody>
          <a:bodyPr wrap="square" lIns="0" tIns="0" rIns="0" bIns="0" rtlCol="0" anchor="ctr"/>
          <a:lstStyle/>
          <a:p>
            <a:pPr indent="0" marL="0">
              <a:buNone/>
            </a:pPr>
            <a:r>
              <a:rPr lang="en-US" sz="1550" b="1" dirty="0">
                <a:solidFill>
                  <a:srgbClr val="12263A"/>
                </a:solidFill>
              </a:rPr>
              <a:t>Classical kinetic model</a:t>
            </a:r>
            <a:endParaRPr lang="en-US" sz="1550" dirty="0"/>
          </a:p>
        </p:txBody>
      </p:sp>
      <p:sp>
        <p:nvSpPr>
          <p:cNvPr id="37" name="Text 35"/>
          <p:cNvSpPr/>
          <p:nvPr/>
        </p:nvSpPr>
        <p:spPr>
          <a:xfrm>
            <a:off x="7772400" y="1810512"/>
            <a:ext cx="713232" cy="713232"/>
          </a:xfrm>
          <a:prstGeom prst="rect">
            <a:avLst/>
          </a:prstGeom>
          <a:solidFill>
            <a:srgbClr val="E15759"/>
          </a:solidFill>
          <a:ln/>
        </p:spPr>
        <p:txBody>
          <a:bodyPr wrap="square" lIns="0" tIns="0" rIns="0" bIns="0" rtlCol="0" anchor="ctr"/>
          <a:lstStyle/>
          <a:p>
            <a:pPr algn="ctr" indent="0" marL="0">
              <a:buNone/>
            </a:pPr>
            <a:r>
              <a:rPr lang="en-US" sz="2500" b="1" dirty="0">
                <a:solidFill>
                  <a:srgbClr val="FFFFFF"/>
                </a:solidFill>
              </a:rPr>
              <a:t>IE</a:t>
            </a:r>
            <a:endParaRPr lang="en-US" sz="2500" dirty="0"/>
          </a:p>
        </p:txBody>
      </p:sp>
      <p:sp>
        <p:nvSpPr>
          <p:cNvPr id="38" name="Text 36"/>
          <p:cNvSpPr/>
          <p:nvPr/>
        </p:nvSpPr>
        <p:spPr>
          <a:xfrm>
            <a:off x="8732520" y="2066544"/>
            <a:ext cx="713232" cy="713232"/>
          </a:xfrm>
          <a:prstGeom prst="rect">
            <a:avLst/>
          </a:prstGeom>
          <a:solidFill>
            <a:srgbClr val="F28E2B"/>
          </a:solidFill>
          <a:ln/>
        </p:spPr>
        <p:txBody>
          <a:bodyPr wrap="square" lIns="0" tIns="0" rIns="0" bIns="0" rtlCol="0" anchor="ctr"/>
          <a:lstStyle/>
          <a:p>
            <a:pPr algn="ctr" indent="0" marL="0">
              <a:buNone/>
            </a:pPr>
            <a:r>
              <a:rPr lang="en-US" sz="2500" b="1" dirty="0">
                <a:solidFill>
                  <a:srgbClr val="FFFFFF"/>
                </a:solidFill>
              </a:rPr>
              <a:t>E</a:t>
            </a:r>
            <a:endParaRPr lang="en-US" sz="2500" dirty="0"/>
          </a:p>
        </p:txBody>
      </p:sp>
      <p:sp>
        <p:nvSpPr>
          <p:cNvPr id="39" name="Text 37"/>
          <p:cNvSpPr/>
          <p:nvPr/>
        </p:nvSpPr>
        <p:spPr>
          <a:xfrm>
            <a:off x="9692640" y="2322576"/>
            <a:ext cx="713232" cy="713232"/>
          </a:xfrm>
          <a:prstGeom prst="rect">
            <a:avLst/>
          </a:prstGeom>
          <a:solidFill>
            <a:srgbClr val="59A14F"/>
          </a:solidFill>
          <a:ln/>
        </p:spPr>
        <p:txBody>
          <a:bodyPr wrap="square" lIns="0" tIns="0" rIns="0" bIns="0" rtlCol="0" anchor="ctr"/>
          <a:lstStyle/>
          <a:p>
            <a:pPr algn="ctr" indent="0" marL="0">
              <a:buNone/>
            </a:pPr>
            <a:r>
              <a:rPr lang="en-US" sz="2500" b="1" dirty="0">
                <a:solidFill>
                  <a:srgbClr val="FFFFFF"/>
                </a:solidFill>
              </a:rPr>
              <a:t>L</a:t>
            </a:r>
            <a:endParaRPr lang="en-US" sz="2500" dirty="0"/>
          </a:p>
        </p:txBody>
      </p:sp>
      <p:sp>
        <p:nvSpPr>
          <p:cNvPr id="40" name="Shape 38"/>
          <p:cNvSpPr/>
          <p:nvPr/>
        </p:nvSpPr>
        <p:spPr>
          <a:xfrm>
            <a:off x="8522208" y="2157984"/>
            <a:ext cx="201168" cy="164592"/>
          </a:xfrm>
          <a:prstGeom prst="line">
            <a:avLst/>
          </a:prstGeom>
          <a:noFill/>
          <a:ln w="19050">
            <a:solidFill>
              <a:srgbClr val="A7B1BE"/>
            </a:solidFill>
            <a:prstDash val="solid"/>
            <a:tailEnd type="triangle"/>
          </a:ln>
        </p:spPr>
      </p:sp>
      <p:sp>
        <p:nvSpPr>
          <p:cNvPr id="41" name="Shape 39"/>
          <p:cNvSpPr/>
          <p:nvPr/>
        </p:nvSpPr>
        <p:spPr>
          <a:xfrm>
            <a:off x="9482328" y="2414016"/>
            <a:ext cx="201168" cy="164592"/>
          </a:xfrm>
          <a:prstGeom prst="line">
            <a:avLst/>
          </a:prstGeom>
          <a:noFill/>
          <a:ln w="19050">
            <a:solidFill>
              <a:srgbClr val="A7B1BE"/>
            </a:solidFill>
            <a:prstDash val="solid"/>
            <a:tailEnd type="triangle"/>
          </a:ln>
        </p:spPr>
      </p:sp>
      <p:sp>
        <p:nvSpPr>
          <p:cNvPr id="42" name="Text 40"/>
          <p:cNvSpPr/>
          <p:nvPr/>
        </p:nvSpPr>
        <p:spPr>
          <a:xfrm>
            <a:off x="7726680" y="3337560"/>
            <a:ext cx="3474720" cy="914400"/>
          </a:xfrm>
          <a:prstGeom prst="rect">
            <a:avLst/>
          </a:prstGeom>
          <a:noFill/>
          <a:ln/>
        </p:spPr>
        <p:txBody>
          <a:bodyPr wrap="square" lIns="381" tIns="381" rIns="381" bIns="381" rtlCol="0" anchor="ctr"/>
          <a:lstStyle/>
          <a:p>
            <a:pPr indent="0" marL="0">
              <a:buNone/>
            </a:pPr>
            <a:r>
              <a:rPr lang="en-US" sz="1650" dirty="0">
                <a:solidFill>
                  <a:srgbClr val="667085"/>
                </a:solidFill>
              </a:rPr>
              <a:t>Useful framework — but transcript boundaries, splicing and overlapping RNAs can blur it.</a:t>
            </a:r>
            <a:endParaRPr lang="en-US" sz="1650" dirty="0"/>
          </a:p>
        </p:txBody>
      </p:sp>
      <p:sp>
        <p:nvSpPr>
          <p:cNvPr id="43" name="Text 41"/>
          <p:cNvSpPr/>
          <p:nvPr/>
        </p:nvSpPr>
        <p:spPr>
          <a:xfrm>
            <a:off x="7726680" y="4498848"/>
            <a:ext cx="1005840" cy="246888"/>
          </a:xfrm>
          <a:prstGeom prst="rect">
            <a:avLst/>
          </a:prstGeom>
          <a:noFill/>
          <a:ln/>
        </p:spPr>
        <p:txBody>
          <a:bodyPr wrap="square" lIns="0" tIns="0" rIns="0" bIns="0" rtlCol="0" anchor="ctr"/>
          <a:lstStyle/>
          <a:p>
            <a:pPr indent="0" marL="0">
              <a:buNone/>
            </a:pPr>
            <a:r>
              <a:rPr lang="en-US" sz="1100" b="1" spc="120" kern="0" dirty="0">
                <a:solidFill>
                  <a:srgbClr val="1F8A8A"/>
                </a:solidFill>
              </a:rPr>
              <a:t>Question</a:t>
            </a:r>
            <a:endParaRPr lang="en-US" sz="1100" dirty="0"/>
          </a:p>
        </p:txBody>
      </p:sp>
      <p:sp>
        <p:nvSpPr>
          <p:cNvPr id="44" name="Text 42"/>
          <p:cNvSpPr/>
          <p:nvPr/>
        </p:nvSpPr>
        <p:spPr>
          <a:xfrm>
            <a:off x="7726680" y="4818888"/>
            <a:ext cx="3520440" cy="841248"/>
          </a:xfrm>
          <a:prstGeom prst="rect">
            <a:avLst/>
          </a:prstGeom>
          <a:noFill/>
          <a:ln/>
        </p:spPr>
        <p:txBody>
          <a:bodyPr wrap="square" lIns="0" tIns="0" rIns="0" bIns="0" rtlCol="0" anchor="ctr"/>
          <a:lstStyle/>
          <a:p>
            <a:pPr indent="0" marL="0">
              <a:buNone/>
            </a:pPr>
            <a:r>
              <a:rPr lang="en-US" sz="2000" b="1" dirty="0">
                <a:solidFill>
                  <a:srgbClr val="12263A"/>
                </a:solidFill>
              </a:rPr>
              <a:t>Can full-length, time-resolved RNA sequencing reveal the real regulatory program?</a:t>
            </a:r>
            <a:endParaRPr lang="en-US" sz="2000" dirty="0"/>
          </a:p>
        </p:txBody>
      </p:sp>
      <p:sp>
        <p:nvSpPr>
          <p:cNvPr id="45" name="Text 43"/>
          <p:cNvSpPr/>
          <p:nvPr/>
        </p:nvSpPr>
        <p:spPr>
          <a:xfrm>
            <a:off x="640080" y="6236208"/>
            <a:ext cx="10881360" cy="182880"/>
          </a:xfrm>
          <a:prstGeom prst="rect">
            <a:avLst/>
          </a:prstGeom>
          <a:noFill/>
          <a:ln/>
        </p:spPr>
        <p:txBody>
          <a:bodyPr wrap="square" lIns="0" tIns="0" rIns="0" bIns="0" rtlCol="0" anchor="ctr"/>
          <a:lstStyle/>
          <a:p>
            <a:pPr algn="l" indent="0" marL="0">
              <a:buNone/>
            </a:pPr>
            <a:r>
              <a:rPr lang="en-US" sz="850" i="1" dirty="0">
                <a:solidFill>
                  <a:srgbClr val="7B8794"/>
                </a:solidFill>
              </a:rPr>
              <a:t>Source: published PLOS ONE article; EHV-1 genome architecture and classical IE/E/L framework.</a:t>
            </a:r>
            <a:endParaRPr lang="en-US" sz="850" dirty="0"/>
          </a:p>
        </p:txBody>
      </p:sp>
      <p:sp>
        <p:nvSpPr>
          <p:cNvPr id="25" name="Slide Number Placeholder 0"/>
          <p:cNvSpPr>
            <a:spLocks noGrp="1"/>
          </p:cNvSpPr>
          <p:nvPr>
            <p:ph type="sldNum" sz="quarter" idx="4294967295"/>
          </p:nvPr>
        </p:nvSpPr>
        <p:spPr>
          <a:xfrm>
            <a:off x="11722608" y="6501384"/>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A97A6"/>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47472"/>
            <a:ext cx="4114800" cy="228600"/>
          </a:xfrm>
          <a:prstGeom prst="rect">
            <a:avLst/>
          </a:prstGeom>
          <a:noFill/>
          <a:ln/>
        </p:spPr>
        <p:txBody>
          <a:bodyPr wrap="square" lIns="0" tIns="0" rIns="0" bIns="0" rtlCol="0" anchor="ctr"/>
          <a:lstStyle/>
          <a:p>
            <a:pPr indent="0" marL="0">
              <a:buNone/>
            </a:pPr>
            <a:r>
              <a:rPr lang="en-US" sz="1050" b="1" spc="160" kern="0" dirty="0">
                <a:solidFill>
                  <a:srgbClr val="1F8A8A"/>
                </a:solidFill>
              </a:rPr>
              <a:t>STRATEGY</a:t>
            </a:r>
            <a:endParaRPr lang="en-US" sz="1050" dirty="0"/>
          </a:p>
        </p:txBody>
      </p:sp>
      <p:sp>
        <p:nvSpPr>
          <p:cNvPr id="3" name="Text 1"/>
          <p:cNvSpPr/>
          <p:nvPr/>
        </p:nvSpPr>
        <p:spPr>
          <a:xfrm>
            <a:off x="594360" y="603504"/>
            <a:ext cx="10972800" cy="493776"/>
          </a:xfrm>
          <a:prstGeom prst="rect">
            <a:avLst/>
          </a:prstGeom>
          <a:noFill/>
          <a:ln/>
        </p:spPr>
        <p:txBody>
          <a:bodyPr wrap="square" lIns="0" tIns="0" rIns="0" bIns="0" rtlCol="0" anchor="ctr"/>
          <a:lstStyle/>
          <a:p>
            <a:pPr indent="0" marL="0">
              <a:buNone/>
            </a:pPr>
            <a:r>
              <a:rPr lang="en-US" sz="2800" b="1" dirty="0">
                <a:solidFill>
                  <a:srgbClr val="12263A"/>
                </a:solidFill>
              </a:rPr>
              <a:t>No single sequencing method resolves the whole transcript</a:t>
            </a:r>
            <a:endParaRPr lang="en-US" sz="2800" dirty="0"/>
          </a:p>
        </p:txBody>
      </p:sp>
      <p:sp>
        <p:nvSpPr>
          <p:cNvPr id="4" name="Text 2"/>
          <p:cNvSpPr/>
          <p:nvPr/>
        </p:nvSpPr>
        <p:spPr>
          <a:xfrm>
            <a:off x="640080" y="1152144"/>
            <a:ext cx="8686800" cy="347472"/>
          </a:xfrm>
          <a:prstGeom prst="rect">
            <a:avLst/>
          </a:prstGeom>
          <a:noFill/>
          <a:ln/>
        </p:spPr>
        <p:txBody>
          <a:bodyPr wrap="square" lIns="0" tIns="0" rIns="0" bIns="0" rtlCol="0" anchor="ctr"/>
          <a:lstStyle/>
          <a:p>
            <a:pPr indent="0" marL="0">
              <a:buNone/>
            </a:pPr>
            <a:r>
              <a:rPr lang="en-US" sz="1850" dirty="0">
                <a:solidFill>
                  <a:srgbClr val="667085"/>
                </a:solidFill>
              </a:rPr>
              <a:t>The study combines complementary strengths rather than treating one platform as ground truth.</a:t>
            </a:r>
            <a:endParaRPr lang="en-US" sz="1850" dirty="0"/>
          </a:p>
        </p:txBody>
      </p:sp>
      <p:sp>
        <p:nvSpPr>
          <p:cNvPr id="5" name="Text 3"/>
          <p:cNvSpPr/>
          <p:nvPr/>
        </p:nvSpPr>
        <p:spPr>
          <a:xfrm>
            <a:off x="685800" y="1737360"/>
            <a:ext cx="2999232" cy="329184"/>
          </a:xfrm>
          <a:prstGeom prst="rect">
            <a:avLst/>
          </a:prstGeom>
          <a:noFill/>
          <a:ln/>
        </p:spPr>
        <p:txBody>
          <a:bodyPr wrap="square" lIns="0" tIns="0" rIns="0" bIns="0" rtlCol="0" anchor="ctr"/>
          <a:lstStyle/>
          <a:p>
            <a:pPr indent="0" marL="0">
              <a:buNone/>
            </a:pPr>
            <a:r>
              <a:rPr lang="en-US" sz="2100" b="1" dirty="0">
                <a:solidFill>
                  <a:srgbClr val="12263A"/>
                </a:solidFill>
              </a:rPr>
              <a:t>CAGE-Seq</a:t>
            </a:r>
            <a:endParaRPr lang="en-US" sz="2100" dirty="0"/>
          </a:p>
        </p:txBody>
      </p:sp>
      <p:sp>
        <p:nvSpPr>
          <p:cNvPr id="6" name="Text 4"/>
          <p:cNvSpPr/>
          <p:nvPr/>
        </p:nvSpPr>
        <p:spPr>
          <a:xfrm>
            <a:off x="685800" y="2084832"/>
            <a:ext cx="2999232" cy="228600"/>
          </a:xfrm>
          <a:prstGeom prst="rect">
            <a:avLst/>
          </a:prstGeom>
          <a:noFill/>
          <a:ln/>
        </p:spPr>
        <p:txBody>
          <a:bodyPr wrap="square" lIns="0" tIns="0" rIns="0" bIns="0" rtlCol="0" anchor="ctr"/>
          <a:lstStyle/>
          <a:p>
            <a:pPr indent="0" marL="0">
              <a:buNone/>
            </a:pPr>
            <a:r>
              <a:rPr lang="en-US" sz="1150" dirty="0">
                <a:solidFill>
                  <a:srgbClr val="667085"/>
                </a:solidFill>
              </a:rPr>
              <a:t>Illumina MiSeq</a:t>
            </a:r>
            <a:endParaRPr lang="en-US" sz="1150" dirty="0"/>
          </a:p>
        </p:txBody>
      </p:sp>
      <p:sp>
        <p:nvSpPr>
          <p:cNvPr id="7" name="Text 5"/>
          <p:cNvSpPr/>
          <p:nvPr/>
        </p:nvSpPr>
        <p:spPr>
          <a:xfrm>
            <a:off x="685800" y="2487168"/>
            <a:ext cx="2999232" cy="658368"/>
          </a:xfrm>
          <a:prstGeom prst="rect">
            <a:avLst/>
          </a:prstGeom>
          <a:solidFill>
            <a:srgbClr val="FFF2E3"/>
          </a:solidFill>
          <a:ln>
            <a:solidFill>
              <a:srgbClr val="FFF2E3"/>
            </a:solidFill>
          </a:ln>
        </p:spPr>
        <p:txBody>
          <a:bodyPr wrap="square" lIns="0" tIns="0" rIns="0" bIns="0" rtlCol="0" anchor="ctr"/>
          <a:lstStyle/>
          <a:p>
            <a:pPr algn="ctr" indent="0" marL="0">
              <a:buNone/>
            </a:pPr>
            <a:r>
              <a:rPr lang="en-US" sz="2700" b="1" dirty="0">
                <a:solidFill>
                  <a:srgbClr val="F28E2B"/>
                </a:solidFill>
              </a:rPr>
              <a:t>5′ cap</a:t>
            </a:r>
            <a:endParaRPr lang="en-US" sz="2700" dirty="0"/>
          </a:p>
        </p:txBody>
      </p:sp>
      <p:sp>
        <p:nvSpPr>
          <p:cNvPr id="8" name="Text 6"/>
          <p:cNvSpPr/>
          <p:nvPr/>
        </p:nvSpPr>
        <p:spPr>
          <a:xfrm>
            <a:off x="731520" y="3410712"/>
            <a:ext cx="2880360" cy="438912"/>
          </a:xfrm>
          <a:prstGeom prst="rect">
            <a:avLst/>
          </a:prstGeom>
          <a:noFill/>
          <a:ln/>
        </p:spPr>
        <p:txBody>
          <a:bodyPr wrap="square" lIns="254" tIns="254" rIns="254" bIns="254" rtlCol="0" anchor="ctr"/>
          <a:lstStyle/>
          <a:p>
            <a:pPr indent="0" marL="0">
              <a:buNone/>
            </a:pPr>
            <a:r>
              <a:rPr lang="en-US" sz="1420" dirty="0">
                <a:solidFill>
                  <a:srgbClr val="667085"/>
                </a:solidFill>
              </a:rPr>
              <a:t>• High-resolution capped TSS signal</a:t>
            </a:r>
            <a:endParaRPr lang="en-US" sz="1420" dirty="0"/>
          </a:p>
        </p:txBody>
      </p:sp>
      <p:sp>
        <p:nvSpPr>
          <p:cNvPr id="9" name="Text 7"/>
          <p:cNvSpPr/>
          <p:nvPr/>
        </p:nvSpPr>
        <p:spPr>
          <a:xfrm>
            <a:off x="731520" y="3977640"/>
            <a:ext cx="2880360" cy="438912"/>
          </a:xfrm>
          <a:prstGeom prst="rect">
            <a:avLst/>
          </a:prstGeom>
          <a:noFill/>
          <a:ln/>
        </p:spPr>
        <p:txBody>
          <a:bodyPr wrap="square" lIns="254" tIns="254" rIns="254" bIns="254" rtlCol="0" anchor="ctr"/>
          <a:lstStyle/>
          <a:p>
            <a:pPr indent="0" marL="0">
              <a:buNone/>
            </a:pPr>
            <a:r>
              <a:rPr lang="en-US" sz="1420" dirty="0">
                <a:solidFill>
                  <a:srgbClr val="667085"/>
                </a:solidFill>
              </a:rPr>
              <a:t>• Strong evidence for promoter usage</a:t>
            </a:r>
            <a:endParaRPr lang="en-US" sz="1420" dirty="0"/>
          </a:p>
        </p:txBody>
      </p:sp>
      <p:sp>
        <p:nvSpPr>
          <p:cNvPr id="10" name="Text 8"/>
          <p:cNvSpPr/>
          <p:nvPr/>
        </p:nvSpPr>
        <p:spPr>
          <a:xfrm>
            <a:off x="731520" y="4544568"/>
            <a:ext cx="2880360" cy="438912"/>
          </a:xfrm>
          <a:prstGeom prst="rect">
            <a:avLst/>
          </a:prstGeom>
          <a:noFill/>
          <a:ln/>
        </p:spPr>
        <p:txBody>
          <a:bodyPr wrap="square" lIns="254" tIns="254" rIns="254" bIns="254" rtlCol="0" anchor="ctr"/>
          <a:lstStyle/>
          <a:p>
            <a:pPr indent="0" marL="0">
              <a:buNone/>
            </a:pPr>
            <a:r>
              <a:rPr lang="en-US" sz="1420" dirty="0">
                <a:solidFill>
                  <a:srgbClr val="667085"/>
                </a:solidFill>
              </a:rPr>
              <a:t>• Does not link 5′ end to a full transcript</a:t>
            </a:r>
            <a:endParaRPr lang="en-US" sz="1420" dirty="0"/>
          </a:p>
        </p:txBody>
      </p:sp>
      <p:sp>
        <p:nvSpPr>
          <p:cNvPr id="11" name="Text 9"/>
          <p:cNvSpPr/>
          <p:nvPr/>
        </p:nvSpPr>
        <p:spPr>
          <a:xfrm>
            <a:off x="4133088" y="1737360"/>
            <a:ext cx="2999232" cy="329184"/>
          </a:xfrm>
          <a:prstGeom prst="rect">
            <a:avLst/>
          </a:prstGeom>
          <a:noFill/>
          <a:ln/>
        </p:spPr>
        <p:txBody>
          <a:bodyPr wrap="square" lIns="0" tIns="0" rIns="0" bIns="0" rtlCol="0" anchor="ctr"/>
          <a:lstStyle/>
          <a:p>
            <a:pPr indent="0" marL="0">
              <a:buNone/>
            </a:pPr>
            <a:r>
              <a:rPr lang="en-US" sz="2100" b="1" dirty="0">
                <a:solidFill>
                  <a:srgbClr val="12263A"/>
                </a:solidFill>
              </a:rPr>
              <a:t>Direct cDNA-Seq</a:t>
            </a:r>
            <a:endParaRPr lang="en-US" sz="2100" dirty="0"/>
          </a:p>
        </p:txBody>
      </p:sp>
      <p:sp>
        <p:nvSpPr>
          <p:cNvPr id="12" name="Text 10"/>
          <p:cNvSpPr/>
          <p:nvPr/>
        </p:nvSpPr>
        <p:spPr>
          <a:xfrm>
            <a:off x="4133088" y="2084832"/>
            <a:ext cx="2999232" cy="228600"/>
          </a:xfrm>
          <a:prstGeom prst="rect">
            <a:avLst/>
          </a:prstGeom>
          <a:noFill/>
          <a:ln/>
        </p:spPr>
        <p:txBody>
          <a:bodyPr wrap="square" lIns="0" tIns="0" rIns="0" bIns="0" rtlCol="0" anchor="ctr"/>
          <a:lstStyle/>
          <a:p>
            <a:pPr indent="0" marL="0">
              <a:buNone/>
            </a:pPr>
            <a:r>
              <a:rPr lang="en-US" sz="1150" dirty="0">
                <a:solidFill>
                  <a:srgbClr val="667085"/>
                </a:solidFill>
              </a:rPr>
              <a:t>ONT MinION</a:t>
            </a:r>
            <a:endParaRPr lang="en-US" sz="1150" dirty="0"/>
          </a:p>
        </p:txBody>
      </p:sp>
      <p:sp>
        <p:nvSpPr>
          <p:cNvPr id="13" name="Text 11"/>
          <p:cNvSpPr/>
          <p:nvPr/>
        </p:nvSpPr>
        <p:spPr>
          <a:xfrm>
            <a:off x="4133088" y="2487168"/>
            <a:ext cx="2999232" cy="658368"/>
          </a:xfrm>
          <a:prstGeom prst="rect">
            <a:avLst/>
          </a:prstGeom>
          <a:solidFill>
            <a:srgbClr val="E8F6F5"/>
          </a:solidFill>
          <a:ln>
            <a:solidFill>
              <a:srgbClr val="E8F6F5"/>
            </a:solidFill>
          </a:ln>
        </p:spPr>
        <p:txBody>
          <a:bodyPr wrap="square" lIns="0" tIns="0" rIns="0" bIns="0" rtlCol="0" anchor="ctr"/>
          <a:lstStyle/>
          <a:p>
            <a:pPr algn="ctr" indent="0" marL="0">
              <a:buNone/>
            </a:pPr>
            <a:r>
              <a:rPr lang="en-US" sz="2700" b="1" dirty="0">
                <a:solidFill>
                  <a:srgbClr val="1F8A8A"/>
                </a:solidFill>
              </a:rPr>
              <a:t>full length</a:t>
            </a:r>
            <a:endParaRPr lang="en-US" sz="2700" dirty="0"/>
          </a:p>
        </p:txBody>
      </p:sp>
      <p:sp>
        <p:nvSpPr>
          <p:cNvPr id="14" name="Text 12"/>
          <p:cNvSpPr/>
          <p:nvPr/>
        </p:nvSpPr>
        <p:spPr>
          <a:xfrm>
            <a:off x="4178808" y="3410712"/>
            <a:ext cx="2880360" cy="438912"/>
          </a:xfrm>
          <a:prstGeom prst="rect">
            <a:avLst/>
          </a:prstGeom>
          <a:noFill/>
          <a:ln/>
        </p:spPr>
        <p:txBody>
          <a:bodyPr wrap="square" lIns="254" tIns="254" rIns="254" bIns="254" rtlCol="0" anchor="ctr"/>
          <a:lstStyle/>
          <a:p>
            <a:pPr indent="0" marL="0">
              <a:buNone/>
            </a:pPr>
            <a:r>
              <a:rPr lang="en-US" sz="1420" dirty="0">
                <a:solidFill>
                  <a:srgbClr val="667085"/>
                </a:solidFill>
              </a:rPr>
              <a:t>• Long reads link TSS → splice → TES</a:t>
            </a:r>
            <a:endParaRPr lang="en-US" sz="1420" dirty="0"/>
          </a:p>
        </p:txBody>
      </p:sp>
      <p:sp>
        <p:nvSpPr>
          <p:cNvPr id="15" name="Text 13"/>
          <p:cNvSpPr/>
          <p:nvPr/>
        </p:nvSpPr>
        <p:spPr>
          <a:xfrm>
            <a:off x="4178808" y="3977640"/>
            <a:ext cx="2880360" cy="438912"/>
          </a:xfrm>
          <a:prstGeom prst="rect">
            <a:avLst/>
          </a:prstGeom>
          <a:noFill/>
          <a:ln/>
        </p:spPr>
        <p:txBody>
          <a:bodyPr wrap="square" lIns="254" tIns="254" rIns="254" bIns="254" rtlCol="0" anchor="ctr"/>
          <a:lstStyle/>
          <a:p>
            <a:pPr indent="0" marL="0">
              <a:buNone/>
            </a:pPr>
            <a:r>
              <a:rPr lang="en-US" sz="1420" dirty="0">
                <a:solidFill>
                  <a:srgbClr val="667085"/>
                </a:solidFill>
              </a:rPr>
              <a:t>• Adapter evidence gives orientation</a:t>
            </a:r>
            <a:endParaRPr lang="en-US" sz="1420" dirty="0"/>
          </a:p>
        </p:txBody>
      </p:sp>
      <p:sp>
        <p:nvSpPr>
          <p:cNvPr id="16" name="Text 14"/>
          <p:cNvSpPr/>
          <p:nvPr/>
        </p:nvSpPr>
        <p:spPr>
          <a:xfrm>
            <a:off x="4178808" y="4544568"/>
            <a:ext cx="2880360" cy="438912"/>
          </a:xfrm>
          <a:prstGeom prst="rect">
            <a:avLst/>
          </a:prstGeom>
          <a:noFill/>
          <a:ln/>
        </p:spPr>
        <p:txBody>
          <a:bodyPr wrap="square" lIns="254" tIns="254" rIns="254" bIns="254" rtlCol="0" anchor="ctr"/>
          <a:lstStyle/>
          <a:p>
            <a:pPr indent="0" marL="0">
              <a:buNone/>
            </a:pPr>
            <a:r>
              <a:rPr lang="en-US" sz="1420" dirty="0">
                <a:solidFill>
                  <a:srgbClr val="667085"/>
                </a:solidFill>
              </a:rPr>
              <a:t>• Enables isoform-specific kinetics</a:t>
            </a:r>
            <a:endParaRPr lang="en-US" sz="1420" dirty="0"/>
          </a:p>
        </p:txBody>
      </p:sp>
      <p:sp>
        <p:nvSpPr>
          <p:cNvPr id="17" name="Text 15"/>
          <p:cNvSpPr/>
          <p:nvPr/>
        </p:nvSpPr>
        <p:spPr>
          <a:xfrm>
            <a:off x="7580376" y="1737360"/>
            <a:ext cx="2999232" cy="329184"/>
          </a:xfrm>
          <a:prstGeom prst="rect">
            <a:avLst/>
          </a:prstGeom>
          <a:noFill/>
          <a:ln/>
        </p:spPr>
        <p:txBody>
          <a:bodyPr wrap="square" lIns="0" tIns="0" rIns="0" bIns="0" rtlCol="0" anchor="ctr"/>
          <a:lstStyle/>
          <a:p>
            <a:pPr indent="0" marL="0">
              <a:buNone/>
            </a:pPr>
            <a:r>
              <a:rPr lang="en-US" sz="2100" b="1" dirty="0">
                <a:solidFill>
                  <a:srgbClr val="12263A"/>
                </a:solidFill>
              </a:rPr>
              <a:t>Direct RNA-Seq</a:t>
            </a:r>
            <a:endParaRPr lang="en-US" sz="2100" dirty="0"/>
          </a:p>
        </p:txBody>
      </p:sp>
      <p:sp>
        <p:nvSpPr>
          <p:cNvPr id="18" name="Text 16"/>
          <p:cNvSpPr/>
          <p:nvPr/>
        </p:nvSpPr>
        <p:spPr>
          <a:xfrm>
            <a:off x="7580376" y="2084832"/>
            <a:ext cx="2999232" cy="228600"/>
          </a:xfrm>
          <a:prstGeom prst="rect">
            <a:avLst/>
          </a:prstGeom>
          <a:noFill/>
          <a:ln/>
        </p:spPr>
        <p:txBody>
          <a:bodyPr wrap="square" lIns="0" tIns="0" rIns="0" bIns="0" rtlCol="0" anchor="ctr"/>
          <a:lstStyle/>
          <a:p>
            <a:pPr indent="0" marL="0">
              <a:buNone/>
            </a:pPr>
            <a:r>
              <a:rPr lang="en-US" sz="1150" dirty="0">
                <a:solidFill>
                  <a:srgbClr val="667085"/>
                </a:solidFill>
              </a:rPr>
              <a:t>previous dataset</a:t>
            </a:r>
            <a:endParaRPr lang="en-US" sz="1150" dirty="0"/>
          </a:p>
        </p:txBody>
      </p:sp>
      <p:sp>
        <p:nvSpPr>
          <p:cNvPr id="19" name="Text 17"/>
          <p:cNvSpPr/>
          <p:nvPr/>
        </p:nvSpPr>
        <p:spPr>
          <a:xfrm>
            <a:off x="7580376" y="2487168"/>
            <a:ext cx="2999232" cy="658368"/>
          </a:xfrm>
          <a:prstGeom prst="rect">
            <a:avLst/>
          </a:prstGeom>
          <a:solidFill>
            <a:srgbClr val="EAF2F8"/>
          </a:solidFill>
          <a:ln>
            <a:solidFill>
              <a:srgbClr val="EAF2F8"/>
            </a:solidFill>
          </a:ln>
        </p:spPr>
        <p:txBody>
          <a:bodyPr wrap="square" lIns="0" tIns="0" rIns="0" bIns="0" rtlCol="0" anchor="ctr"/>
          <a:lstStyle/>
          <a:p>
            <a:pPr algn="ctr" indent="0" marL="0">
              <a:buNone/>
            </a:pPr>
            <a:r>
              <a:rPr lang="en-US" sz="2700" b="1" dirty="0">
                <a:solidFill>
                  <a:srgbClr val="4E79A7"/>
                </a:solidFill>
              </a:rPr>
              <a:t>native RNA</a:t>
            </a:r>
            <a:endParaRPr lang="en-US" sz="2700" dirty="0"/>
          </a:p>
        </p:txBody>
      </p:sp>
      <p:sp>
        <p:nvSpPr>
          <p:cNvPr id="20" name="Text 18"/>
          <p:cNvSpPr/>
          <p:nvPr/>
        </p:nvSpPr>
        <p:spPr>
          <a:xfrm>
            <a:off x="7626096" y="3410712"/>
            <a:ext cx="2880360" cy="438912"/>
          </a:xfrm>
          <a:prstGeom prst="rect">
            <a:avLst/>
          </a:prstGeom>
          <a:noFill/>
          <a:ln/>
        </p:spPr>
        <p:txBody>
          <a:bodyPr wrap="square" lIns="254" tIns="254" rIns="254" bIns="254" rtlCol="0" anchor="ctr"/>
          <a:lstStyle/>
          <a:p>
            <a:pPr indent="0" marL="0">
              <a:buNone/>
            </a:pPr>
            <a:r>
              <a:rPr lang="en-US" sz="1420" dirty="0">
                <a:solidFill>
                  <a:srgbClr val="667085"/>
                </a:solidFill>
              </a:rPr>
              <a:t>• Independent validation of introns/TSSs</a:t>
            </a:r>
            <a:endParaRPr lang="en-US" sz="1420" dirty="0"/>
          </a:p>
        </p:txBody>
      </p:sp>
      <p:sp>
        <p:nvSpPr>
          <p:cNvPr id="21" name="Text 19"/>
          <p:cNvSpPr/>
          <p:nvPr/>
        </p:nvSpPr>
        <p:spPr>
          <a:xfrm>
            <a:off x="7626096" y="3977640"/>
            <a:ext cx="2880360" cy="438912"/>
          </a:xfrm>
          <a:prstGeom prst="rect">
            <a:avLst/>
          </a:prstGeom>
          <a:noFill/>
          <a:ln/>
        </p:spPr>
        <p:txBody>
          <a:bodyPr wrap="square" lIns="254" tIns="254" rIns="254" bIns="254" rtlCol="0" anchor="ctr"/>
          <a:lstStyle/>
          <a:p>
            <a:pPr indent="0" marL="0">
              <a:buNone/>
            </a:pPr>
            <a:r>
              <a:rPr lang="en-US" sz="1420" dirty="0">
                <a:solidFill>
                  <a:srgbClr val="667085"/>
                </a:solidFill>
              </a:rPr>
              <a:t>• No RT/PCR artifacts</a:t>
            </a:r>
            <a:endParaRPr lang="en-US" sz="1420" dirty="0"/>
          </a:p>
        </p:txBody>
      </p:sp>
      <p:sp>
        <p:nvSpPr>
          <p:cNvPr id="22" name="Text 20"/>
          <p:cNvSpPr/>
          <p:nvPr/>
        </p:nvSpPr>
        <p:spPr>
          <a:xfrm>
            <a:off x="7626096" y="4544568"/>
            <a:ext cx="2880360" cy="438912"/>
          </a:xfrm>
          <a:prstGeom prst="rect">
            <a:avLst/>
          </a:prstGeom>
          <a:noFill/>
          <a:ln/>
        </p:spPr>
        <p:txBody>
          <a:bodyPr wrap="square" lIns="254" tIns="254" rIns="254" bIns="254" rtlCol="0" anchor="ctr"/>
          <a:lstStyle/>
          <a:p>
            <a:pPr indent="0" marL="0">
              <a:buNone/>
            </a:pPr>
            <a:r>
              <a:rPr lang="en-US" sz="1420" dirty="0">
                <a:solidFill>
                  <a:srgbClr val="667085"/>
                </a:solidFill>
              </a:rPr>
              <a:t>• 5′ truncation limits TSS precision</a:t>
            </a:r>
            <a:endParaRPr lang="en-US" sz="1420" dirty="0"/>
          </a:p>
        </p:txBody>
      </p:sp>
      <p:sp>
        <p:nvSpPr>
          <p:cNvPr id="23" name="Shape 21"/>
          <p:cNvSpPr/>
          <p:nvPr/>
        </p:nvSpPr>
        <p:spPr>
          <a:xfrm>
            <a:off x="3584448" y="2788920"/>
            <a:ext cx="384048" cy="0"/>
          </a:xfrm>
          <a:prstGeom prst="line">
            <a:avLst/>
          </a:prstGeom>
          <a:noFill/>
          <a:ln w="25400">
            <a:solidFill>
              <a:srgbClr val="A7B1BE"/>
            </a:solidFill>
            <a:prstDash val="solid"/>
            <a:tailEnd type="triangle"/>
          </a:ln>
        </p:spPr>
      </p:sp>
      <p:sp>
        <p:nvSpPr>
          <p:cNvPr id="24" name="Shape 22"/>
          <p:cNvSpPr/>
          <p:nvPr/>
        </p:nvSpPr>
        <p:spPr>
          <a:xfrm>
            <a:off x="7031736" y="2788920"/>
            <a:ext cx="384048" cy="0"/>
          </a:xfrm>
          <a:prstGeom prst="line">
            <a:avLst/>
          </a:prstGeom>
          <a:noFill/>
          <a:ln w="25400">
            <a:solidFill>
              <a:srgbClr val="A7B1BE"/>
            </a:solidFill>
            <a:prstDash val="solid"/>
            <a:tailEnd type="triangle"/>
          </a:ln>
        </p:spPr>
      </p:sp>
      <p:sp>
        <p:nvSpPr>
          <p:cNvPr id="25" name="Text 23"/>
          <p:cNvSpPr/>
          <p:nvPr/>
        </p:nvSpPr>
        <p:spPr>
          <a:xfrm>
            <a:off x="4315968" y="5541264"/>
            <a:ext cx="2743200" cy="347472"/>
          </a:xfrm>
          <a:prstGeom prst="rect">
            <a:avLst/>
          </a:prstGeom>
          <a:solidFill>
            <a:srgbClr val="12263A"/>
          </a:solidFill>
          <a:ln/>
        </p:spPr>
        <p:txBody>
          <a:bodyPr wrap="square" lIns="0" tIns="0" rIns="0" bIns="0" rtlCol="0" anchor="ctr"/>
          <a:lstStyle/>
          <a:p>
            <a:pPr algn="ctr" indent="0" marL="0">
              <a:buNone/>
            </a:pPr>
            <a:r>
              <a:rPr lang="en-US" sz="1750" b="1" dirty="0">
                <a:solidFill>
                  <a:srgbClr val="FFFFFF"/>
                </a:solidFill>
              </a:rPr>
              <a:t>Integrated evidence</a:t>
            </a:r>
            <a:endParaRPr lang="en-US" sz="1750" dirty="0"/>
          </a:p>
        </p:txBody>
      </p:sp>
      <p:sp>
        <p:nvSpPr>
          <p:cNvPr id="26" name="Text 24"/>
          <p:cNvSpPr/>
          <p:nvPr/>
        </p:nvSpPr>
        <p:spPr>
          <a:xfrm>
            <a:off x="640080" y="6236208"/>
            <a:ext cx="10881360" cy="182880"/>
          </a:xfrm>
          <a:prstGeom prst="rect">
            <a:avLst/>
          </a:prstGeom>
          <a:noFill/>
          <a:ln/>
        </p:spPr>
        <p:txBody>
          <a:bodyPr wrap="square" lIns="0" tIns="0" rIns="0" bIns="0" rtlCol="0" anchor="ctr"/>
          <a:lstStyle/>
          <a:p>
            <a:pPr algn="l" indent="0" marL="0">
              <a:buNone/>
            </a:pPr>
            <a:r>
              <a:rPr lang="en-US" sz="850" i="1" dirty="0">
                <a:solidFill>
                  <a:srgbClr val="7B8794"/>
                </a:solidFill>
              </a:rPr>
              <a:t>CAGE-Seq + ONT dcDNA-Seq in this study; earlier ONT dRNA-Seq reanalyzed for validation.</a:t>
            </a:r>
            <a:endParaRPr lang="en-US" sz="850" dirty="0"/>
          </a:p>
        </p:txBody>
      </p:sp>
      <p:sp>
        <p:nvSpPr>
          <p:cNvPr id="25" name="Slide Number Placeholder 0"/>
          <p:cNvSpPr>
            <a:spLocks noGrp="1"/>
          </p:cNvSpPr>
          <p:nvPr>
            <p:ph type="sldNum" sz="quarter" idx="4294967295"/>
          </p:nvPr>
        </p:nvSpPr>
        <p:spPr>
          <a:xfrm>
            <a:off x="11722608" y="6501384"/>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A97A6"/>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47472"/>
            <a:ext cx="4114800" cy="228600"/>
          </a:xfrm>
          <a:prstGeom prst="rect">
            <a:avLst/>
          </a:prstGeom>
          <a:noFill/>
          <a:ln/>
        </p:spPr>
        <p:txBody>
          <a:bodyPr wrap="square" lIns="0" tIns="0" rIns="0" bIns="0" rtlCol="0" anchor="ctr"/>
          <a:lstStyle/>
          <a:p>
            <a:pPr indent="0" marL="0">
              <a:buNone/>
            </a:pPr>
            <a:r>
              <a:rPr lang="en-US" sz="1050" b="1" spc="160" kern="0" dirty="0">
                <a:solidFill>
                  <a:srgbClr val="1F8A8A"/>
                </a:solidFill>
              </a:rPr>
              <a:t>EXPERIMENTAL DESIGN</a:t>
            </a:r>
            <a:endParaRPr lang="en-US" sz="1050" dirty="0"/>
          </a:p>
        </p:txBody>
      </p:sp>
      <p:sp>
        <p:nvSpPr>
          <p:cNvPr id="3" name="Text 1"/>
          <p:cNvSpPr/>
          <p:nvPr/>
        </p:nvSpPr>
        <p:spPr>
          <a:xfrm>
            <a:off x="594360" y="603504"/>
            <a:ext cx="10972800" cy="493776"/>
          </a:xfrm>
          <a:prstGeom prst="rect">
            <a:avLst/>
          </a:prstGeom>
          <a:noFill/>
          <a:ln/>
        </p:spPr>
        <p:txBody>
          <a:bodyPr wrap="square" lIns="0" tIns="0" rIns="0" bIns="0" rtlCol="0" anchor="ctr"/>
          <a:lstStyle/>
          <a:p>
            <a:pPr indent="0" marL="0">
              <a:buNone/>
            </a:pPr>
            <a:r>
              <a:rPr lang="en-US" sz="2800" b="1" dirty="0">
                <a:solidFill>
                  <a:srgbClr val="12263A"/>
                </a:solidFill>
              </a:rPr>
              <a:t>A dense time course captures the complete infection cycle</a:t>
            </a:r>
            <a:endParaRPr lang="en-US" sz="2800" dirty="0"/>
          </a:p>
        </p:txBody>
      </p:sp>
      <p:sp>
        <p:nvSpPr>
          <p:cNvPr id="4" name="Text 2"/>
          <p:cNvSpPr/>
          <p:nvPr/>
        </p:nvSpPr>
        <p:spPr>
          <a:xfrm>
            <a:off x="640080" y="1170432"/>
            <a:ext cx="6766560" cy="347472"/>
          </a:xfrm>
          <a:prstGeom prst="rect">
            <a:avLst/>
          </a:prstGeom>
          <a:noFill/>
          <a:ln/>
        </p:spPr>
        <p:txBody>
          <a:bodyPr wrap="square" lIns="0" tIns="0" rIns="0" bIns="0" rtlCol="0" anchor="ctr"/>
          <a:lstStyle/>
          <a:p>
            <a:pPr indent="0" marL="0">
              <a:buNone/>
            </a:pPr>
            <a:r>
              <a:rPr lang="en-US" sz="1850" dirty="0">
                <a:solidFill>
                  <a:srgbClr val="667085"/>
                </a:solidFill>
              </a:rPr>
              <a:t>RK-13 cells infected with the EHV-1 MdBio field isolate</a:t>
            </a:r>
            <a:endParaRPr lang="en-US" sz="1850" dirty="0"/>
          </a:p>
        </p:txBody>
      </p:sp>
      <p:sp>
        <p:nvSpPr>
          <p:cNvPr id="5" name="Shape 3"/>
          <p:cNvSpPr/>
          <p:nvPr/>
        </p:nvSpPr>
        <p:spPr>
          <a:xfrm>
            <a:off x="868680" y="2788920"/>
            <a:ext cx="10104120" cy="0"/>
          </a:xfrm>
          <a:prstGeom prst="line">
            <a:avLst/>
          </a:prstGeom>
          <a:noFill/>
          <a:ln w="27940">
            <a:solidFill>
              <a:srgbClr val="12263A"/>
            </a:solidFill>
            <a:prstDash val="solid"/>
            <a:tailEnd type="triangle"/>
          </a:ln>
        </p:spPr>
      </p:sp>
      <p:sp>
        <p:nvSpPr>
          <p:cNvPr id="6" name="Shape 4"/>
          <p:cNvSpPr/>
          <p:nvPr/>
        </p:nvSpPr>
        <p:spPr>
          <a:xfrm>
            <a:off x="777240" y="2697480"/>
            <a:ext cx="182880" cy="182880"/>
          </a:xfrm>
          <a:prstGeom prst="ellipse">
            <a:avLst/>
          </a:prstGeom>
          <a:solidFill>
            <a:srgbClr val="F28E2B"/>
          </a:solidFill>
          <a:ln w="12700">
            <a:solidFill>
              <a:srgbClr val="FFFFFF"/>
            </a:solidFill>
            <a:prstDash val="solid"/>
          </a:ln>
        </p:spPr>
      </p:sp>
      <p:sp>
        <p:nvSpPr>
          <p:cNvPr id="7" name="Text 5"/>
          <p:cNvSpPr/>
          <p:nvPr/>
        </p:nvSpPr>
        <p:spPr>
          <a:xfrm>
            <a:off x="649224" y="2953512"/>
            <a:ext cx="438912" cy="228600"/>
          </a:xfrm>
          <a:prstGeom prst="rect">
            <a:avLst/>
          </a:prstGeom>
          <a:noFill/>
          <a:ln/>
        </p:spPr>
        <p:txBody>
          <a:bodyPr wrap="square" lIns="0" tIns="0" rIns="0" bIns="0" rtlCol="0" anchor="ctr"/>
          <a:lstStyle/>
          <a:p>
            <a:pPr algn="ctr" indent="0" marL="0">
              <a:buNone/>
            </a:pPr>
            <a:r>
              <a:rPr lang="en-US" sz="1200" b="1" dirty="0">
                <a:solidFill>
                  <a:srgbClr val="12263A"/>
                </a:solidFill>
              </a:rPr>
              <a:t>1</a:t>
            </a:r>
            <a:endParaRPr lang="en-US" sz="1200" dirty="0"/>
          </a:p>
        </p:txBody>
      </p:sp>
      <p:sp>
        <p:nvSpPr>
          <p:cNvPr id="8" name="Shape 6"/>
          <p:cNvSpPr/>
          <p:nvPr/>
        </p:nvSpPr>
        <p:spPr>
          <a:xfrm>
            <a:off x="2023110" y="2697480"/>
            <a:ext cx="182880" cy="182880"/>
          </a:xfrm>
          <a:prstGeom prst="ellipse">
            <a:avLst/>
          </a:prstGeom>
          <a:solidFill>
            <a:srgbClr val="F28E2B"/>
          </a:solidFill>
          <a:ln w="12700">
            <a:solidFill>
              <a:srgbClr val="FFFFFF"/>
            </a:solidFill>
            <a:prstDash val="solid"/>
          </a:ln>
        </p:spPr>
      </p:sp>
      <p:sp>
        <p:nvSpPr>
          <p:cNvPr id="9" name="Text 7"/>
          <p:cNvSpPr/>
          <p:nvPr/>
        </p:nvSpPr>
        <p:spPr>
          <a:xfrm>
            <a:off x="1895094" y="2953512"/>
            <a:ext cx="438912" cy="228600"/>
          </a:xfrm>
          <a:prstGeom prst="rect">
            <a:avLst/>
          </a:prstGeom>
          <a:noFill/>
          <a:ln/>
        </p:spPr>
        <p:txBody>
          <a:bodyPr wrap="square" lIns="0" tIns="0" rIns="0" bIns="0" rtlCol="0" anchor="ctr"/>
          <a:lstStyle/>
          <a:p>
            <a:pPr algn="ctr" indent="0" marL="0">
              <a:buNone/>
            </a:pPr>
            <a:r>
              <a:rPr lang="en-US" sz="1200" b="1" dirty="0">
                <a:solidFill>
                  <a:srgbClr val="12263A"/>
                </a:solidFill>
              </a:rPr>
              <a:t>2</a:t>
            </a:r>
            <a:endParaRPr lang="en-US" sz="1200" dirty="0"/>
          </a:p>
        </p:txBody>
      </p:sp>
      <p:sp>
        <p:nvSpPr>
          <p:cNvPr id="10" name="Shape 8"/>
          <p:cNvSpPr/>
          <p:nvPr/>
        </p:nvSpPr>
        <p:spPr>
          <a:xfrm>
            <a:off x="3268980" y="2697480"/>
            <a:ext cx="182880" cy="182880"/>
          </a:xfrm>
          <a:prstGeom prst="ellipse">
            <a:avLst/>
          </a:prstGeom>
          <a:solidFill>
            <a:srgbClr val="F28E2B"/>
          </a:solidFill>
          <a:ln w="12700">
            <a:solidFill>
              <a:srgbClr val="FFFFFF"/>
            </a:solidFill>
            <a:prstDash val="solid"/>
          </a:ln>
        </p:spPr>
      </p:sp>
      <p:sp>
        <p:nvSpPr>
          <p:cNvPr id="11" name="Text 9"/>
          <p:cNvSpPr/>
          <p:nvPr/>
        </p:nvSpPr>
        <p:spPr>
          <a:xfrm>
            <a:off x="3140964" y="2953512"/>
            <a:ext cx="438912" cy="228600"/>
          </a:xfrm>
          <a:prstGeom prst="rect">
            <a:avLst/>
          </a:prstGeom>
          <a:noFill/>
          <a:ln/>
        </p:spPr>
        <p:txBody>
          <a:bodyPr wrap="square" lIns="0" tIns="0" rIns="0" bIns="0" rtlCol="0" anchor="ctr"/>
          <a:lstStyle/>
          <a:p>
            <a:pPr algn="ctr" indent="0" marL="0">
              <a:buNone/>
            </a:pPr>
            <a:r>
              <a:rPr lang="en-US" sz="1200" b="1" dirty="0">
                <a:solidFill>
                  <a:srgbClr val="12263A"/>
                </a:solidFill>
              </a:rPr>
              <a:t>4</a:t>
            </a:r>
            <a:endParaRPr lang="en-US" sz="1200" dirty="0"/>
          </a:p>
        </p:txBody>
      </p:sp>
      <p:sp>
        <p:nvSpPr>
          <p:cNvPr id="12" name="Shape 10"/>
          <p:cNvSpPr/>
          <p:nvPr/>
        </p:nvSpPr>
        <p:spPr>
          <a:xfrm>
            <a:off x="4514850" y="2697480"/>
            <a:ext cx="182880" cy="182880"/>
          </a:xfrm>
          <a:prstGeom prst="ellipse">
            <a:avLst/>
          </a:prstGeom>
          <a:solidFill>
            <a:srgbClr val="1F8A8A"/>
          </a:solidFill>
          <a:ln w="12700">
            <a:solidFill>
              <a:srgbClr val="FFFFFF"/>
            </a:solidFill>
            <a:prstDash val="solid"/>
          </a:ln>
        </p:spPr>
      </p:sp>
      <p:sp>
        <p:nvSpPr>
          <p:cNvPr id="13" name="Text 11"/>
          <p:cNvSpPr/>
          <p:nvPr/>
        </p:nvSpPr>
        <p:spPr>
          <a:xfrm>
            <a:off x="4386834" y="2953512"/>
            <a:ext cx="438912" cy="228600"/>
          </a:xfrm>
          <a:prstGeom prst="rect">
            <a:avLst/>
          </a:prstGeom>
          <a:noFill/>
          <a:ln/>
        </p:spPr>
        <p:txBody>
          <a:bodyPr wrap="square" lIns="0" tIns="0" rIns="0" bIns="0" rtlCol="0" anchor="ctr"/>
          <a:lstStyle/>
          <a:p>
            <a:pPr algn="ctr" indent="0" marL="0">
              <a:buNone/>
            </a:pPr>
            <a:r>
              <a:rPr lang="en-US" sz="1200" b="1" dirty="0">
                <a:solidFill>
                  <a:srgbClr val="12263A"/>
                </a:solidFill>
              </a:rPr>
              <a:t>6</a:t>
            </a:r>
            <a:endParaRPr lang="en-US" sz="1200" dirty="0"/>
          </a:p>
        </p:txBody>
      </p:sp>
      <p:sp>
        <p:nvSpPr>
          <p:cNvPr id="14" name="Shape 12"/>
          <p:cNvSpPr/>
          <p:nvPr/>
        </p:nvSpPr>
        <p:spPr>
          <a:xfrm>
            <a:off x="5760720" y="2697480"/>
            <a:ext cx="182880" cy="182880"/>
          </a:xfrm>
          <a:prstGeom prst="ellipse">
            <a:avLst/>
          </a:prstGeom>
          <a:solidFill>
            <a:srgbClr val="1F8A8A"/>
          </a:solidFill>
          <a:ln w="12700">
            <a:solidFill>
              <a:srgbClr val="FFFFFF"/>
            </a:solidFill>
            <a:prstDash val="solid"/>
          </a:ln>
        </p:spPr>
      </p:sp>
      <p:sp>
        <p:nvSpPr>
          <p:cNvPr id="15" name="Text 13"/>
          <p:cNvSpPr/>
          <p:nvPr/>
        </p:nvSpPr>
        <p:spPr>
          <a:xfrm>
            <a:off x="5632704" y="2953512"/>
            <a:ext cx="438912" cy="228600"/>
          </a:xfrm>
          <a:prstGeom prst="rect">
            <a:avLst/>
          </a:prstGeom>
          <a:noFill/>
          <a:ln/>
        </p:spPr>
        <p:txBody>
          <a:bodyPr wrap="square" lIns="0" tIns="0" rIns="0" bIns="0" rtlCol="0" anchor="ctr"/>
          <a:lstStyle/>
          <a:p>
            <a:pPr algn="ctr" indent="0" marL="0">
              <a:buNone/>
            </a:pPr>
            <a:r>
              <a:rPr lang="en-US" sz="1200" b="1" dirty="0">
                <a:solidFill>
                  <a:srgbClr val="12263A"/>
                </a:solidFill>
              </a:rPr>
              <a:t>8</a:t>
            </a:r>
            <a:endParaRPr lang="en-US" sz="1200" dirty="0"/>
          </a:p>
        </p:txBody>
      </p:sp>
      <p:sp>
        <p:nvSpPr>
          <p:cNvPr id="16" name="Shape 14"/>
          <p:cNvSpPr/>
          <p:nvPr/>
        </p:nvSpPr>
        <p:spPr>
          <a:xfrm>
            <a:off x="7006590" y="2697480"/>
            <a:ext cx="182880" cy="182880"/>
          </a:xfrm>
          <a:prstGeom prst="ellipse">
            <a:avLst/>
          </a:prstGeom>
          <a:solidFill>
            <a:srgbClr val="1F8A8A"/>
          </a:solidFill>
          <a:ln w="12700">
            <a:solidFill>
              <a:srgbClr val="FFFFFF"/>
            </a:solidFill>
            <a:prstDash val="solid"/>
          </a:ln>
        </p:spPr>
      </p:sp>
      <p:sp>
        <p:nvSpPr>
          <p:cNvPr id="17" name="Text 15"/>
          <p:cNvSpPr/>
          <p:nvPr/>
        </p:nvSpPr>
        <p:spPr>
          <a:xfrm>
            <a:off x="6878574" y="2953512"/>
            <a:ext cx="438912" cy="228600"/>
          </a:xfrm>
          <a:prstGeom prst="rect">
            <a:avLst/>
          </a:prstGeom>
          <a:noFill/>
          <a:ln/>
        </p:spPr>
        <p:txBody>
          <a:bodyPr wrap="square" lIns="0" tIns="0" rIns="0" bIns="0" rtlCol="0" anchor="ctr"/>
          <a:lstStyle/>
          <a:p>
            <a:pPr algn="ctr" indent="0" marL="0">
              <a:buNone/>
            </a:pPr>
            <a:r>
              <a:rPr lang="en-US" sz="1200" b="1" dirty="0">
                <a:solidFill>
                  <a:srgbClr val="12263A"/>
                </a:solidFill>
              </a:rPr>
              <a:t>12</a:t>
            </a:r>
            <a:endParaRPr lang="en-US" sz="1200" dirty="0"/>
          </a:p>
        </p:txBody>
      </p:sp>
      <p:sp>
        <p:nvSpPr>
          <p:cNvPr id="18" name="Shape 16"/>
          <p:cNvSpPr/>
          <p:nvPr/>
        </p:nvSpPr>
        <p:spPr>
          <a:xfrm>
            <a:off x="8252460" y="2697480"/>
            <a:ext cx="182880" cy="182880"/>
          </a:xfrm>
          <a:prstGeom prst="ellipse">
            <a:avLst/>
          </a:prstGeom>
          <a:solidFill>
            <a:srgbClr val="4E79A7"/>
          </a:solidFill>
          <a:ln w="12700">
            <a:solidFill>
              <a:srgbClr val="FFFFFF"/>
            </a:solidFill>
            <a:prstDash val="solid"/>
          </a:ln>
        </p:spPr>
      </p:sp>
      <p:sp>
        <p:nvSpPr>
          <p:cNvPr id="19" name="Text 17"/>
          <p:cNvSpPr/>
          <p:nvPr/>
        </p:nvSpPr>
        <p:spPr>
          <a:xfrm>
            <a:off x="8124444" y="2953512"/>
            <a:ext cx="438912" cy="228600"/>
          </a:xfrm>
          <a:prstGeom prst="rect">
            <a:avLst/>
          </a:prstGeom>
          <a:noFill/>
          <a:ln/>
        </p:spPr>
        <p:txBody>
          <a:bodyPr wrap="square" lIns="0" tIns="0" rIns="0" bIns="0" rtlCol="0" anchor="ctr"/>
          <a:lstStyle/>
          <a:p>
            <a:pPr algn="ctr" indent="0" marL="0">
              <a:buNone/>
            </a:pPr>
            <a:r>
              <a:rPr lang="en-US" sz="1200" b="1" dirty="0">
                <a:solidFill>
                  <a:srgbClr val="12263A"/>
                </a:solidFill>
              </a:rPr>
              <a:t>18</a:t>
            </a:r>
            <a:endParaRPr lang="en-US" sz="1200" dirty="0"/>
          </a:p>
        </p:txBody>
      </p:sp>
      <p:sp>
        <p:nvSpPr>
          <p:cNvPr id="20" name="Shape 18"/>
          <p:cNvSpPr/>
          <p:nvPr/>
        </p:nvSpPr>
        <p:spPr>
          <a:xfrm>
            <a:off x="9498330" y="2697480"/>
            <a:ext cx="182880" cy="182880"/>
          </a:xfrm>
          <a:prstGeom prst="ellipse">
            <a:avLst/>
          </a:prstGeom>
          <a:solidFill>
            <a:srgbClr val="4E79A7"/>
          </a:solidFill>
          <a:ln w="12700">
            <a:solidFill>
              <a:srgbClr val="FFFFFF"/>
            </a:solidFill>
            <a:prstDash val="solid"/>
          </a:ln>
        </p:spPr>
      </p:sp>
      <p:sp>
        <p:nvSpPr>
          <p:cNvPr id="21" name="Text 19"/>
          <p:cNvSpPr/>
          <p:nvPr/>
        </p:nvSpPr>
        <p:spPr>
          <a:xfrm>
            <a:off x="9370314" y="2953512"/>
            <a:ext cx="438912" cy="228600"/>
          </a:xfrm>
          <a:prstGeom prst="rect">
            <a:avLst/>
          </a:prstGeom>
          <a:noFill/>
          <a:ln/>
        </p:spPr>
        <p:txBody>
          <a:bodyPr wrap="square" lIns="0" tIns="0" rIns="0" bIns="0" rtlCol="0" anchor="ctr"/>
          <a:lstStyle/>
          <a:p>
            <a:pPr algn="ctr" indent="0" marL="0">
              <a:buNone/>
            </a:pPr>
            <a:r>
              <a:rPr lang="en-US" sz="1200" b="1" dirty="0">
                <a:solidFill>
                  <a:srgbClr val="12263A"/>
                </a:solidFill>
              </a:rPr>
              <a:t>24</a:t>
            </a:r>
            <a:endParaRPr lang="en-US" sz="1200" dirty="0"/>
          </a:p>
        </p:txBody>
      </p:sp>
      <p:sp>
        <p:nvSpPr>
          <p:cNvPr id="22" name="Shape 20"/>
          <p:cNvSpPr/>
          <p:nvPr/>
        </p:nvSpPr>
        <p:spPr>
          <a:xfrm>
            <a:off x="10744200" y="2697480"/>
            <a:ext cx="182880" cy="182880"/>
          </a:xfrm>
          <a:prstGeom prst="ellipse">
            <a:avLst/>
          </a:prstGeom>
          <a:solidFill>
            <a:srgbClr val="4E79A7"/>
          </a:solidFill>
          <a:ln w="12700">
            <a:solidFill>
              <a:srgbClr val="FFFFFF"/>
            </a:solidFill>
            <a:prstDash val="solid"/>
          </a:ln>
        </p:spPr>
      </p:sp>
      <p:sp>
        <p:nvSpPr>
          <p:cNvPr id="23" name="Text 21"/>
          <p:cNvSpPr/>
          <p:nvPr/>
        </p:nvSpPr>
        <p:spPr>
          <a:xfrm>
            <a:off x="10616184" y="2953512"/>
            <a:ext cx="438912" cy="228600"/>
          </a:xfrm>
          <a:prstGeom prst="rect">
            <a:avLst/>
          </a:prstGeom>
          <a:noFill/>
          <a:ln/>
        </p:spPr>
        <p:txBody>
          <a:bodyPr wrap="square" lIns="0" tIns="0" rIns="0" bIns="0" rtlCol="0" anchor="ctr"/>
          <a:lstStyle/>
          <a:p>
            <a:pPr algn="ctr" indent="0" marL="0">
              <a:buNone/>
            </a:pPr>
            <a:r>
              <a:rPr lang="en-US" sz="1200" b="1" dirty="0">
                <a:solidFill>
                  <a:srgbClr val="12263A"/>
                </a:solidFill>
              </a:rPr>
              <a:t>48</a:t>
            </a:r>
            <a:endParaRPr lang="en-US" sz="1200" dirty="0"/>
          </a:p>
        </p:txBody>
      </p:sp>
      <p:sp>
        <p:nvSpPr>
          <p:cNvPr id="24" name="Text 22"/>
          <p:cNvSpPr/>
          <p:nvPr/>
        </p:nvSpPr>
        <p:spPr>
          <a:xfrm>
            <a:off x="4709160" y="3236976"/>
            <a:ext cx="2468880" cy="256032"/>
          </a:xfrm>
          <a:prstGeom prst="rect">
            <a:avLst/>
          </a:prstGeom>
          <a:noFill/>
          <a:ln/>
        </p:spPr>
        <p:txBody>
          <a:bodyPr wrap="square" lIns="0" tIns="0" rIns="0" bIns="0" rtlCol="0" anchor="ctr"/>
          <a:lstStyle/>
          <a:p>
            <a:pPr algn="ctr" indent="0" marL="0">
              <a:buNone/>
            </a:pPr>
            <a:r>
              <a:rPr lang="en-US" sz="1150" dirty="0">
                <a:solidFill>
                  <a:srgbClr val="667085"/>
                </a:solidFill>
              </a:rPr>
              <a:t>hours post-infection</a:t>
            </a:r>
            <a:endParaRPr lang="en-US" sz="1150" dirty="0"/>
          </a:p>
        </p:txBody>
      </p:sp>
      <p:sp>
        <p:nvSpPr>
          <p:cNvPr id="25" name="Text 23"/>
          <p:cNvSpPr/>
          <p:nvPr/>
        </p:nvSpPr>
        <p:spPr>
          <a:xfrm>
            <a:off x="777240" y="3977640"/>
            <a:ext cx="2286000" cy="1078992"/>
          </a:xfrm>
          <a:prstGeom prst="rect">
            <a:avLst/>
          </a:prstGeom>
          <a:solidFill>
            <a:srgbClr val="FFFFFF"/>
          </a:solidFill>
          <a:ln w="12700">
            <a:solidFill>
              <a:srgbClr val="E8EEF3"/>
            </a:solidFill>
          </a:ln>
          <a:effectLst>
            <a:outerShdw sx="100000" sy="100000" kx="0" ky="0" algn="bl" rotWithShape="0" blurRad="19050" dist="50800" dir="2700000">
              <a:srgbClr val="000000">
                <a:alpha val="13000"/>
              </a:srgbClr>
            </a:outerShdw>
          </a:effectLst>
        </p:spPr>
        <p:txBody>
          <a:bodyPr wrap="square" lIns="2032" tIns="2032" rIns="2032" bIns="2032" rtlCol="0" anchor="ctr"/>
          <a:lstStyle/>
          <a:p>
            <a:pPr algn="ctr" indent="0" marL="0">
              <a:buNone/>
            </a:pPr>
            <a:r>
              <a:rPr lang="en-US" sz="2500" b="1" dirty="0">
                <a:solidFill>
                  <a:srgbClr val="1F8A8A"/>
                </a:solidFill>
              </a:rPr>
              <a:t>9
</a:t>
            </a:r>
            <a:pPr algn="ctr" indent="0" marL="0">
              <a:buNone/>
            </a:pPr>
            <a:r>
              <a:rPr lang="en-US" sz="1250" dirty="0">
                <a:solidFill>
                  <a:srgbClr val="667085"/>
                </a:solidFill>
              </a:rPr>
              <a:t>time points</a:t>
            </a:r>
            <a:endParaRPr lang="en-US" sz="2500" dirty="0"/>
          </a:p>
        </p:txBody>
      </p:sp>
      <p:sp>
        <p:nvSpPr>
          <p:cNvPr id="26" name="Text 24"/>
          <p:cNvSpPr/>
          <p:nvPr/>
        </p:nvSpPr>
        <p:spPr>
          <a:xfrm>
            <a:off x="3355848" y="3977640"/>
            <a:ext cx="2286000" cy="1078992"/>
          </a:xfrm>
          <a:prstGeom prst="rect">
            <a:avLst/>
          </a:prstGeom>
          <a:solidFill>
            <a:srgbClr val="FFFFFF"/>
          </a:solidFill>
          <a:ln w="12700">
            <a:solidFill>
              <a:srgbClr val="E8EEF3"/>
            </a:solidFill>
          </a:ln>
          <a:effectLst>
            <a:outerShdw sx="100000" sy="100000" kx="0" ky="0" algn="bl" rotWithShape="0" blurRad="241935000" dist="645160000" dir="162000000000">
              <a:srgbClr val="000000">
                <a:alpha val="1300000000"/>
              </a:srgbClr>
            </a:outerShdw>
          </a:effectLst>
        </p:spPr>
        <p:txBody>
          <a:bodyPr wrap="square" lIns="2032" tIns="2032" rIns="2032" bIns="2032" rtlCol="0" anchor="ctr"/>
          <a:lstStyle/>
          <a:p>
            <a:pPr algn="ctr" indent="0" marL="0">
              <a:buNone/>
            </a:pPr>
            <a:r>
              <a:rPr lang="en-US" sz="2500" b="1" dirty="0">
                <a:solidFill>
                  <a:srgbClr val="4E79A7"/>
                </a:solidFill>
              </a:rPr>
              <a:t>×3
</a:t>
            </a:r>
            <a:pPr algn="ctr" indent="0" marL="0">
              <a:buNone/>
            </a:pPr>
            <a:r>
              <a:rPr lang="en-US" sz="1250" dirty="0">
                <a:solidFill>
                  <a:srgbClr val="667085"/>
                </a:solidFill>
              </a:rPr>
              <a:t>replicates / time point</a:t>
            </a:r>
            <a:endParaRPr lang="en-US" sz="2500" dirty="0"/>
          </a:p>
        </p:txBody>
      </p:sp>
      <p:sp>
        <p:nvSpPr>
          <p:cNvPr id="27" name="Text 25"/>
          <p:cNvSpPr/>
          <p:nvPr/>
        </p:nvSpPr>
        <p:spPr>
          <a:xfrm>
            <a:off x="5934456" y="3977640"/>
            <a:ext cx="2286000" cy="1078992"/>
          </a:xfrm>
          <a:prstGeom prst="rect">
            <a:avLst/>
          </a:prstGeom>
          <a:solidFill>
            <a:srgbClr val="FFFFFF"/>
          </a:solidFill>
          <a:ln w="12700">
            <a:solidFill>
              <a:srgbClr val="E8EEF3"/>
            </a:solidFill>
          </a:ln>
          <a:effectLst>
            <a:outerShdw sx="100000" sy="100000" kx="0" ky="0" algn="bl" rotWithShape="0" blurRad="3072574500000" dist="8193532000000" dir="9720000000000000">
              <a:srgbClr val="000000">
                <a:alpha val="130000000000000"/>
              </a:srgbClr>
            </a:outerShdw>
          </a:effectLst>
        </p:spPr>
        <p:txBody>
          <a:bodyPr wrap="square" lIns="2032" tIns="2032" rIns="2032" bIns="2032" rtlCol="0" anchor="ctr"/>
          <a:lstStyle/>
          <a:p>
            <a:pPr algn="ctr" indent="0" marL="0">
              <a:buNone/>
            </a:pPr>
            <a:r>
              <a:rPr lang="en-US" sz="2500" b="1" dirty="0">
                <a:solidFill>
                  <a:srgbClr val="F28E2B"/>
                </a:solidFill>
              </a:rPr>
              <a:t>27
</a:t>
            </a:r>
            <a:pPr algn="ctr" indent="0" marL="0">
              <a:buNone/>
            </a:pPr>
            <a:r>
              <a:rPr lang="en-US" sz="1250" dirty="0">
                <a:solidFill>
                  <a:srgbClr val="667085"/>
                </a:solidFill>
              </a:rPr>
              <a:t>dcDNA libraries</a:t>
            </a:r>
            <a:endParaRPr lang="en-US" sz="2500" dirty="0"/>
          </a:p>
        </p:txBody>
      </p:sp>
      <p:sp>
        <p:nvSpPr>
          <p:cNvPr id="28" name="Text 26"/>
          <p:cNvSpPr/>
          <p:nvPr/>
        </p:nvSpPr>
        <p:spPr>
          <a:xfrm>
            <a:off x="8513064" y="3977640"/>
            <a:ext cx="2286000" cy="1078992"/>
          </a:xfrm>
          <a:prstGeom prst="rect">
            <a:avLst/>
          </a:prstGeom>
          <a:solidFill>
            <a:srgbClr val="FFFFFF"/>
          </a:solidFill>
          <a:ln w="12700">
            <a:solidFill>
              <a:srgbClr val="E8EEF3"/>
            </a:solidFill>
          </a:ln>
          <a:effectLst>
            <a:outerShdw sx="100000" sy="100000" kx="0" ky="0" algn="bl" rotWithShape="0" blurRad="39021696150000000" dist="104057856400000000" dir="583200000000000000000">
              <a:srgbClr val="000000">
                <a:alpha val="13000000000000000000"/>
              </a:srgbClr>
            </a:outerShdw>
          </a:effectLst>
        </p:spPr>
        <p:txBody>
          <a:bodyPr wrap="square" lIns="2032" tIns="2032" rIns="2032" bIns="2032" rtlCol="0" anchor="ctr"/>
          <a:lstStyle/>
          <a:p>
            <a:pPr algn="ctr" indent="0" marL="0">
              <a:buNone/>
            </a:pPr>
            <a:r>
              <a:rPr lang="en-US" sz="2500" b="1" dirty="0">
                <a:solidFill>
                  <a:srgbClr val="E15759"/>
                </a:solidFill>
              </a:rPr>
              <a:t>3.33 M
</a:t>
            </a:r>
            <a:pPr algn="ctr" indent="0" marL="0">
              <a:buNone/>
            </a:pPr>
            <a:r>
              <a:rPr lang="en-US" sz="1250" dirty="0">
                <a:solidFill>
                  <a:srgbClr val="667085"/>
                </a:solidFill>
              </a:rPr>
              <a:t>viral long reads</a:t>
            </a:r>
            <a:endParaRPr lang="en-US" sz="2500" dirty="0"/>
          </a:p>
        </p:txBody>
      </p:sp>
      <p:sp>
        <p:nvSpPr>
          <p:cNvPr id="29" name="Text 27"/>
          <p:cNvSpPr/>
          <p:nvPr/>
        </p:nvSpPr>
        <p:spPr>
          <a:xfrm>
            <a:off x="777240" y="5413248"/>
            <a:ext cx="1920240" cy="274320"/>
          </a:xfrm>
          <a:prstGeom prst="rect">
            <a:avLst/>
          </a:prstGeom>
          <a:noFill/>
          <a:ln/>
        </p:spPr>
        <p:txBody>
          <a:bodyPr wrap="square" lIns="0" tIns="0" rIns="0" bIns="0" rtlCol="0" anchor="ctr"/>
          <a:lstStyle/>
          <a:p>
            <a:pPr indent="0" marL="0">
              <a:buNone/>
            </a:pPr>
            <a:r>
              <a:rPr lang="en-US" sz="1200" b="1" dirty="0">
                <a:solidFill>
                  <a:srgbClr val="1F8A8A"/>
                </a:solidFill>
              </a:rPr>
              <a:t>Immediate-early test</a:t>
            </a:r>
            <a:endParaRPr lang="en-US" sz="1200" dirty="0"/>
          </a:p>
        </p:txBody>
      </p:sp>
      <p:sp>
        <p:nvSpPr>
          <p:cNvPr id="30" name="Text 28"/>
          <p:cNvSpPr/>
          <p:nvPr/>
        </p:nvSpPr>
        <p:spPr>
          <a:xfrm>
            <a:off x="2377440" y="5376672"/>
            <a:ext cx="5669280" cy="365760"/>
          </a:xfrm>
          <a:prstGeom prst="rect">
            <a:avLst/>
          </a:prstGeom>
          <a:noFill/>
          <a:ln/>
        </p:spPr>
        <p:txBody>
          <a:bodyPr wrap="square" lIns="0" tIns="0" rIns="0" bIns="0" rtlCol="0" anchor="ctr"/>
          <a:lstStyle/>
          <a:p>
            <a:pPr indent="0" marL="0">
              <a:buNone/>
            </a:pPr>
            <a:r>
              <a:rPr lang="en-US" sz="1450" dirty="0">
                <a:solidFill>
                  <a:srgbClr val="667085"/>
                </a:solidFill>
              </a:rPr>
              <a:t>Cycloheximide: 20 or 100 µg/mL · samples at 6 and 8 hpi</a:t>
            </a:r>
            <a:endParaRPr lang="en-US" sz="1450" dirty="0"/>
          </a:p>
        </p:txBody>
      </p:sp>
      <p:sp>
        <p:nvSpPr>
          <p:cNvPr id="31" name="Text 29"/>
          <p:cNvSpPr/>
          <p:nvPr/>
        </p:nvSpPr>
        <p:spPr>
          <a:xfrm>
            <a:off x="2377440" y="5742432"/>
            <a:ext cx="7680960" cy="365760"/>
          </a:xfrm>
          <a:prstGeom prst="rect">
            <a:avLst/>
          </a:prstGeom>
          <a:noFill/>
          <a:ln/>
        </p:spPr>
        <p:txBody>
          <a:bodyPr wrap="square" lIns="0" tIns="0" rIns="0" bIns="0" rtlCol="0" anchor="ctr"/>
          <a:lstStyle/>
          <a:p>
            <a:pPr indent="0" marL="0">
              <a:buNone/>
            </a:pPr>
            <a:r>
              <a:rPr lang="en-US" sz="1330" dirty="0">
                <a:solidFill>
                  <a:srgbClr val="667085"/>
                </a:solidFill>
              </a:rPr>
              <a:t>Protein synthesis blocked → transcripts that remain strongly expressed can be classified as immediate-early.</a:t>
            </a:r>
            <a:endParaRPr lang="en-US" sz="1330" dirty="0"/>
          </a:p>
        </p:txBody>
      </p:sp>
      <p:sp>
        <p:nvSpPr>
          <p:cNvPr id="32" name="Text 30"/>
          <p:cNvSpPr/>
          <p:nvPr/>
        </p:nvSpPr>
        <p:spPr>
          <a:xfrm>
            <a:off x="640080" y="6236208"/>
            <a:ext cx="10881360" cy="182880"/>
          </a:xfrm>
          <a:prstGeom prst="rect">
            <a:avLst/>
          </a:prstGeom>
          <a:noFill/>
          <a:ln/>
        </p:spPr>
        <p:txBody>
          <a:bodyPr wrap="square" lIns="0" tIns="0" rIns="0" bIns="0" rtlCol="0" anchor="ctr"/>
          <a:lstStyle/>
          <a:p>
            <a:pPr algn="l" indent="0" marL="0">
              <a:buNone/>
            </a:pPr>
            <a:r>
              <a:rPr lang="en-US" sz="850" i="1" dirty="0">
                <a:solidFill>
                  <a:srgbClr val="7B8794"/>
                </a:solidFill>
              </a:rPr>
              <a:t>Published design: 1–48 hpi time course; 3 replicates/time point; CHX treatment at 20 and 100 µg/mL.</a:t>
            </a:r>
            <a:endParaRPr lang="en-US" sz="850" dirty="0"/>
          </a:p>
        </p:txBody>
      </p:sp>
      <p:sp>
        <p:nvSpPr>
          <p:cNvPr id="25" name="Slide Number Placeholder 0"/>
          <p:cNvSpPr>
            <a:spLocks noGrp="1"/>
          </p:cNvSpPr>
          <p:nvPr>
            <p:ph type="sldNum" sz="quarter" idx="4294967295"/>
          </p:nvPr>
        </p:nvSpPr>
        <p:spPr>
          <a:xfrm>
            <a:off x="11722608" y="6501384"/>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A97A6"/>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47472"/>
            <a:ext cx="4114800" cy="228600"/>
          </a:xfrm>
          <a:prstGeom prst="rect">
            <a:avLst/>
          </a:prstGeom>
          <a:noFill/>
          <a:ln/>
        </p:spPr>
        <p:txBody>
          <a:bodyPr wrap="square" lIns="0" tIns="0" rIns="0" bIns="0" rtlCol="0" anchor="ctr"/>
          <a:lstStyle/>
          <a:p>
            <a:pPr indent="0" marL="0">
              <a:buNone/>
            </a:pPr>
            <a:r>
              <a:rPr lang="en-US" sz="1050" b="1" spc="160" kern="0" dirty="0">
                <a:solidFill>
                  <a:srgbClr val="1F8A8A"/>
                </a:solidFill>
              </a:rPr>
              <a:t>INTEGRATED WORKFLOW</a:t>
            </a:r>
            <a:endParaRPr lang="en-US" sz="1050" dirty="0"/>
          </a:p>
        </p:txBody>
      </p:sp>
      <p:sp>
        <p:nvSpPr>
          <p:cNvPr id="3" name="Text 1"/>
          <p:cNvSpPr/>
          <p:nvPr/>
        </p:nvSpPr>
        <p:spPr>
          <a:xfrm>
            <a:off x="594360" y="603504"/>
            <a:ext cx="10972800" cy="493776"/>
          </a:xfrm>
          <a:prstGeom prst="rect">
            <a:avLst/>
          </a:prstGeom>
          <a:noFill/>
          <a:ln/>
        </p:spPr>
        <p:txBody>
          <a:bodyPr wrap="square" lIns="0" tIns="0" rIns="0" bIns="0" rtlCol="0" anchor="ctr"/>
          <a:lstStyle/>
          <a:p>
            <a:pPr indent="0" marL="0">
              <a:buNone/>
            </a:pPr>
            <a:r>
              <a:rPr lang="en-US" sz="2800" b="1" dirty="0">
                <a:solidFill>
                  <a:srgbClr val="12263A"/>
                </a:solidFill>
              </a:rPr>
              <a:t>From nanopore reads to validated viral transcripts</a:t>
            </a:r>
            <a:endParaRPr lang="en-US" sz="2800" dirty="0"/>
          </a:p>
        </p:txBody>
      </p:sp>
      <p:sp>
        <p:nvSpPr>
          <p:cNvPr id="4" name="Text 2"/>
          <p:cNvSpPr/>
          <p:nvPr/>
        </p:nvSpPr>
        <p:spPr>
          <a:xfrm>
            <a:off x="658368" y="1600200"/>
            <a:ext cx="1773936" cy="475488"/>
          </a:xfrm>
          <a:prstGeom prst="rect">
            <a:avLst/>
          </a:prstGeom>
          <a:solidFill>
            <a:srgbClr val="E8F6F5"/>
          </a:solidFill>
          <a:ln w="17780">
            <a:solidFill>
              <a:srgbClr val="1F8A8A"/>
            </a:solidFill>
          </a:ln>
        </p:spPr>
        <p:txBody>
          <a:bodyPr wrap="square" lIns="762" tIns="762" rIns="762" bIns="762" rtlCol="0" anchor="ctr"/>
          <a:lstStyle/>
          <a:p>
            <a:pPr algn="ctr" indent="0" marL="0">
              <a:buNone/>
            </a:pPr>
            <a:r>
              <a:rPr lang="en-US" sz="1550" b="1" dirty="0">
                <a:solidFill>
                  <a:srgbClr val="12263A"/>
                </a:solidFill>
              </a:rPr>
              <a:t>ONT dcDNA</a:t>
            </a:r>
            <a:endParaRPr lang="en-US" sz="1550" dirty="0"/>
          </a:p>
        </p:txBody>
      </p:sp>
      <p:sp>
        <p:nvSpPr>
          <p:cNvPr id="5" name="Text 3"/>
          <p:cNvSpPr/>
          <p:nvPr/>
        </p:nvSpPr>
        <p:spPr>
          <a:xfrm>
            <a:off x="658368" y="2167128"/>
            <a:ext cx="1773936" cy="566928"/>
          </a:xfrm>
          <a:prstGeom prst="rect">
            <a:avLst/>
          </a:prstGeom>
          <a:noFill/>
          <a:ln/>
        </p:spPr>
        <p:txBody>
          <a:bodyPr wrap="square" lIns="508" tIns="508" rIns="508" bIns="508" rtlCol="0" anchor="t"/>
          <a:lstStyle/>
          <a:p>
            <a:pPr algn="ctr" indent="0" marL="0">
              <a:buNone/>
            </a:pPr>
            <a:r>
              <a:rPr lang="en-US" sz="1120" dirty="0">
                <a:solidFill>
                  <a:srgbClr val="667085"/>
                </a:solidFill>
              </a:rPr>
              <a:t>Dorado → minimap2</a:t>
            </a:r>
            <a:endParaRPr lang="en-US" sz="1120" dirty="0"/>
          </a:p>
        </p:txBody>
      </p:sp>
      <p:sp>
        <p:nvSpPr>
          <p:cNvPr id="6" name="Shape 4"/>
          <p:cNvSpPr/>
          <p:nvPr/>
        </p:nvSpPr>
        <p:spPr>
          <a:xfrm>
            <a:off x="2450592" y="1837944"/>
            <a:ext cx="128016" cy="0"/>
          </a:xfrm>
          <a:prstGeom prst="line">
            <a:avLst/>
          </a:prstGeom>
          <a:noFill/>
          <a:ln w="20320">
            <a:solidFill>
              <a:srgbClr val="A7B1BE"/>
            </a:solidFill>
            <a:prstDash val="solid"/>
            <a:tailEnd type="triangle"/>
          </a:ln>
        </p:spPr>
      </p:sp>
      <p:sp>
        <p:nvSpPr>
          <p:cNvPr id="7" name="Text 5"/>
          <p:cNvSpPr/>
          <p:nvPr/>
        </p:nvSpPr>
        <p:spPr>
          <a:xfrm>
            <a:off x="2596896" y="1600200"/>
            <a:ext cx="1773936" cy="475488"/>
          </a:xfrm>
          <a:prstGeom prst="rect">
            <a:avLst/>
          </a:prstGeom>
          <a:solidFill>
            <a:srgbClr val="EAF2F8"/>
          </a:solidFill>
          <a:ln w="17780">
            <a:solidFill>
              <a:srgbClr val="4E79A7"/>
            </a:solidFill>
          </a:ln>
        </p:spPr>
        <p:txBody>
          <a:bodyPr wrap="square" lIns="762" tIns="762" rIns="762" bIns="762" rtlCol="0" anchor="ctr"/>
          <a:lstStyle/>
          <a:p>
            <a:pPr algn="ctr" indent="0" marL="0">
              <a:buNone/>
            </a:pPr>
            <a:r>
              <a:rPr lang="en-US" sz="1550" b="1" dirty="0">
                <a:solidFill>
                  <a:srgbClr val="12263A"/>
                </a:solidFill>
              </a:rPr>
              <a:t>LoRTIA</a:t>
            </a:r>
            <a:endParaRPr lang="en-US" sz="1550" dirty="0"/>
          </a:p>
        </p:txBody>
      </p:sp>
      <p:sp>
        <p:nvSpPr>
          <p:cNvPr id="8" name="Text 6"/>
          <p:cNvSpPr/>
          <p:nvPr/>
        </p:nvSpPr>
        <p:spPr>
          <a:xfrm>
            <a:off x="2596896" y="2167128"/>
            <a:ext cx="1773936" cy="566928"/>
          </a:xfrm>
          <a:prstGeom prst="rect">
            <a:avLst/>
          </a:prstGeom>
          <a:noFill/>
          <a:ln/>
        </p:spPr>
        <p:txBody>
          <a:bodyPr wrap="square" lIns="508" tIns="508" rIns="508" bIns="508" rtlCol="0" anchor="t"/>
          <a:lstStyle/>
          <a:p>
            <a:pPr algn="ctr" indent="0" marL="0">
              <a:buNone/>
            </a:pPr>
            <a:r>
              <a:rPr lang="en-US" sz="1120" dirty="0">
                <a:solidFill>
                  <a:srgbClr val="667085"/>
                </a:solidFill>
              </a:rPr>
              <a:t>adapter-aware transfrags</a:t>
            </a:r>
            <a:endParaRPr lang="en-US" sz="1120" dirty="0"/>
          </a:p>
        </p:txBody>
      </p:sp>
      <p:sp>
        <p:nvSpPr>
          <p:cNvPr id="9" name="Shape 7"/>
          <p:cNvSpPr/>
          <p:nvPr/>
        </p:nvSpPr>
        <p:spPr>
          <a:xfrm>
            <a:off x="4389120" y="1837944"/>
            <a:ext cx="128016" cy="0"/>
          </a:xfrm>
          <a:prstGeom prst="line">
            <a:avLst/>
          </a:prstGeom>
          <a:noFill/>
          <a:ln w="20320">
            <a:solidFill>
              <a:srgbClr val="A7B1BE"/>
            </a:solidFill>
            <a:prstDash val="solid"/>
            <a:tailEnd type="triangle"/>
          </a:ln>
        </p:spPr>
      </p:sp>
      <p:sp>
        <p:nvSpPr>
          <p:cNvPr id="10" name="Text 8"/>
          <p:cNvSpPr/>
          <p:nvPr/>
        </p:nvSpPr>
        <p:spPr>
          <a:xfrm>
            <a:off x="4535424" y="1600200"/>
            <a:ext cx="1773936" cy="475488"/>
          </a:xfrm>
          <a:prstGeom prst="rect">
            <a:avLst/>
          </a:prstGeom>
          <a:solidFill>
            <a:srgbClr val="FFF2E3"/>
          </a:solidFill>
          <a:ln w="17780">
            <a:solidFill>
              <a:srgbClr val="F28E2B"/>
            </a:solidFill>
          </a:ln>
        </p:spPr>
        <p:txBody>
          <a:bodyPr wrap="square" lIns="762" tIns="762" rIns="762" bIns="762" rtlCol="0" anchor="ctr"/>
          <a:lstStyle/>
          <a:p>
            <a:pPr algn="ctr" indent="0" marL="0">
              <a:buNone/>
            </a:pPr>
            <a:r>
              <a:rPr lang="en-US" sz="1550" b="1" dirty="0">
                <a:solidFill>
                  <a:srgbClr val="12263A"/>
                </a:solidFill>
              </a:rPr>
              <a:t>CAGEfightR</a:t>
            </a:r>
            <a:endParaRPr lang="en-US" sz="1550" dirty="0"/>
          </a:p>
        </p:txBody>
      </p:sp>
      <p:sp>
        <p:nvSpPr>
          <p:cNvPr id="11" name="Text 9"/>
          <p:cNvSpPr/>
          <p:nvPr/>
        </p:nvSpPr>
        <p:spPr>
          <a:xfrm>
            <a:off x="4535424" y="2167128"/>
            <a:ext cx="1773936" cy="566928"/>
          </a:xfrm>
          <a:prstGeom prst="rect">
            <a:avLst/>
          </a:prstGeom>
          <a:noFill/>
          <a:ln/>
        </p:spPr>
        <p:txBody>
          <a:bodyPr wrap="square" lIns="508" tIns="508" rIns="508" bIns="508" rtlCol="0" anchor="t"/>
          <a:lstStyle/>
          <a:p>
            <a:pPr algn="ctr" indent="0" marL="0">
              <a:buNone/>
            </a:pPr>
            <a:r>
              <a:rPr lang="en-US" sz="1120" dirty="0">
                <a:solidFill>
                  <a:srgbClr val="667085"/>
                </a:solidFill>
              </a:rPr>
              <a:t>capped TSS clusters</a:t>
            </a:r>
            <a:endParaRPr lang="en-US" sz="1120" dirty="0"/>
          </a:p>
        </p:txBody>
      </p:sp>
      <p:sp>
        <p:nvSpPr>
          <p:cNvPr id="12" name="Shape 10"/>
          <p:cNvSpPr/>
          <p:nvPr/>
        </p:nvSpPr>
        <p:spPr>
          <a:xfrm>
            <a:off x="6327648" y="1837944"/>
            <a:ext cx="128016" cy="0"/>
          </a:xfrm>
          <a:prstGeom prst="line">
            <a:avLst/>
          </a:prstGeom>
          <a:noFill/>
          <a:ln w="20320">
            <a:solidFill>
              <a:srgbClr val="A7B1BE"/>
            </a:solidFill>
            <a:prstDash val="solid"/>
            <a:tailEnd type="triangle"/>
          </a:ln>
        </p:spPr>
      </p:sp>
      <p:sp>
        <p:nvSpPr>
          <p:cNvPr id="13" name="Text 11"/>
          <p:cNvSpPr/>
          <p:nvPr/>
        </p:nvSpPr>
        <p:spPr>
          <a:xfrm>
            <a:off x="6473952" y="1600200"/>
            <a:ext cx="1773936" cy="475488"/>
          </a:xfrm>
          <a:prstGeom prst="rect">
            <a:avLst/>
          </a:prstGeom>
          <a:solidFill>
            <a:srgbClr val="FCEBEC"/>
          </a:solidFill>
          <a:ln w="17780">
            <a:solidFill>
              <a:srgbClr val="E15759"/>
            </a:solidFill>
          </a:ln>
        </p:spPr>
        <p:txBody>
          <a:bodyPr wrap="square" lIns="762" tIns="762" rIns="762" bIns="762" rtlCol="0" anchor="ctr"/>
          <a:lstStyle/>
          <a:p>
            <a:pPr algn="ctr" indent="0" marL="0">
              <a:buNone/>
            </a:pPr>
            <a:r>
              <a:rPr lang="en-US" sz="1550" b="1" dirty="0">
                <a:solidFill>
                  <a:srgbClr val="12263A"/>
                </a:solidFill>
              </a:rPr>
              <a:t>TSS refinement</a:t>
            </a:r>
            <a:endParaRPr lang="en-US" sz="1550" dirty="0"/>
          </a:p>
        </p:txBody>
      </p:sp>
      <p:sp>
        <p:nvSpPr>
          <p:cNvPr id="14" name="Text 12"/>
          <p:cNvSpPr/>
          <p:nvPr/>
        </p:nvSpPr>
        <p:spPr>
          <a:xfrm>
            <a:off x="6473952" y="2167128"/>
            <a:ext cx="1773936" cy="566928"/>
          </a:xfrm>
          <a:prstGeom prst="rect">
            <a:avLst/>
          </a:prstGeom>
          <a:noFill/>
          <a:ln/>
        </p:spPr>
        <p:txBody>
          <a:bodyPr wrap="square" lIns="508" tIns="508" rIns="508" bIns="508" rtlCol="0" anchor="t"/>
          <a:lstStyle/>
          <a:p>
            <a:pPr algn="ctr" indent="0" marL="0">
              <a:buNone/>
            </a:pPr>
            <a:r>
              <a:rPr lang="en-US" sz="1120" dirty="0">
                <a:solidFill>
                  <a:srgbClr val="667085"/>
                </a:solidFill>
              </a:rPr>
              <a:t>dcDNA 5′ peaks inside CAGE</a:t>
            </a:r>
            <a:endParaRPr lang="en-US" sz="1120" dirty="0"/>
          </a:p>
        </p:txBody>
      </p:sp>
      <p:sp>
        <p:nvSpPr>
          <p:cNvPr id="15" name="Shape 13"/>
          <p:cNvSpPr/>
          <p:nvPr/>
        </p:nvSpPr>
        <p:spPr>
          <a:xfrm>
            <a:off x="8266176" y="1837944"/>
            <a:ext cx="128016" cy="0"/>
          </a:xfrm>
          <a:prstGeom prst="line">
            <a:avLst/>
          </a:prstGeom>
          <a:noFill/>
          <a:ln w="20320">
            <a:solidFill>
              <a:srgbClr val="A7B1BE"/>
            </a:solidFill>
            <a:prstDash val="solid"/>
            <a:tailEnd type="triangle"/>
          </a:ln>
        </p:spPr>
      </p:sp>
      <p:sp>
        <p:nvSpPr>
          <p:cNvPr id="16" name="Text 14"/>
          <p:cNvSpPr/>
          <p:nvPr/>
        </p:nvSpPr>
        <p:spPr>
          <a:xfrm>
            <a:off x="8412480" y="1600200"/>
            <a:ext cx="1773936" cy="475488"/>
          </a:xfrm>
          <a:prstGeom prst="rect">
            <a:avLst/>
          </a:prstGeom>
          <a:solidFill>
            <a:srgbClr val="F4ECF8"/>
          </a:solidFill>
          <a:ln w="17780">
            <a:solidFill>
              <a:srgbClr val="9C6FB6"/>
            </a:solidFill>
          </a:ln>
        </p:spPr>
        <p:txBody>
          <a:bodyPr wrap="square" lIns="762" tIns="762" rIns="762" bIns="762" rtlCol="0" anchor="ctr"/>
          <a:lstStyle/>
          <a:p>
            <a:pPr algn="ctr" indent="0" marL="0">
              <a:buNone/>
            </a:pPr>
            <a:r>
              <a:rPr lang="en-US" sz="1550" b="1" dirty="0">
                <a:solidFill>
                  <a:srgbClr val="12263A"/>
                </a:solidFill>
              </a:rPr>
              <a:t>TSS ↔ TES pairing</a:t>
            </a:r>
            <a:endParaRPr lang="en-US" sz="1550" dirty="0"/>
          </a:p>
        </p:txBody>
      </p:sp>
      <p:sp>
        <p:nvSpPr>
          <p:cNvPr id="17" name="Text 15"/>
          <p:cNvSpPr/>
          <p:nvPr/>
        </p:nvSpPr>
        <p:spPr>
          <a:xfrm>
            <a:off x="8412480" y="2167128"/>
            <a:ext cx="1773936" cy="566928"/>
          </a:xfrm>
          <a:prstGeom prst="rect">
            <a:avLst/>
          </a:prstGeom>
          <a:noFill/>
          <a:ln/>
        </p:spPr>
        <p:txBody>
          <a:bodyPr wrap="square" lIns="508" tIns="508" rIns="508" bIns="508" rtlCol="0" anchor="t"/>
          <a:lstStyle/>
          <a:p>
            <a:pPr algn="ctr" indent="0" marL="0">
              <a:buNone/>
            </a:pPr>
            <a:r>
              <a:rPr lang="en-US" sz="1120" dirty="0">
                <a:solidFill>
                  <a:srgbClr val="667085"/>
                </a:solidFill>
              </a:rPr>
              <a:t>full-length transcript models</a:t>
            </a:r>
            <a:endParaRPr lang="en-US" sz="1120" dirty="0"/>
          </a:p>
        </p:txBody>
      </p:sp>
      <p:sp>
        <p:nvSpPr>
          <p:cNvPr id="18" name="Shape 16"/>
          <p:cNvSpPr/>
          <p:nvPr/>
        </p:nvSpPr>
        <p:spPr>
          <a:xfrm>
            <a:off x="10204704" y="1837944"/>
            <a:ext cx="128016" cy="0"/>
          </a:xfrm>
          <a:prstGeom prst="line">
            <a:avLst/>
          </a:prstGeom>
          <a:noFill/>
          <a:ln w="20320">
            <a:solidFill>
              <a:srgbClr val="A7B1BE"/>
            </a:solidFill>
            <a:prstDash val="solid"/>
            <a:tailEnd type="triangle"/>
          </a:ln>
        </p:spPr>
      </p:sp>
      <p:sp>
        <p:nvSpPr>
          <p:cNvPr id="19" name="Text 17"/>
          <p:cNvSpPr/>
          <p:nvPr/>
        </p:nvSpPr>
        <p:spPr>
          <a:xfrm>
            <a:off x="10351008" y="1600200"/>
            <a:ext cx="1773936" cy="475488"/>
          </a:xfrm>
          <a:prstGeom prst="rect">
            <a:avLst/>
          </a:prstGeom>
          <a:solidFill>
            <a:srgbClr val="EEF7EA"/>
          </a:solidFill>
          <a:ln w="17780">
            <a:solidFill>
              <a:srgbClr val="59A14F"/>
            </a:solidFill>
          </a:ln>
        </p:spPr>
        <p:txBody>
          <a:bodyPr wrap="square" lIns="762" tIns="762" rIns="762" bIns="762" rtlCol="0" anchor="ctr"/>
          <a:lstStyle/>
          <a:p>
            <a:pPr algn="ctr" indent="0" marL="0">
              <a:buNone/>
            </a:pPr>
            <a:r>
              <a:rPr lang="en-US" sz="1550" b="1" dirty="0">
                <a:solidFill>
                  <a:srgbClr val="12263A"/>
                </a:solidFill>
              </a:rPr>
              <a:t>dRNA / NAGATA</a:t>
            </a:r>
            <a:endParaRPr lang="en-US" sz="1550" dirty="0"/>
          </a:p>
        </p:txBody>
      </p:sp>
      <p:sp>
        <p:nvSpPr>
          <p:cNvPr id="20" name="Text 18"/>
          <p:cNvSpPr/>
          <p:nvPr/>
        </p:nvSpPr>
        <p:spPr>
          <a:xfrm>
            <a:off x="10351008" y="2167128"/>
            <a:ext cx="1773936" cy="566928"/>
          </a:xfrm>
          <a:prstGeom prst="rect">
            <a:avLst/>
          </a:prstGeom>
          <a:noFill/>
          <a:ln/>
        </p:spPr>
        <p:txBody>
          <a:bodyPr wrap="square" lIns="508" tIns="508" rIns="508" bIns="508" rtlCol="0" anchor="t"/>
          <a:lstStyle/>
          <a:p>
            <a:pPr algn="ctr" indent="0" marL="0">
              <a:buNone/>
            </a:pPr>
            <a:r>
              <a:rPr lang="en-US" sz="1120" dirty="0">
                <a:solidFill>
                  <a:srgbClr val="667085"/>
                </a:solidFill>
              </a:rPr>
              <a:t>independent validation</a:t>
            </a:r>
            <a:endParaRPr lang="en-US" sz="1120" dirty="0"/>
          </a:p>
        </p:txBody>
      </p:sp>
      <p:sp>
        <p:nvSpPr>
          <p:cNvPr id="21" name="Text 19"/>
          <p:cNvSpPr/>
          <p:nvPr/>
        </p:nvSpPr>
        <p:spPr>
          <a:xfrm>
            <a:off x="731520" y="3127248"/>
            <a:ext cx="1920240" cy="274320"/>
          </a:xfrm>
          <a:prstGeom prst="rect">
            <a:avLst/>
          </a:prstGeom>
          <a:noFill/>
          <a:ln/>
        </p:spPr>
        <p:txBody>
          <a:bodyPr wrap="square" lIns="0" tIns="0" rIns="0" bIns="0" rtlCol="0" anchor="ctr"/>
          <a:lstStyle/>
          <a:p>
            <a:pPr indent="0" marL="0">
              <a:buNone/>
            </a:pPr>
            <a:r>
              <a:rPr lang="en-US" sz="1200" b="1" dirty="0">
                <a:solidFill>
                  <a:srgbClr val="1F8A8A"/>
                </a:solidFill>
              </a:rPr>
              <a:t>Key integration rule</a:t>
            </a:r>
            <a:endParaRPr lang="en-US" sz="1200" dirty="0"/>
          </a:p>
        </p:txBody>
      </p:sp>
      <p:sp>
        <p:nvSpPr>
          <p:cNvPr id="22" name="Text 20"/>
          <p:cNvSpPr/>
          <p:nvPr/>
        </p:nvSpPr>
        <p:spPr>
          <a:xfrm>
            <a:off x="731520" y="3456432"/>
            <a:ext cx="10424160" cy="658368"/>
          </a:xfrm>
          <a:prstGeom prst="rect">
            <a:avLst/>
          </a:prstGeom>
          <a:noFill/>
          <a:ln/>
        </p:spPr>
        <p:txBody>
          <a:bodyPr wrap="square" lIns="254" tIns="254" rIns="254" bIns="254" rtlCol="0" anchor="ctr"/>
          <a:lstStyle/>
          <a:p>
            <a:pPr indent="0" marL="0">
              <a:buNone/>
            </a:pPr>
            <a:r>
              <a:rPr lang="en-US" sz="1950" b="1" dirty="0">
                <a:solidFill>
                  <a:srgbClr val="12263A"/>
                </a:solidFill>
              </a:rPr>
              <a:t>A novel transcript had to connect a refined CAGE-supported TSS to a validated TES on dcDNA reads with correct 5′ adapter evidence.</a:t>
            </a:r>
            <a:endParaRPr lang="en-US" sz="1950" dirty="0"/>
          </a:p>
        </p:txBody>
      </p:sp>
      <p:sp>
        <p:nvSpPr>
          <p:cNvPr id="23" name="Text 21"/>
          <p:cNvSpPr/>
          <p:nvPr/>
        </p:nvSpPr>
        <p:spPr>
          <a:xfrm>
            <a:off x="804672" y="4572000"/>
            <a:ext cx="2414016" cy="804672"/>
          </a:xfrm>
          <a:prstGeom prst="rect">
            <a:avLst/>
          </a:prstGeom>
          <a:solidFill>
            <a:srgbClr val="FFFFFF"/>
          </a:solidFill>
          <a:ln>
            <a:solidFill>
              <a:srgbClr val="E8EEF3"/>
            </a:solidFill>
          </a:ln>
          <a:effectLst>
            <a:outerShdw sx="100000" sy="100000" kx="0" ky="0" algn="bl" rotWithShape="0" blurRad="495575541105000000000" dist="1.32153477628e+21" dir="3.4992e+25">
              <a:srgbClr val="000000">
                <a:alpha val="1.3e+24"/>
              </a:srgbClr>
            </a:outerShdw>
          </a:effectLst>
        </p:spPr>
        <p:txBody>
          <a:bodyPr wrap="square" lIns="1524" tIns="1524" rIns="1524" bIns="1524" rtlCol="0" anchor="ctr"/>
          <a:lstStyle/>
          <a:p>
            <a:pPr algn="ctr" indent="0" marL="0">
              <a:buNone/>
            </a:pPr>
            <a:r>
              <a:rPr lang="en-US" sz="1700" b="1" dirty="0">
                <a:solidFill>
                  <a:srgbClr val="1F8A8A"/>
                </a:solidFill>
              </a:rPr>
              <a:t>≥3 dcDNA reads
</a:t>
            </a:r>
            <a:pPr algn="ctr" indent="0" marL="0">
              <a:buNone/>
            </a:pPr>
            <a:r>
              <a:rPr lang="en-US" sz="1150" dirty="0">
                <a:solidFill>
                  <a:srgbClr val="667085"/>
                </a:solidFill>
              </a:rPr>
              <a:t>same TSS + TES</a:t>
            </a:r>
            <a:endParaRPr lang="en-US" sz="1700" dirty="0"/>
          </a:p>
        </p:txBody>
      </p:sp>
      <p:sp>
        <p:nvSpPr>
          <p:cNvPr id="24" name="Text 22"/>
          <p:cNvSpPr/>
          <p:nvPr/>
        </p:nvSpPr>
        <p:spPr>
          <a:xfrm>
            <a:off x="3566160" y="4572000"/>
            <a:ext cx="2414016" cy="804672"/>
          </a:xfrm>
          <a:prstGeom prst="rect">
            <a:avLst/>
          </a:prstGeom>
          <a:solidFill>
            <a:srgbClr val="FFFFFF"/>
          </a:solidFill>
          <a:ln>
            <a:solidFill>
              <a:srgbClr val="E8EEF3"/>
            </a:solidFill>
          </a:ln>
          <a:effectLst>
            <a:outerShdw sx="100000" sy="100000" kx="0" ky="0" algn="bl" rotWithShape="0" blurRad="6.2938093720335e+24" dist="1.6783491658756e+25" dir="2.09952e+30">
              <a:srgbClr val="000000">
                <a:alpha val="1.3e+29"/>
              </a:srgbClr>
            </a:outerShdw>
          </a:effectLst>
        </p:spPr>
        <p:txBody>
          <a:bodyPr wrap="square" lIns="1524" tIns="1524" rIns="1524" bIns="1524" rtlCol="0" anchor="ctr"/>
          <a:lstStyle/>
          <a:p>
            <a:pPr algn="ctr" indent="0" marL="0">
              <a:buNone/>
            </a:pPr>
            <a:r>
              <a:rPr lang="en-US" sz="1700" b="1" dirty="0">
                <a:solidFill>
                  <a:srgbClr val="1F8A8A"/>
                </a:solidFill>
              </a:rPr>
              <a:t>correct 5′ adapter
</a:t>
            </a:r>
            <a:pPr algn="ctr" indent="0" marL="0">
              <a:buNone/>
            </a:pPr>
            <a:r>
              <a:rPr lang="en-US" sz="1150" dirty="0">
                <a:solidFill>
                  <a:srgbClr val="667085"/>
                </a:solidFill>
              </a:rPr>
              <a:t>orientation / intact end</a:t>
            </a:r>
            <a:endParaRPr lang="en-US" sz="1700" dirty="0"/>
          </a:p>
        </p:txBody>
      </p:sp>
      <p:sp>
        <p:nvSpPr>
          <p:cNvPr id="25" name="Text 23"/>
          <p:cNvSpPr/>
          <p:nvPr/>
        </p:nvSpPr>
        <p:spPr>
          <a:xfrm>
            <a:off x="6327648" y="4572000"/>
            <a:ext cx="2414016" cy="804672"/>
          </a:xfrm>
          <a:prstGeom prst="rect">
            <a:avLst/>
          </a:prstGeom>
          <a:solidFill>
            <a:srgbClr val="FFFFFF"/>
          </a:solidFill>
          <a:ln>
            <a:solidFill>
              <a:srgbClr val="E8EEF3"/>
            </a:solidFill>
          </a:ln>
          <a:effectLst>
            <a:outerShdw sx="100000" sy="100000" kx="0" ky="0" algn="bl" rotWithShape="0" blurRad="7.993137902482545e+28" dist="2.1315034406620118e+29" dir="1.259712e+35">
              <a:srgbClr val="000000">
                <a:alpha val="1.3e+34"/>
              </a:srgbClr>
            </a:outerShdw>
          </a:effectLst>
        </p:spPr>
        <p:txBody>
          <a:bodyPr wrap="square" lIns="1524" tIns="1524" rIns="1524" bIns="1524" rtlCol="0" anchor="ctr"/>
          <a:lstStyle/>
          <a:p>
            <a:pPr algn="ctr" indent="0" marL="0">
              <a:buNone/>
            </a:pPr>
            <a:r>
              <a:rPr lang="en-US" sz="1700" b="1" dirty="0">
                <a:solidFill>
                  <a:srgbClr val="1F8A8A"/>
                </a:solidFill>
              </a:rPr>
              <a:t>CAGE-supported TSS
</a:t>
            </a:r>
            <a:pPr algn="ctr" indent="0" marL="0">
              <a:buNone/>
            </a:pPr>
            <a:r>
              <a:rPr lang="en-US" sz="1150" dirty="0">
                <a:solidFill>
                  <a:srgbClr val="667085"/>
                </a:solidFill>
              </a:rPr>
              <a:t>high-resolution 5′ evidence</a:t>
            </a:r>
            <a:endParaRPr lang="en-US" sz="1700" dirty="0"/>
          </a:p>
        </p:txBody>
      </p:sp>
      <p:sp>
        <p:nvSpPr>
          <p:cNvPr id="26" name="Text 24"/>
          <p:cNvSpPr/>
          <p:nvPr/>
        </p:nvSpPr>
        <p:spPr>
          <a:xfrm>
            <a:off x="9089136" y="4572000"/>
            <a:ext cx="2414016" cy="804672"/>
          </a:xfrm>
          <a:prstGeom prst="rect">
            <a:avLst/>
          </a:prstGeom>
          <a:solidFill>
            <a:srgbClr val="FFFFFF"/>
          </a:solidFill>
          <a:ln>
            <a:solidFill>
              <a:srgbClr val="E8EEF3"/>
            </a:solidFill>
          </a:ln>
          <a:effectLst>
            <a:outerShdw sx="100000" sy="100000" kx="0" ky="0" algn="bl" rotWithShape="0" blurRad="1.0151285136152831e+33" dist="2.707009369640755e+33" dir="7.558272e+39">
              <a:srgbClr val="000000">
                <a:alpha val="1.3e+39"/>
              </a:srgbClr>
            </a:outerShdw>
          </a:effectLst>
        </p:spPr>
        <p:txBody>
          <a:bodyPr wrap="square" lIns="1524" tIns="1524" rIns="1524" bIns="1524" rtlCol="0" anchor="ctr"/>
          <a:lstStyle/>
          <a:p>
            <a:pPr algn="ctr" indent="0" marL="0">
              <a:buNone/>
            </a:pPr>
            <a:r>
              <a:rPr lang="en-US" sz="1700" b="1" dirty="0">
                <a:solidFill>
                  <a:srgbClr val="1F8A8A"/>
                </a:solidFill>
              </a:rPr>
              <a:t>validated TES
</a:t>
            </a:r>
            <a:pPr algn="ctr" indent="0" marL="0">
              <a:buNone/>
            </a:pPr>
            <a:r>
              <a:rPr lang="en-US" sz="1150" dirty="0">
                <a:solidFill>
                  <a:srgbClr val="667085"/>
                </a:solidFill>
              </a:rPr>
              <a:t>±10 nt matching</a:t>
            </a:r>
            <a:endParaRPr lang="en-US" sz="1700" dirty="0"/>
          </a:p>
        </p:txBody>
      </p:sp>
      <p:sp>
        <p:nvSpPr>
          <p:cNvPr id="27" name="Text 25"/>
          <p:cNvSpPr/>
          <p:nvPr/>
        </p:nvSpPr>
        <p:spPr>
          <a:xfrm>
            <a:off x="822960" y="5650992"/>
            <a:ext cx="10515600" cy="384048"/>
          </a:xfrm>
          <a:prstGeom prst="rect">
            <a:avLst/>
          </a:prstGeom>
          <a:noFill/>
          <a:ln/>
        </p:spPr>
        <p:txBody>
          <a:bodyPr wrap="square" lIns="0" tIns="0" rIns="0" bIns="0" rtlCol="0" anchor="ctr"/>
          <a:lstStyle/>
          <a:p>
            <a:pPr algn="ctr" indent="0" marL="0">
              <a:buNone/>
            </a:pPr>
            <a:r>
              <a:rPr lang="en-US" sz="1280" dirty="0">
                <a:solidFill>
                  <a:srgbClr val="667085"/>
                </a:solidFill>
              </a:rPr>
              <a:t>For 5′-truncated ORF-carrying isoforms, additional dRNA support and ≥5% CAGE signal relative to the canonical TSS were required.</a:t>
            </a:r>
            <a:endParaRPr lang="en-US" sz="1280" dirty="0"/>
          </a:p>
        </p:txBody>
      </p:sp>
      <p:sp>
        <p:nvSpPr>
          <p:cNvPr id="28" name="Text 26"/>
          <p:cNvSpPr/>
          <p:nvPr/>
        </p:nvSpPr>
        <p:spPr>
          <a:xfrm>
            <a:off x="640080" y="6236208"/>
            <a:ext cx="10881360" cy="182880"/>
          </a:xfrm>
          <a:prstGeom prst="rect">
            <a:avLst/>
          </a:prstGeom>
          <a:noFill/>
          <a:ln/>
        </p:spPr>
        <p:txBody>
          <a:bodyPr wrap="square" lIns="0" tIns="0" rIns="0" bIns="0" rtlCol="0" anchor="ctr"/>
          <a:lstStyle/>
          <a:p>
            <a:pPr algn="l" indent="0" marL="0">
              <a:buNone/>
            </a:pPr>
            <a:r>
              <a:rPr lang="en-US" sz="850" i="1" dirty="0">
                <a:solidFill>
                  <a:srgbClr val="7B8794"/>
                </a:solidFill>
              </a:rPr>
              <a:t>Final revised workflow: LoRTIA + CAGEfightR + custom TSS refinement + NAGATA validation.</a:t>
            </a:r>
            <a:endParaRPr lang="en-US" sz="850" dirty="0"/>
          </a:p>
        </p:txBody>
      </p:sp>
      <p:sp>
        <p:nvSpPr>
          <p:cNvPr id="25" name="Slide Number Placeholder 0"/>
          <p:cNvSpPr>
            <a:spLocks noGrp="1"/>
          </p:cNvSpPr>
          <p:nvPr>
            <p:ph type="sldNum" sz="quarter" idx="4294967295"/>
          </p:nvPr>
        </p:nvSpPr>
        <p:spPr>
          <a:xfrm>
            <a:off x="11722608" y="6501384"/>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A97A6"/>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47472"/>
            <a:ext cx="4114800" cy="228600"/>
          </a:xfrm>
          <a:prstGeom prst="rect">
            <a:avLst/>
          </a:prstGeom>
          <a:noFill/>
          <a:ln/>
        </p:spPr>
        <p:txBody>
          <a:bodyPr wrap="square" lIns="0" tIns="0" rIns="0" bIns="0" rtlCol="0" anchor="ctr"/>
          <a:lstStyle/>
          <a:p>
            <a:pPr indent="0" marL="0">
              <a:buNone/>
            </a:pPr>
            <a:r>
              <a:rPr lang="en-US" sz="1050" b="1" spc="160" kern="0" dirty="0">
                <a:solidFill>
                  <a:srgbClr val="1F8A8A"/>
                </a:solidFill>
              </a:rPr>
              <a:t>REANNOTATION</a:t>
            </a:r>
            <a:endParaRPr lang="en-US" sz="1050" dirty="0"/>
          </a:p>
        </p:txBody>
      </p:sp>
      <p:sp>
        <p:nvSpPr>
          <p:cNvPr id="3" name="Text 1"/>
          <p:cNvSpPr/>
          <p:nvPr/>
        </p:nvSpPr>
        <p:spPr>
          <a:xfrm>
            <a:off x="594360" y="603504"/>
            <a:ext cx="10972800" cy="493776"/>
          </a:xfrm>
          <a:prstGeom prst="rect">
            <a:avLst/>
          </a:prstGeom>
          <a:noFill/>
          <a:ln/>
        </p:spPr>
        <p:txBody>
          <a:bodyPr wrap="square" lIns="0" tIns="0" rIns="0" bIns="0" rtlCol="0" anchor="ctr"/>
          <a:lstStyle/>
          <a:p>
            <a:pPr indent="0" marL="0">
              <a:buNone/>
            </a:pPr>
            <a:r>
              <a:rPr lang="en-US" sz="2800" b="1" dirty="0">
                <a:solidFill>
                  <a:srgbClr val="12263A"/>
                </a:solidFill>
              </a:rPr>
              <a:t>Integrated evidence substantially expands the EHV-1 transcriptome</a:t>
            </a:r>
            <a:endParaRPr lang="en-US" sz="2800" dirty="0"/>
          </a:p>
        </p:txBody>
      </p:sp>
      <p:sp>
        <p:nvSpPr>
          <p:cNvPr id="4" name="Text 2"/>
          <p:cNvSpPr/>
          <p:nvPr/>
        </p:nvSpPr>
        <p:spPr>
          <a:xfrm>
            <a:off x="731520" y="1417320"/>
            <a:ext cx="2971800" cy="1170432"/>
          </a:xfrm>
          <a:prstGeom prst="rect">
            <a:avLst/>
          </a:prstGeom>
          <a:solidFill>
            <a:srgbClr val="E8F6F5"/>
          </a:solidFill>
          <a:ln w="12700">
            <a:solidFill>
              <a:srgbClr val="E8EEF3"/>
            </a:solidFill>
          </a:ln>
          <a:effectLst>
            <a:outerShdw sx="100000" sy="100000" kx="0" ky="0" algn="bl" rotWithShape="0" blurRad="1.2892132122914095e+37" dist="3.437901899443759e+37" dir="4.5349632000000006e+44">
              <a:srgbClr val="000000">
                <a:alpha val="1.3e+44"/>
              </a:srgbClr>
            </a:outerShdw>
          </a:effectLst>
        </p:spPr>
        <p:txBody>
          <a:bodyPr wrap="square" lIns="2032" tIns="2032" rIns="2032" bIns="2032" rtlCol="0" anchor="ctr"/>
          <a:lstStyle/>
          <a:p>
            <a:pPr algn="ctr" indent="0" marL="0">
              <a:buNone/>
            </a:pPr>
            <a:r>
              <a:rPr lang="en-US" sz="2500" b="1" dirty="0">
                <a:solidFill>
                  <a:srgbClr val="1F8A8A"/>
                </a:solidFill>
              </a:rPr>
              <a:t>169
</a:t>
            </a:r>
            <a:pPr algn="ctr" indent="0" marL="0">
              <a:buNone/>
            </a:pPr>
            <a:r>
              <a:rPr lang="en-US" sz="1250" dirty="0">
                <a:solidFill>
                  <a:srgbClr val="667085"/>
                </a:solidFill>
              </a:rPr>
              <a:t>novel transcripts</a:t>
            </a:r>
            <a:endParaRPr lang="en-US" sz="2500" dirty="0"/>
          </a:p>
        </p:txBody>
      </p:sp>
      <p:sp>
        <p:nvSpPr>
          <p:cNvPr id="5" name="Text 3"/>
          <p:cNvSpPr/>
          <p:nvPr/>
        </p:nvSpPr>
        <p:spPr>
          <a:xfrm>
            <a:off x="3913632" y="1417320"/>
            <a:ext cx="2971800" cy="1170432"/>
          </a:xfrm>
          <a:prstGeom prst="rect">
            <a:avLst/>
          </a:prstGeom>
          <a:solidFill>
            <a:srgbClr val="EAF2F8"/>
          </a:solidFill>
          <a:ln w="12700">
            <a:solidFill>
              <a:srgbClr val="E8EEF3"/>
            </a:solidFill>
          </a:ln>
          <a:effectLst>
            <a:outerShdw sx="100000" sy="100000" kx="0" ky="0" algn="bl" rotWithShape="0" blurRad="1.6373007796100902e+41" dist="4.366135412293574e+41" dir="2.72097792e+49">
              <a:srgbClr val="000000">
                <a:alpha val="1.3e+49"/>
              </a:srgbClr>
            </a:outerShdw>
          </a:effectLst>
        </p:spPr>
        <p:txBody>
          <a:bodyPr wrap="square" lIns="2032" tIns="2032" rIns="2032" bIns="2032" rtlCol="0" anchor="ctr"/>
          <a:lstStyle/>
          <a:p>
            <a:pPr algn="ctr" indent="0" marL="0">
              <a:buNone/>
            </a:pPr>
            <a:r>
              <a:rPr lang="en-US" sz="2500" b="1" dirty="0">
                <a:solidFill>
                  <a:srgbClr val="4E79A7"/>
                </a:solidFill>
              </a:rPr>
              <a:t>3.33 M
</a:t>
            </a:r>
            <a:pPr algn="ctr" indent="0" marL="0">
              <a:buNone/>
            </a:pPr>
            <a:r>
              <a:rPr lang="en-US" sz="1250" dirty="0">
                <a:solidFill>
                  <a:srgbClr val="667085"/>
                </a:solidFill>
              </a:rPr>
              <a:t>viral dcDNA reads</a:t>
            </a:r>
            <a:endParaRPr lang="en-US" sz="2500" dirty="0"/>
          </a:p>
        </p:txBody>
      </p:sp>
      <p:sp>
        <p:nvSpPr>
          <p:cNvPr id="6" name="Text 4"/>
          <p:cNvSpPr/>
          <p:nvPr/>
        </p:nvSpPr>
        <p:spPr>
          <a:xfrm>
            <a:off x="7095744" y="1417320"/>
            <a:ext cx="3749040" cy="1170432"/>
          </a:xfrm>
          <a:prstGeom prst="rect">
            <a:avLst/>
          </a:prstGeom>
          <a:solidFill>
            <a:srgbClr val="FFF2E3"/>
          </a:solidFill>
          <a:ln w="12700">
            <a:solidFill>
              <a:srgbClr val="E8EEF3"/>
            </a:solidFill>
          </a:ln>
          <a:effectLst>
            <a:outerShdw sx="100000" sy="100000" kx="0" ky="0" algn="bl" rotWithShape="0" blurRad="2.0793719901048145e+45" dist="5.544991973612839e+45" dir="1.6325867520000003e+54">
              <a:srgbClr val="000000">
                <a:alpha val="1.2999999999999999e+54"/>
              </a:srgbClr>
            </a:outerShdw>
          </a:effectLst>
        </p:spPr>
        <p:txBody>
          <a:bodyPr wrap="square" lIns="2032" tIns="2032" rIns="2032" bIns="2032" rtlCol="0" anchor="ctr"/>
          <a:lstStyle/>
          <a:p>
            <a:pPr algn="ctr" indent="0" marL="0">
              <a:buNone/>
            </a:pPr>
            <a:r>
              <a:rPr lang="en-US" sz="2500" b="1" dirty="0">
                <a:solidFill>
                  <a:srgbClr val="F28E2B"/>
                </a:solidFill>
              </a:rPr>
              <a:t>220 / 34 / 36
</a:t>
            </a:r>
            <a:pPr algn="ctr" indent="0" marL="0">
              <a:buNone/>
            </a:pPr>
            <a:r>
              <a:rPr lang="en-US" sz="1250" dirty="0">
                <a:solidFill>
                  <a:srgbClr val="667085"/>
                </a:solidFill>
              </a:rPr>
              <a:t>high / medium / low CAGE support</a:t>
            </a:r>
            <a:endParaRPr lang="en-US" sz="2500" dirty="0"/>
          </a:p>
          <a:p>
            <a:pPr algn="ctr" indent="0" marL="0">
              <a:buNone/>
            </a:pPr>
            <a:r>
              <a:rPr lang="en-US" sz="1250" dirty="0">
                <a:solidFill>
                  <a:srgbClr val="667085"/>
                </a:solidFill>
              </a:rPr>
              <a:t>for previously annotated TSSs</a:t>
            </a:r>
            <a:endParaRPr lang="en-US" sz="2500" dirty="0"/>
          </a:p>
        </p:txBody>
      </p:sp>
      <p:sp>
        <p:nvSpPr>
          <p:cNvPr id="7" name="Text 5"/>
          <p:cNvSpPr/>
          <p:nvPr/>
        </p:nvSpPr>
        <p:spPr>
          <a:xfrm>
            <a:off x="749808" y="2944368"/>
            <a:ext cx="5669280" cy="310896"/>
          </a:xfrm>
          <a:prstGeom prst="rect">
            <a:avLst/>
          </a:prstGeom>
          <a:noFill/>
          <a:ln/>
        </p:spPr>
        <p:txBody>
          <a:bodyPr wrap="square" lIns="0" tIns="0" rIns="0" bIns="0" rtlCol="0" anchor="ctr"/>
          <a:lstStyle/>
          <a:p>
            <a:pPr indent="0" marL="0">
              <a:buNone/>
            </a:pPr>
            <a:r>
              <a:rPr lang="en-US" sz="1550" b="1" dirty="0">
                <a:solidFill>
                  <a:srgbClr val="12263A"/>
                </a:solidFill>
              </a:rPr>
              <a:t>Selected novel transcript categories reported in the paper</a:t>
            </a:r>
            <a:endParaRPr lang="en-US" sz="1550" dirty="0"/>
          </a:p>
        </p:txBody>
      </p:sp>
      <p:sp>
        <p:nvSpPr>
          <p:cNvPr id="8" name="Text 6"/>
          <p:cNvSpPr/>
          <p:nvPr/>
        </p:nvSpPr>
        <p:spPr>
          <a:xfrm>
            <a:off x="777240" y="3429000"/>
            <a:ext cx="2331720" cy="1143000"/>
          </a:xfrm>
          <a:prstGeom prst="rect">
            <a:avLst/>
          </a:prstGeom>
          <a:solidFill>
            <a:srgbClr val="E8F6F5"/>
          </a:solidFill>
          <a:ln>
            <a:solidFill>
              <a:srgbClr val="E8F6F5"/>
            </a:solidFill>
          </a:ln>
        </p:spPr>
        <p:txBody>
          <a:bodyPr wrap="square" lIns="1524" tIns="1524" rIns="1524" bIns="1524" rtlCol="0" anchor="ctr"/>
          <a:lstStyle/>
          <a:p>
            <a:pPr algn="ctr" indent="0" marL="0">
              <a:buNone/>
            </a:pPr>
            <a:r>
              <a:rPr lang="en-US" sz="2600" b="1" dirty="0">
                <a:solidFill>
                  <a:srgbClr val="1F8A8A"/>
                </a:solidFill>
              </a:rPr>
              <a:t>80
</a:t>
            </a:r>
            <a:pPr algn="ctr" indent="0" marL="0">
              <a:buNone/>
            </a:pPr>
            <a:r>
              <a:rPr lang="en-US" sz="1250" dirty="0">
                <a:solidFill>
                  <a:srgbClr val="667085"/>
                </a:solidFill>
              </a:rPr>
              <a:t>monocistronic</a:t>
            </a:r>
            <a:endParaRPr lang="en-US" sz="2600" dirty="0"/>
          </a:p>
          <a:p>
            <a:pPr algn="ctr" indent="0" marL="0">
              <a:buNone/>
            </a:pPr>
            <a:r>
              <a:rPr lang="en-US" sz="1250" dirty="0">
                <a:solidFill>
                  <a:srgbClr val="667085"/>
                </a:solidFill>
              </a:rPr>
              <a:t>UTR isoforms</a:t>
            </a:r>
            <a:endParaRPr lang="en-US" sz="2600" dirty="0"/>
          </a:p>
        </p:txBody>
      </p:sp>
      <p:sp>
        <p:nvSpPr>
          <p:cNvPr id="9" name="Text 7"/>
          <p:cNvSpPr/>
          <p:nvPr/>
        </p:nvSpPr>
        <p:spPr>
          <a:xfrm>
            <a:off x="3447288" y="3429000"/>
            <a:ext cx="2331720" cy="1143000"/>
          </a:xfrm>
          <a:prstGeom prst="rect">
            <a:avLst/>
          </a:prstGeom>
          <a:solidFill>
            <a:srgbClr val="EAF2F8"/>
          </a:solidFill>
          <a:ln>
            <a:solidFill>
              <a:srgbClr val="EAF2F8"/>
            </a:solidFill>
          </a:ln>
        </p:spPr>
        <p:txBody>
          <a:bodyPr wrap="square" lIns="1524" tIns="1524" rIns="1524" bIns="1524" rtlCol="0" anchor="ctr"/>
          <a:lstStyle/>
          <a:p>
            <a:pPr algn="ctr" indent="0" marL="0">
              <a:buNone/>
            </a:pPr>
            <a:r>
              <a:rPr lang="en-US" sz="2600" b="1" dirty="0">
                <a:solidFill>
                  <a:srgbClr val="4E79A7"/>
                </a:solidFill>
              </a:rPr>
              <a:t>18
</a:t>
            </a:r>
            <a:pPr algn="ctr" indent="0" marL="0">
              <a:buNone/>
            </a:pPr>
            <a:r>
              <a:rPr lang="en-US" sz="1250" dirty="0">
                <a:solidFill>
                  <a:srgbClr val="667085"/>
                </a:solidFill>
              </a:rPr>
              <a:t>multicistronic</a:t>
            </a:r>
            <a:endParaRPr lang="en-US" sz="2600" dirty="0"/>
          </a:p>
          <a:p>
            <a:pPr algn="ctr" indent="0" marL="0">
              <a:buNone/>
            </a:pPr>
            <a:r>
              <a:rPr lang="en-US" sz="1250" dirty="0">
                <a:solidFill>
                  <a:srgbClr val="667085"/>
                </a:solidFill>
              </a:rPr>
              <a:t>UTR isoforms</a:t>
            </a:r>
            <a:endParaRPr lang="en-US" sz="2600" dirty="0"/>
          </a:p>
        </p:txBody>
      </p:sp>
      <p:sp>
        <p:nvSpPr>
          <p:cNvPr id="10" name="Text 8"/>
          <p:cNvSpPr/>
          <p:nvPr/>
        </p:nvSpPr>
        <p:spPr>
          <a:xfrm>
            <a:off x="6117336" y="3429000"/>
            <a:ext cx="2331720" cy="1143000"/>
          </a:xfrm>
          <a:prstGeom prst="rect">
            <a:avLst/>
          </a:prstGeom>
          <a:solidFill>
            <a:srgbClr val="F4ECF8"/>
          </a:solidFill>
          <a:ln>
            <a:solidFill>
              <a:srgbClr val="F4ECF8"/>
            </a:solidFill>
          </a:ln>
        </p:spPr>
        <p:txBody>
          <a:bodyPr wrap="square" lIns="1524" tIns="1524" rIns="1524" bIns="1524" rtlCol="0" anchor="ctr"/>
          <a:lstStyle/>
          <a:p>
            <a:pPr algn="ctr" indent="0" marL="0">
              <a:buNone/>
            </a:pPr>
            <a:r>
              <a:rPr lang="en-US" sz="2600" b="1" dirty="0">
                <a:solidFill>
                  <a:srgbClr val="9C6FB6"/>
                </a:solidFill>
              </a:rPr>
              <a:t>26
</a:t>
            </a:r>
            <a:pPr algn="ctr" indent="0" marL="0">
              <a:buNone/>
            </a:pPr>
            <a:r>
              <a:rPr lang="en-US" sz="1250" dirty="0">
                <a:solidFill>
                  <a:srgbClr val="667085"/>
                </a:solidFill>
              </a:rPr>
              <a:t>non-coding</a:t>
            </a:r>
            <a:endParaRPr lang="en-US" sz="2600" dirty="0"/>
          </a:p>
          <a:p>
            <a:pPr algn="ctr" indent="0" marL="0">
              <a:buNone/>
            </a:pPr>
            <a:r>
              <a:rPr lang="en-US" sz="1250" dirty="0">
                <a:solidFill>
                  <a:srgbClr val="667085"/>
                </a:solidFill>
              </a:rPr>
              <a:t>RNAs</a:t>
            </a:r>
            <a:endParaRPr lang="en-US" sz="2600" dirty="0"/>
          </a:p>
        </p:txBody>
      </p:sp>
      <p:sp>
        <p:nvSpPr>
          <p:cNvPr id="11" name="Text 9"/>
          <p:cNvSpPr/>
          <p:nvPr/>
        </p:nvSpPr>
        <p:spPr>
          <a:xfrm>
            <a:off x="8787384" y="3429000"/>
            <a:ext cx="2331720" cy="1143000"/>
          </a:xfrm>
          <a:prstGeom prst="rect">
            <a:avLst/>
          </a:prstGeom>
          <a:solidFill>
            <a:srgbClr val="FCEBEC"/>
          </a:solidFill>
          <a:ln>
            <a:solidFill>
              <a:srgbClr val="FCEBEC"/>
            </a:solidFill>
          </a:ln>
        </p:spPr>
        <p:txBody>
          <a:bodyPr wrap="square" lIns="1524" tIns="1524" rIns="1524" bIns="1524" rtlCol="0" anchor="ctr"/>
          <a:lstStyle/>
          <a:p>
            <a:pPr algn="ctr" indent="0" marL="0">
              <a:buNone/>
            </a:pPr>
            <a:r>
              <a:rPr lang="en-US" sz="2600" b="1" dirty="0">
                <a:solidFill>
                  <a:srgbClr val="E15759"/>
                </a:solidFill>
              </a:rPr>
              <a:t>29
</a:t>
            </a:r>
            <a:pPr algn="ctr" indent="0" marL="0">
              <a:buNone/>
            </a:pPr>
            <a:r>
              <a:rPr lang="en-US" sz="1250" dirty="0">
                <a:solidFill>
                  <a:srgbClr val="667085"/>
                </a:solidFill>
              </a:rPr>
              <a:t>putative embedded</a:t>
            </a:r>
            <a:endParaRPr lang="en-US" sz="2600" dirty="0"/>
          </a:p>
          <a:p>
            <a:pPr algn="ctr" indent="0" marL="0">
              <a:buNone/>
            </a:pPr>
            <a:r>
              <a:rPr lang="en-US" sz="1250" dirty="0">
                <a:solidFill>
                  <a:srgbClr val="667085"/>
                </a:solidFill>
              </a:rPr>
              <a:t>mRNAs</a:t>
            </a:r>
            <a:endParaRPr lang="en-US" sz="2600" dirty="0"/>
          </a:p>
        </p:txBody>
      </p:sp>
      <p:sp>
        <p:nvSpPr>
          <p:cNvPr id="12" name="Text 10"/>
          <p:cNvSpPr/>
          <p:nvPr/>
        </p:nvSpPr>
        <p:spPr>
          <a:xfrm>
            <a:off x="822960" y="4773168"/>
            <a:ext cx="10424160" cy="256032"/>
          </a:xfrm>
          <a:prstGeom prst="rect">
            <a:avLst/>
          </a:prstGeom>
          <a:noFill/>
          <a:ln/>
        </p:spPr>
        <p:txBody>
          <a:bodyPr wrap="square" lIns="0" tIns="0" rIns="0" bIns="0" rtlCol="0" anchor="ctr"/>
          <a:lstStyle/>
          <a:p>
            <a:pPr algn="ctr" indent="0" marL="0">
              <a:buNone/>
            </a:pPr>
            <a:r>
              <a:rPr lang="en-US" sz="1070" i="1" dirty="0">
                <a:solidFill>
                  <a:srgbClr val="7B8794"/>
                </a:solidFill>
              </a:rPr>
              <a:t>These categories are highlighted examples, not an exhaustive partition of all 169 new transcript models.</a:t>
            </a:r>
            <a:endParaRPr lang="en-US" sz="1070" dirty="0"/>
          </a:p>
        </p:txBody>
      </p:sp>
      <p:sp>
        <p:nvSpPr>
          <p:cNvPr id="13" name="Text 11"/>
          <p:cNvSpPr/>
          <p:nvPr/>
        </p:nvSpPr>
        <p:spPr>
          <a:xfrm>
            <a:off x="914400" y="5257800"/>
            <a:ext cx="1828800" cy="228600"/>
          </a:xfrm>
          <a:prstGeom prst="rect">
            <a:avLst/>
          </a:prstGeom>
          <a:noFill/>
          <a:ln/>
        </p:spPr>
        <p:txBody>
          <a:bodyPr wrap="square" lIns="0" tIns="0" rIns="0" bIns="0" rtlCol="0" anchor="ctr"/>
          <a:lstStyle/>
          <a:p>
            <a:pPr indent="0" marL="0">
              <a:buNone/>
            </a:pPr>
            <a:r>
              <a:rPr lang="en-US" sz="1150" b="1" dirty="0">
                <a:solidFill>
                  <a:srgbClr val="667085"/>
                </a:solidFill>
              </a:rPr>
              <a:t>Previous annotation</a:t>
            </a:r>
            <a:endParaRPr lang="en-US" sz="1150" dirty="0"/>
          </a:p>
        </p:txBody>
      </p:sp>
      <p:sp>
        <p:nvSpPr>
          <p:cNvPr id="14" name="Shape 12"/>
          <p:cNvSpPr/>
          <p:nvPr/>
        </p:nvSpPr>
        <p:spPr>
          <a:xfrm>
            <a:off x="947318" y="5669280"/>
            <a:ext cx="2359152" cy="0"/>
          </a:xfrm>
          <a:prstGeom prst="line">
            <a:avLst/>
          </a:prstGeom>
          <a:noFill/>
          <a:ln w="30480">
            <a:solidFill>
              <a:srgbClr val="A7B1BE"/>
            </a:solidFill>
            <a:prstDash val="solid"/>
            <a:headEnd type="none"/>
            <a:tailEnd type="triangle"/>
          </a:ln>
        </p:spPr>
      </p:sp>
      <p:sp>
        <p:nvSpPr>
          <p:cNvPr id="15" name="Text 13"/>
          <p:cNvSpPr/>
          <p:nvPr/>
        </p:nvSpPr>
        <p:spPr>
          <a:xfrm>
            <a:off x="947318" y="5522976"/>
            <a:ext cx="2359152" cy="164592"/>
          </a:xfrm>
          <a:prstGeom prst="rect">
            <a:avLst/>
          </a:prstGeom>
          <a:noFill/>
          <a:ln/>
        </p:spPr>
        <p:txBody>
          <a:bodyPr wrap="square" lIns="0" tIns="0" rIns="0" bIns="0" rtlCol="0" anchor="ctr"/>
          <a:lstStyle/>
          <a:p>
            <a:pPr indent="0" marL="0">
              <a:buNone/>
            </a:pPr>
            <a:r>
              <a:rPr lang="en-US" sz="950" dirty="0">
                <a:solidFill>
                  <a:srgbClr val="A7B1BE"/>
                </a:solidFill>
              </a:rPr>
              <a:t>canonical</a:t>
            </a:r>
            <a:endParaRPr lang="en-US" sz="950" dirty="0"/>
          </a:p>
        </p:txBody>
      </p:sp>
      <p:sp>
        <p:nvSpPr>
          <p:cNvPr id="16" name="Shape 14"/>
          <p:cNvSpPr/>
          <p:nvPr/>
        </p:nvSpPr>
        <p:spPr>
          <a:xfrm>
            <a:off x="4709160" y="5669280"/>
            <a:ext cx="1097280" cy="0"/>
          </a:xfrm>
          <a:prstGeom prst="line">
            <a:avLst/>
          </a:prstGeom>
          <a:noFill/>
          <a:ln w="38100">
            <a:solidFill>
              <a:srgbClr val="1F8A8A"/>
            </a:solidFill>
            <a:prstDash val="solid"/>
            <a:tailEnd type="triangle"/>
          </a:ln>
        </p:spPr>
      </p:sp>
      <p:sp>
        <p:nvSpPr>
          <p:cNvPr id="17" name="Text 15"/>
          <p:cNvSpPr/>
          <p:nvPr/>
        </p:nvSpPr>
        <p:spPr>
          <a:xfrm>
            <a:off x="6126480" y="5257800"/>
            <a:ext cx="1920240" cy="228600"/>
          </a:xfrm>
          <a:prstGeom prst="rect">
            <a:avLst/>
          </a:prstGeom>
          <a:noFill/>
          <a:ln/>
        </p:spPr>
        <p:txBody>
          <a:bodyPr wrap="square" lIns="0" tIns="0" rIns="0" bIns="0" rtlCol="0" anchor="ctr"/>
          <a:lstStyle/>
          <a:p>
            <a:pPr indent="0" marL="0">
              <a:buNone/>
            </a:pPr>
            <a:r>
              <a:rPr lang="en-US" sz="1150" b="1" dirty="0">
                <a:solidFill>
                  <a:srgbClr val="667085"/>
                </a:solidFill>
              </a:rPr>
              <a:t>Refined annotation</a:t>
            </a:r>
            <a:endParaRPr lang="en-US" sz="1150" dirty="0"/>
          </a:p>
        </p:txBody>
      </p:sp>
      <p:sp>
        <p:nvSpPr>
          <p:cNvPr id="18" name="Shape 16"/>
          <p:cNvSpPr/>
          <p:nvPr/>
        </p:nvSpPr>
        <p:spPr>
          <a:xfrm>
            <a:off x="6177686" y="5577840"/>
            <a:ext cx="2568550" cy="0"/>
          </a:xfrm>
          <a:prstGeom prst="line">
            <a:avLst/>
          </a:prstGeom>
          <a:noFill/>
          <a:ln w="30480">
            <a:solidFill>
              <a:srgbClr val="1F8A8A"/>
            </a:solidFill>
            <a:prstDash val="solid"/>
            <a:headEnd type="none"/>
            <a:tailEnd type="triangle"/>
          </a:ln>
        </p:spPr>
      </p:sp>
      <p:sp>
        <p:nvSpPr>
          <p:cNvPr id="19" name="Text 17"/>
          <p:cNvSpPr/>
          <p:nvPr/>
        </p:nvSpPr>
        <p:spPr>
          <a:xfrm>
            <a:off x="6177686" y="5431536"/>
            <a:ext cx="2568550" cy="164592"/>
          </a:xfrm>
          <a:prstGeom prst="rect">
            <a:avLst/>
          </a:prstGeom>
          <a:noFill/>
          <a:ln/>
        </p:spPr>
        <p:txBody>
          <a:bodyPr wrap="square" lIns="0" tIns="0" rIns="0" bIns="0" rtlCol="0" anchor="ctr"/>
          <a:lstStyle/>
          <a:p>
            <a:pPr indent="0" marL="0">
              <a:buNone/>
            </a:pPr>
            <a:r>
              <a:rPr lang="en-US" sz="950" dirty="0">
                <a:solidFill>
                  <a:srgbClr val="1F8A8A"/>
                </a:solidFill>
              </a:rPr>
              <a:t>canonical</a:t>
            </a:r>
            <a:endParaRPr lang="en-US" sz="950" dirty="0"/>
          </a:p>
        </p:txBody>
      </p:sp>
      <p:sp>
        <p:nvSpPr>
          <p:cNvPr id="20" name="Shape 18"/>
          <p:cNvSpPr/>
          <p:nvPr/>
        </p:nvSpPr>
        <p:spPr>
          <a:xfrm>
            <a:off x="6177686" y="5824728"/>
            <a:ext cx="4264762" cy="0"/>
          </a:xfrm>
          <a:prstGeom prst="line">
            <a:avLst/>
          </a:prstGeom>
          <a:noFill/>
          <a:ln w="30480">
            <a:solidFill>
              <a:srgbClr val="4E79A7"/>
            </a:solidFill>
            <a:prstDash val="solid"/>
            <a:headEnd type="none"/>
            <a:tailEnd type="triangle"/>
          </a:ln>
        </p:spPr>
      </p:sp>
      <p:sp>
        <p:nvSpPr>
          <p:cNvPr id="21" name="Text 19"/>
          <p:cNvSpPr/>
          <p:nvPr/>
        </p:nvSpPr>
        <p:spPr>
          <a:xfrm>
            <a:off x="6177686" y="5678424"/>
            <a:ext cx="4264762" cy="164592"/>
          </a:xfrm>
          <a:prstGeom prst="rect">
            <a:avLst/>
          </a:prstGeom>
          <a:noFill/>
          <a:ln/>
        </p:spPr>
        <p:txBody>
          <a:bodyPr wrap="square" lIns="0" tIns="0" rIns="0" bIns="0" rtlCol="0" anchor="ctr"/>
          <a:lstStyle/>
          <a:p>
            <a:pPr indent="0" marL="0">
              <a:buNone/>
            </a:pPr>
            <a:r>
              <a:rPr lang="en-US" sz="950" dirty="0">
                <a:solidFill>
                  <a:srgbClr val="4E79A7"/>
                </a:solidFill>
              </a:rPr>
              <a:t>long / polycistronic</a:t>
            </a:r>
            <a:endParaRPr lang="en-US" sz="950" dirty="0"/>
          </a:p>
        </p:txBody>
      </p:sp>
      <p:sp>
        <p:nvSpPr>
          <p:cNvPr id="22" name="Shape 20"/>
          <p:cNvSpPr/>
          <p:nvPr/>
        </p:nvSpPr>
        <p:spPr>
          <a:xfrm>
            <a:off x="7437730" y="6071616"/>
            <a:ext cx="1308506" cy="0"/>
          </a:xfrm>
          <a:prstGeom prst="line">
            <a:avLst/>
          </a:prstGeom>
          <a:noFill/>
          <a:ln w="30480">
            <a:solidFill>
              <a:srgbClr val="E15759"/>
            </a:solidFill>
            <a:prstDash val="solid"/>
            <a:headEnd type="none"/>
            <a:tailEnd type="triangle"/>
          </a:ln>
        </p:spPr>
      </p:sp>
      <p:sp>
        <p:nvSpPr>
          <p:cNvPr id="23" name="Text 21"/>
          <p:cNvSpPr/>
          <p:nvPr/>
        </p:nvSpPr>
        <p:spPr>
          <a:xfrm>
            <a:off x="7437730" y="5925312"/>
            <a:ext cx="1308506" cy="164592"/>
          </a:xfrm>
          <a:prstGeom prst="rect">
            <a:avLst/>
          </a:prstGeom>
          <a:noFill/>
          <a:ln/>
        </p:spPr>
        <p:txBody>
          <a:bodyPr wrap="square" lIns="0" tIns="0" rIns="0" bIns="0" rtlCol="0" anchor="ctr"/>
          <a:lstStyle/>
          <a:p>
            <a:pPr indent="0" marL="0">
              <a:buNone/>
            </a:pPr>
            <a:r>
              <a:rPr lang="en-US" sz="950" dirty="0">
                <a:solidFill>
                  <a:srgbClr val="E15759"/>
                </a:solidFill>
              </a:rPr>
              <a:t>short / embedded</a:t>
            </a:r>
            <a:endParaRPr lang="en-US" sz="950" dirty="0"/>
          </a:p>
        </p:txBody>
      </p:sp>
      <p:sp>
        <p:nvSpPr>
          <p:cNvPr id="24" name="Text 22"/>
          <p:cNvSpPr/>
          <p:nvPr/>
        </p:nvSpPr>
        <p:spPr>
          <a:xfrm>
            <a:off x="640080" y="6236208"/>
            <a:ext cx="10881360" cy="182880"/>
          </a:xfrm>
          <a:prstGeom prst="rect">
            <a:avLst/>
          </a:prstGeom>
          <a:noFill/>
          <a:ln/>
        </p:spPr>
        <p:txBody>
          <a:bodyPr wrap="square" lIns="0" tIns="0" rIns="0" bIns="0" rtlCol="0" anchor="ctr"/>
          <a:lstStyle/>
          <a:p>
            <a:pPr algn="l" indent="0" marL="0">
              <a:buNone/>
            </a:pPr>
            <a:r>
              <a:rPr lang="en-US" sz="850" i="1" dirty="0">
                <a:solidFill>
                  <a:srgbClr val="7B8794"/>
                </a:solidFill>
              </a:rPr>
              <a:t>Published article: 169 novel transcripts; final published CAGE-support counts 220 high, 34 medium, 36 low.</a:t>
            </a:r>
            <a:endParaRPr lang="en-US" sz="850" dirty="0"/>
          </a:p>
        </p:txBody>
      </p:sp>
      <p:sp>
        <p:nvSpPr>
          <p:cNvPr id="25" name="Slide Number Placeholder 0"/>
          <p:cNvSpPr>
            <a:spLocks noGrp="1"/>
          </p:cNvSpPr>
          <p:nvPr>
            <p:ph type="sldNum" sz="quarter" idx="4294967295"/>
          </p:nvPr>
        </p:nvSpPr>
        <p:spPr>
          <a:xfrm>
            <a:off x="11722608" y="6501384"/>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A97A6"/>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47472"/>
            <a:ext cx="4114800" cy="228600"/>
          </a:xfrm>
          <a:prstGeom prst="rect">
            <a:avLst/>
          </a:prstGeom>
          <a:noFill/>
          <a:ln/>
        </p:spPr>
        <p:txBody>
          <a:bodyPr wrap="square" lIns="0" tIns="0" rIns="0" bIns="0" rtlCol="0" anchor="ctr"/>
          <a:lstStyle/>
          <a:p>
            <a:pPr indent="0" marL="0">
              <a:buNone/>
            </a:pPr>
            <a:r>
              <a:rPr lang="en-US" sz="1050" b="1" spc="160" kern="0" dirty="0">
                <a:solidFill>
                  <a:srgbClr val="1F8A8A"/>
                </a:solidFill>
              </a:rPr>
              <a:t>IMMEDIATE-EARLY PROGRAM</a:t>
            </a:r>
            <a:endParaRPr lang="en-US" sz="1050" dirty="0"/>
          </a:p>
        </p:txBody>
      </p:sp>
      <p:sp>
        <p:nvSpPr>
          <p:cNvPr id="3" name="Text 1"/>
          <p:cNvSpPr/>
          <p:nvPr/>
        </p:nvSpPr>
        <p:spPr>
          <a:xfrm>
            <a:off x="594360" y="603504"/>
            <a:ext cx="10972800" cy="493776"/>
          </a:xfrm>
          <a:prstGeom prst="rect">
            <a:avLst/>
          </a:prstGeom>
          <a:noFill/>
          <a:ln/>
        </p:spPr>
        <p:txBody>
          <a:bodyPr wrap="square" lIns="0" tIns="0" rIns="0" bIns="0" rtlCol="0" anchor="ctr"/>
          <a:lstStyle/>
          <a:p>
            <a:pPr indent="0" marL="0">
              <a:buNone/>
            </a:pPr>
            <a:r>
              <a:rPr lang="en-US" sz="2800" b="1" dirty="0">
                <a:solidFill>
                  <a:srgbClr val="12263A"/>
                </a:solidFill>
              </a:rPr>
              <a:t>Protein-synthesis inhibition isolates a single immediate-early gene</a:t>
            </a:r>
            <a:endParaRPr lang="en-US" sz="2800" dirty="0"/>
          </a:p>
        </p:txBody>
      </p:sp>
      <p:sp>
        <p:nvSpPr>
          <p:cNvPr id="4" name="Text 2"/>
          <p:cNvSpPr/>
          <p:nvPr/>
        </p:nvSpPr>
        <p:spPr>
          <a:xfrm>
            <a:off x="685800" y="1188720"/>
            <a:ext cx="7040880" cy="347472"/>
          </a:xfrm>
          <a:prstGeom prst="rect">
            <a:avLst/>
          </a:prstGeom>
          <a:noFill/>
          <a:ln/>
        </p:spPr>
        <p:txBody>
          <a:bodyPr wrap="square" lIns="0" tIns="0" rIns="0" bIns="0" rtlCol="0" anchor="ctr"/>
          <a:lstStyle/>
          <a:p>
            <a:pPr indent="0" marL="0">
              <a:buNone/>
            </a:pPr>
            <a:r>
              <a:rPr lang="en-US" sz="1820" dirty="0">
                <a:solidFill>
                  <a:srgbClr val="667085"/>
                </a:solidFill>
              </a:rPr>
              <a:t>Cycloheximide blocks production of new viral regulatory proteins.</a:t>
            </a:r>
            <a:endParaRPr lang="en-US" sz="1820" dirty="0"/>
          </a:p>
        </p:txBody>
      </p:sp>
      <p:graphicFrame>
        <p:nvGraphicFramePr>
          <p:cNvPr id="5" name="Chart 0" descr=""/>
          <p:cNvGraphicFramePr/>
          <p:nvPr/>
        </p:nvGraphicFramePr>
        <p:xfrm>
          <a:off x="713232" y="1810512"/>
          <a:ext cx="5486400" cy="33375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720840" y="1874520"/>
            <a:ext cx="2560320" cy="502920"/>
          </a:xfrm>
          <a:prstGeom prst="rect">
            <a:avLst/>
          </a:prstGeom>
          <a:noFill/>
          <a:ln/>
        </p:spPr>
        <p:txBody>
          <a:bodyPr wrap="square" lIns="0" tIns="0" rIns="0" bIns="0" rtlCol="0" anchor="ctr"/>
          <a:lstStyle/>
          <a:p>
            <a:pPr indent="0" marL="0">
              <a:buNone/>
            </a:pPr>
            <a:r>
              <a:rPr lang="en-US" sz="3200" b="1" dirty="0">
                <a:solidFill>
                  <a:srgbClr val="E15759"/>
                </a:solidFill>
              </a:rPr>
              <a:t>ORF64</a:t>
            </a:r>
            <a:endParaRPr lang="en-US" sz="3200" dirty="0"/>
          </a:p>
        </p:txBody>
      </p:sp>
      <p:sp>
        <p:nvSpPr>
          <p:cNvPr id="7" name="Text 4"/>
          <p:cNvSpPr/>
          <p:nvPr/>
        </p:nvSpPr>
        <p:spPr>
          <a:xfrm>
            <a:off x="6720840" y="2441448"/>
            <a:ext cx="4023360" cy="530352"/>
          </a:xfrm>
          <a:prstGeom prst="rect">
            <a:avLst/>
          </a:prstGeom>
          <a:noFill/>
          <a:ln/>
        </p:spPr>
        <p:txBody>
          <a:bodyPr wrap="square" lIns="0" tIns="0" rIns="0" bIns="0" rtlCol="0" anchor="ctr"/>
          <a:lstStyle/>
          <a:p>
            <a:pPr indent="0" marL="0">
              <a:buNone/>
            </a:pPr>
            <a:r>
              <a:rPr lang="en-US" sz="2100" b="1" dirty="0">
                <a:solidFill>
                  <a:srgbClr val="12263A"/>
                </a:solidFill>
              </a:rPr>
              <a:t>is the sole EHV-1 immediate-early gene</a:t>
            </a:r>
            <a:endParaRPr lang="en-US" sz="2100" dirty="0"/>
          </a:p>
        </p:txBody>
      </p:sp>
      <p:sp>
        <p:nvSpPr>
          <p:cNvPr id="8" name="Text 5"/>
          <p:cNvSpPr/>
          <p:nvPr/>
        </p:nvSpPr>
        <p:spPr>
          <a:xfrm>
            <a:off x="6720840" y="3337560"/>
            <a:ext cx="1389888" cy="960120"/>
          </a:xfrm>
          <a:prstGeom prst="rect">
            <a:avLst/>
          </a:prstGeom>
          <a:solidFill>
            <a:srgbClr val="FFFFFF"/>
          </a:solidFill>
          <a:ln>
            <a:solidFill>
              <a:srgbClr val="E8EEF3"/>
            </a:solidFill>
          </a:ln>
          <a:effectLst>
            <a:outerShdw sx="100000" sy="100000" kx="0" ky="0" algn="bl" rotWithShape="0" blurRad="2.640802427433114e+49" dist="7.042139806488305e+49" dir="9.795520512000002e+58">
              <a:srgbClr val="000000">
                <a:alpha val="1.2999999999999998e+59"/>
              </a:srgbClr>
            </a:outerShdw>
          </a:effectLst>
        </p:spPr>
        <p:txBody>
          <a:bodyPr wrap="square" lIns="1270" tIns="1270" rIns="1270" bIns="1270" rtlCol="0" anchor="ctr"/>
          <a:lstStyle/>
          <a:p>
            <a:pPr algn="ctr" indent="0" marL="0">
              <a:buNone/>
            </a:pPr>
            <a:r>
              <a:rPr lang="en-US" sz="2100" b="1" dirty="0">
                <a:solidFill>
                  <a:srgbClr val="E15759"/>
                </a:solidFill>
              </a:rPr>
              <a:t>12.1×
</a:t>
            </a:r>
            <a:pPr algn="ctr" indent="0" marL="0">
              <a:buNone/>
            </a:pPr>
            <a:r>
              <a:rPr lang="en-US" sz="1120" dirty="0">
                <a:solidFill>
                  <a:srgbClr val="667085"/>
                </a:solidFill>
              </a:rPr>
              <a:t>higher than ORF67</a:t>
            </a:r>
            <a:endParaRPr lang="en-US" sz="2100" dirty="0"/>
          </a:p>
        </p:txBody>
      </p:sp>
      <p:sp>
        <p:nvSpPr>
          <p:cNvPr id="9" name="Text 6"/>
          <p:cNvSpPr/>
          <p:nvPr/>
        </p:nvSpPr>
        <p:spPr>
          <a:xfrm>
            <a:off x="8293608" y="3337560"/>
            <a:ext cx="1389888" cy="960120"/>
          </a:xfrm>
          <a:prstGeom prst="rect">
            <a:avLst/>
          </a:prstGeom>
          <a:solidFill>
            <a:srgbClr val="FFFFFF"/>
          </a:solidFill>
          <a:ln>
            <a:solidFill>
              <a:srgbClr val="E8EEF3"/>
            </a:solidFill>
          </a:ln>
          <a:effectLst>
            <a:outerShdw sx="100000" sy="100000" kx="0" ky="0" algn="bl" rotWithShape="0" blurRad="3.353819082840055e+53" dist="8.943517554240149e+53" dir="5.877312307200001e+63">
              <a:srgbClr val="000000">
                <a:alpha val="1.2999999999999998e+64"/>
              </a:srgbClr>
            </a:outerShdw>
          </a:effectLst>
        </p:spPr>
        <p:txBody>
          <a:bodyPr wrap="square" lIns="1270" tIns="1270" rIns="1270" bIns="1270" rtlCol="0" anchor="ctr"/>
          <a:lstStyle/>
          <a:p>
            <a:pPr algn="ctr" indent="0" marL="0">
              <a:buNone/>
            </a:pPr>
            <a:r>
              <a:rPr lang="en-US" sz="2100" b="1" dirty="0">
                <a:solidFill>
                  <a:srgbClr val="1F8A8A"/>
                </a:solidFill>
              </a:rPr>
              <a:t>Z = 2.84
</a:t>
            </a:r>
            <a:pPr algn="ctr" indent="0" marL="0">
              <a:buNone/>
            </a:pPr>
            <a:r>
              <a:rPr lang="en-US" sz="1120" dirty="0">
                <a:solidFill>
                  <a:srgbClr val="667085"/>
                </a:solidFill>
              </a:rPr>
              <a:t>SD above mean</a:t>
            </a:r>
            <a:endParaRPr lang="en-US" sz="2100" dirty="0"/>
          </a:p>
        </p:txBody>
      </p:sp>
      <p:sp>
        <p:nvSpPr>
          <p:cNvPr id="10" name="Text 7"/>
          <p:cNvSpPr/>
          <p:nvPr/>
        </p:nvSpPr>
        <p:spPr>
          <a:xfrm>
            <a:off x="9866376" y="3337560"/>
            <a:ext cx="1389888" cy="960120"/>
          </a:xfrm>
          <a:prstGeom prst="rect">
            <a:avLst/>
          </a:prstGeom>
          <a:solidFill>
            <a:srgbClr val="FFFFFF"/>
          </a:solidFill>
          <a:ln>
            <a:solidFill>
              <a:srgbClr val="E8EEF3"/>
            </a:solidFill>
          </a:ln>
          <a:effectLst>
            <a:outerShdw sx="100000" sy="100000" kx="0" ky="0" algn="bl" rotWithShape="0" blurRad="4.2593502352068695e+57" dist="1.1358267293884988e+58" dir="3.526387384320001e+68">
              <a:srgbClr val="000000">
                <a:alpha val="1.2999999999999999e+69"/>
              </a:srgbClr>
            </a:outerShdw>
          </a:effectLst>
        </p:spPr>
        <p:txBody>
          <a:bodyPr wrap="square" lIns="1270" tIns="1270" rIns="1270" bIns="1270" rtlCol="0" anchor="ctr"/>
          <a:lstStyle/>
          <a:p>
            <a:pPr algn="ctr" indent="0" marL="0">
              <a:buNone/>
            </a:pPr>
            <a:r>
              <a:rPr lang="en-US" sz="2100" b="1" dirty="0">
                <a:solidFill>
                  <a:srgbClr val="1F8A8A"/>
                </a:solidFill>
              </a:rPr>
              <a:t>p &lt; 10⁻⁴⁷
</a:t>
            </a:r>
            <a:pPr algn="ctr" indent="0" marL="0">
              <a:buNone/>
            </a:pPr>
            <a:r>
              <a:rPr lang="en-US" sz="1120" dirty="0">
                <a:solidFill>
                  <a:srgbClr val="667085"/>
                </a:solidFill>
              </a:rPr>
              <a:t>one-sample t-test</a:t>
            </a:r>
            <a:endParaRPr lang="en-US" sz="2100" dirty="0"/>
          </a:p>
        </p:txBody>
      </p:sp>
      <p:sp>
        <p:nvSpPr>
          <p:cNvPr id="11" name="Text 8"/>
          <p:cNvSpPr/>
          <p:nvPr/>
        </p:nvSpPr>
        <p:spPr>
          <a:xfrm>
            <a:off x="6720840" y="4791456"/>
            <a:ext cx="4297680" cy="658368"/>
          </a:xfrm>
          <a:prstGeom prst="rect">
            <a:avLst/>
          </a:prstGeom>
          <a:noFill/>
          <a:ln/>
        </p:spPr>
        <p:txBody>
          <a:bodyPr wrap="square" lIns="0" tIns="0" rIns="0" bIns="0" rtlCol="0" anchor="ctr"/>
          <a:lstStyle/>
          <a:p>
            <a:pPr indent="0" marL="0">
              <a:buNone/>
            </a:pPr>
            <a:r>
              <a:rPr lang="en-US" sz="1850" dirty="0">
                <a:solidFill>
                  <a:srgbClr val="667085"/>
                </a:solidFill>
              </a:rPr>
              <a:t>This anchors the start of the cascade — but the later E/L program is much less discrete.</a:t>
            </a:r>
            <a:endParaRPr lang="en-US" sz="1850" dirty="0"/>
          </a:p>
        </p:txBody>
      </p:sp>
      <p:sp>
        <p:nvSpPr>
          <p:cNvPr id="12" name="Text 9"/>
          <p:cNvSpPr/>
          <p:nvPr/>
        </p:nvSpPr>
        <p:spPr>
          <a:xfrm>
            <a:off x="640080" y="6236208"/>
            <a:ext cx="10881360" cy="182880"/>
          </a:xfrm>
          <a:prstGeom prst="rect">
            <a:avLst/>
          </a:prstGeom>
          <a:noFill/>
          <a:ln/>
        </p:spPr>
        <p:txBody>
          <a:bodyPr wrap="square" lIns="0" tIns="0" rIns="0" bIns="0" rtlCol="0" anchor="ctr"/>
          <a:lstStyle/>
          <a:p>
            <a:pPr algn="l" indent="0" marL="0">
              <a:buNone/>
            </a:pPr>
            <a:r>
              <a:rPr lang="en-US" sz="850" i="1" dirty="0">
                <a:solidFill>
                  <a:srgbClr val="7B8794"/>
                </a:solidFill>
              </a:rPr>
              <a:t>Published CHX analysis: ORF64 is a strong outlier and the only gene with significant immediate-early expression.</a:t>
            </a:r>
            <a:endParaRPr lang="en-US" sz="850" dirty="0"/>
          </a:p>
        </p:txBody>
      </p:sp>
      <p:sp>
        <p:nvSpPr>
          <p:cNvPr id="25" name="Slide Number Placeholder 0"/>
          <p:cNvSpPr>
            <a:spLocks noGrp="1"/>
          </p:cNvSpPr>
          <p:nvPr>
            <p:ph type="sldNum" sz="quarter" idx="4294967295"/>
          </p:nvPr>
        </p:nvSpPr>
        <p:spPr>
          <a:xfrm>
            <a:off x="11722608" y="6501384"/>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A97A6"/>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47472"/>
            <a:ext cx="4114800" cy="228600"/>
          </a:xfrm>
          <a:prstGeom prst="rect">
            <a:avLst/>
          </a:prstGeom>
          <a:noFill/>
          <a:ln/>
        </p:spPr>
        <p:txBody>
          <a:bodyPr wrap="square" lIns="0" tIns="0" rIns="0" bIns="0" rtlCol="0" anchor="ctr"/>
          <a:lstStyle/>
          <a:p>
            <a:pPr indent="0" marL="0">
              <a:buNone/>
            </a:pPr>
            <a:r>
              <a:rPr lang="en-US" sz="1050" b="1" spc="160" kern="0" dirty="0">
                <a:solidFill>
                  <a:srgbClr val="1F8A8A"/>
                </a:solidFill>
              </a:rPr>
              <a:t>TEMPORAL EXPRESSION</a:t>
            </a:r>
            <a:endParaRPr lang="en-US" sz="1050" dirty="0"/>
          </a:p>
        </p:txBody>
      </p:sp>
      <p:sp>
        <p:nvSpPr>
          <p:cNvPr id="3" name="Text 1"/>
          <p:cNvSpPr/>
          <p:nvPr/>
        </p:nvSpPr>
        <p:spPr>
          <a:xfrm>
            <a:off x="594360" y="603504"/>
            <a:ext cx="10972800" cy="493776"/>
          </a:xfrm>
          <a:prstGeom prst="rect">
            <a:avLst/>
          </a:prstGeom>
          <a:noFill/>
          <a:ln/>
        </p:spPr>
        <p:txBody>
          <a:bodyPr wrap="square" lIns="0" tIns="0" rIns="0" bIns="0" rtlCol="0" anchor="ctr"/>
          <a:lstStyle/>
          <a:p>
            <a:pPr indent="0" marL="0">
              <a:buNone/>
            </a:pPr>
            <a:r>
              <a:rPr lang="en-US" sz="2800" b="1" dirty="0">
                <a:solidFill>
                  <a:srgbClr val="12263A"/>
                </a:solidFill>
              </a:rPr>
              <a:t>Canonical full-length transcripts recover the expected early and late waves</a:t>
            </a:r>
            <a:endParaRPr lang="en-US" sz="2800" dirty="0"/>
          </a:p>
        </p:txBody>
      </p:sp>
      <p:sp>
        <p:nvSpPr>
          <p:cNvPr id="4" name="Text 2"/>
          <p:cNvSpPr/>
          <p:nvPr/>
        </p:nvSpPr>
        <p:spPr>
          <a:xfrm>
            <a:off x="667512" y="1170432"/>
            <a:ext cx="8961120" cy="292608"/>
          </a:xfrm>
          <a:prstGeom prst="rect">
            <a:avLst/>
          </a:prstGeom>
          <a:noFill/>
          <a:ln/>
        </p:spPr>
        <p:txBody>
          <a:bodyPr wrap="square" lIns="0" tIns="0" rIns="0" bIns="0" rtlCol="0" anchor="ctr"/>
          <a:lstStyle/>
          <a:p>
            <a:pPr indent="0" marL="0">
              <a:buNone/>
            </a:pPr>
            <a:r>
              <a:rPr lang="en-US" sz="1450" dirty="0">
                <a:solidFill>
                  <a:srgbClr val="667085"/>
                </a:solidFill>
              </a:rPr>
              <a:t>Representative canonical transcripts, normalized to each gene’s own maximum to compare timing</a:t>
            </a:r>
            <a:endParaRPr lang="en-US" sz="1450" dirty="0"/>
          </a:p>
        </p:txBody>
      </p:sp>
      <p:graphicFrame>
        <p:nvGraphicFramePr>
          <p:cNvPr id="5" name="Chart 0" descr=""/>
          <p:cNvGraphicFramePr/>
          <p:nvPr/>
        </p:nvGraphicFramePr>
        <p:xfrm>
          <a:off x="658368" y="1755648"/>
          <a:ext cx="7452360" cy="3968496"/>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549640" y="1874520"/>
            <a:ext cx="2057400" cy="310896"/>
          </a:xfrm>
          <a:prstGeom prst="rect">
            <a:avLst/>
          </a:prstGeom>
          <a:solidFill>
            <a:srgbClr val="FFF2E3"/>
          </a:solidFill>
          <a:ln>
            <a:solidFill>
              <a:srgbClr val="FFF2E3"/>
            </a:solidFill>
          </a:ln>
        </p:spPr>
        <p:txBody>
          <a:bodyPr wrap="square" lIns="508" tIns="508" rIns="508" bIns="508" rtlCol="0" anchor="ctr"/>
          <a:lstStyle/>
          <a:p>
            <a:pPr algn="ctr" indent="0" marL="0">
              <a:buNone/>
            </a:pPr>
            <a:r>
              <a:rPr lang="en-US" sz="1120" b="1" dirty="0">
                <a:solidFill>
                  <a:srgbClr val="F28E2B"/>
                </a:solidFill>
              </a:rPr>
              <a:t>EARLY-DOMINANT</a:t>
            </a:r>
            <a:endParaRPr lang="en-US" sz="1120" dirty="0"/>
          </a:p>
        </p:txBody>
      </p:sp>
      <p:sp>
        <p:nvSpPr>
          <p:cNvPr id="7" name="Text 4"/>
          <p:cNvSpPr/>
          <p:nvPr/>
        </p:nvSpPr>
        <p:spPr>
          <a:xfrm>
            <a:off x="8549640" y="2304288"/>
            <a:ext cx="2560320" cy="731520"/>
          </a:xfrm>
          <a:prstGeom prst="rect">
            <a:avLst/>
          </a:prstGeom>
          <a:noFill/>
          <a:ln/>
        </p:spPr>
        <p:txBody>
          <a:bodyPr wrap="square" lIns="0" tIns="0" rIns="0" bIns="0" rtlCol="0" anchor="ctr"/>
          <a:lstStyle/>
          <a:p>
            <a:pPr indent="0" marL="0">
              <a:buNone/>
            </a:pPr>
            <a:r>
              <a:rPr lang="en-US" sz="1650" b="1" dirty="0">
                <a:solidFill>
                  <a:srgbClr val="12263A"/>
                </a:solidFill>
              </a:rPr>
              <a:t>ORF5 / ORF31</a:t>
            </a:r>
            <a:endParaRPr lang="en-US" sz="1650" dirty="0"/>
          </a:p>
          <a:p>
            <a:pPr indent="0" marL="0">
              <a:buNone/>
            </a:pPr>
            <a:r>
              <a:rPr lang="en-US" sz="1650" b="1" dirty="0">
                <a:solidFill>
                  <a:srgbClr val="12263A"/>
                </a:solidFill>
              </a:rPr>
              <a:t>strong activation by 2–4 hpi</a:t>
            </a:r>
            <a:endParaRPr lang="en-US" sz="1650" dirty="0"/>
          </a:p>
        </p:txBody>
      </p:sp>
      <p:sp>
        <p:nvSpPr>
          <p:cNvPr id="8" name="Text 5"/>
          <p:cNvSpPr/>
          <p:nvPr/>
        </p:nvSpPr>
        <p:spPr>
          <a:xfrm>
            <a:off x="8549640" y="3273552"/>
            <a:ext cx="2057400" cy="310896"/>
          </a:xfrm>
          <a:prstGeom prst="rect">
            <a:avLst/>
          </a:prstGeom>
          <a:solidFill>
            <a:srgbClr val="EEF7EA"/>
          </a:solidFill>
          <a:ln>
            <a:solidFill>
              <a:srgbClr val="EEF7EA"/>
            </a:solidFill>
          </a:ln>
        </p:spPr>
        <p:txBody>
          <a:bodyPr wrap="square" lIns="508" tIns="508" rIns="508" bIns="508" rtlCol="0" anchor="ctr"/>
          <a:lstStyle/>
          <a:p>
            <a:pPr algn="ctr" indent="0" marL="0">
              <a:buNone/>
            </a:pPr>
            <a:r>
              <a:rPr lang="en-US" sz="1120" b="1" dirty="0">
                <a:solidFill>
                  <a:srgbClr val="59A14F"/>
                </a:solidFill>
              </a:rPr>
              <a:t>LATE-DOMINANT</a:t>
            </a:r>
            <a:endParaRPr lang="en-US" sz="1120" dirty="0"/>
          </a:p>
        </p:txBody>
      </p:sp>
      <p:sp>
        <p:nvSpPr>
          <p:cNvPr id="9" name="Text 6"/>
          <p:cNvSpPr/>
          <p:nvPr/>
        </p:nvSpPr>
        <p:spPr>
          <a:xfrm>
            <a:off x="8549640" y="3703320"/>
            <a:ext cx="2560320" cy="731520"/>
          </a:xfrm>
          <a:prstGeom prst="rect">
            <a:avLst/>
          </a:prstGeom>
          <a:noFill/>
          <a:ln/>
        </p:spPr>
        <p:txBody>
          <a:bodyPr wrap="square" lIns="0" tIns="0" rIns="0" bIns="0" rtlCol="0" anchor="ctr"/>
          <a:lstStyle/>
          <a:p>
            <a:pPr indent="0" marL="0">
              <a:buNone/>
            </a:pPr>
            <a:r>
              <a:rPr lang="en-US" sz="1650" b="1" dirty="0">
                <a:solidFill>
                  <a:srgbClr val="12263A"/>
                </a:solidFill>
              </a:rPr>
              <a:t>ORF22 / ORF43</a:t>
            </a:r>
            <a:endParaRPr lang="en-US" sz="1650" dirty="0"/>
          </a:p>
          <a:p>
            <a:pPr indent="0" marL="0">
              <a:buNone/>
            </a:pPr>
            <a:r>
              <a:rPr lang="en-US" sz="1650" b="1" dirty="0">
                <a:solidFill>
                  <a:srgbClr val="12263A"/>
                </a:solidFill>
              </a:rPr>
              <a:t>rise through 8–12 hpi</a:t>
            </a:r>
            <a:endParaRPr lang="en-US" sz="1650" dirty="0"/>
          </a:p>
        </p:txBody>
      </p:sp>
      <p:sp>
        <p:nvSpPr>
          <p:cNvPr id="10" name="Text 7"/>
          <p:cNvSpPr/>
          <p:nvPr/>
        </p:nvSpPr>
        <p:spPr>
          <a:xfrm>
            <a:off x="8549640" y="4892040"/>
            <a:ext cx="2651760" cy="502920"/>
          </a:xfrm>
          <a:prstGeom prst="rect">
            <a:avLst/>
          </a:prstGeom>
          <a:noFill/>
          <a:ln/>
        </p:spPr>
        <p:txBody>
          <a:bodyPr wrap="square" lIns="0" tIns="0" rIns="0" bIns="0" rtlCol="0" anchor="ctr"/>
          <a:lstStyle/>
          <a:p>
            <a:pPr indent="0" marL="0">
              <a:buNone/>
            </a:pPr>
            <a:r>
              <a:rPr lang="en-US" sz="2000" b="1" dirty="0">
                <a:solidFill>
                  <a:srgbClr val="1F8A8A"/>
                </a:solidFill>
              </a:rPr>
              <a:t>The broad IE → E → L logic is real.</a:t>
            </a:r>
            <a:endParaRPr lang="en-US" sz="2000" dirty="0"/>
          </a:p>
        </p:txBody>
      </p:sp>
      <p:sp>
        <p:nvSpPr>
          <p:cNvPr id="11" name="Text 8"/>
          <p:cNvSpPr/>
          <p:nvPr/>
        </p:nvSpPr>
        <p:spPr>
          <a:xfrm>
            <a:off x="8549640" y="5422392"/>
            <a:ext cx="2651760" cy="320040"/>
          </a:xfrm>
          <a:prstGeom prst="rect">
            <a:avLst/>
          </a:prstGeom>
          <a:noFill/>
          <a:ln/>
        </p:spPr>
        <p:txBody>
          <a:bodyPr wrap="square" lIns="0" tIns="0" rIns="0" bIns="0" rtlCol="0" anchor="ctr"/>
          <a:lstStyle/>
          <a:p>
            <a:pPr indent="0" marL="0">
              <a:buNone/>
            </a:pPr>
            <a:r>
              <a:rPr lang="en-US" sz="1550" dirty="0">
                <a:solidFill>
                  <a:srgbClr val="667085"/>
                </a:solidFill>
              </a:rPr>
              <a:t>But it is only the first layer.</a:t>
            </a:r>
            <a:endParaRPr lang="en-US" sz="1550" dirty="0"/>
          </a:p>
        </p:txBody>
      </p:sp>
      <p:sp>
        <p:nvSpPr>
          <p:cNvPr id="12" name="Text 9"/>
          <p:cNvSpPr/>
          <p:nvPr/>
        </p:nvSpPr>
        <p:spPr>
          <a:xfrm>
            <a:off x="640080" y="6236208"/>
            <a:ext cx="10881360" cy="182880"/>
          </a:xfrm>
          <a:prstGeom prst="rect">
            <a:avLst/>
          </a:prstGeom>
          <a:noFill/>
          <a:ln/>
        </p:spPr>
        <p:txBody>
          <a:bodyPr wrap="square" lIns="0" tIns="0" rIns="0" bIns="0" rtlCol="0" anchor="ctr"/>
          <a:lstStyle/>
          <a:p>
            <a:pPr algn="l" indent="0" marL="0">
              <a:buNone/>
            </a:pPr>
            <a:r>
              <a:rPr lang="en-US" sz="850" i="1" dirty="0">
                <a:solidFill>
                  <a:srgbClr val="7B8794"/>
                </a:solidFill>
              </a:rPr>
              <a:t>Representative values redrawn from repository canonical TSS+TES abundance table; timing agrees with published kinetic analysis.</a:t>
            </a:r>
            <a:endParaRPr lang="en-US" sz="850" dirty="0"/>
          </a:p>
        </p:txBody>
      </p:sp>
      <p:sp>
        <p:nvSpPr>
          <p:cNvPr id="25" name="Slide Number Placeholder 0"/>
          <p:cNvSpPr>
            <a:spLocks noGrp="1"/>
          </p:cNvSpPr>
          <p:nvPr>
            <p:ph type="sldNum" sz="quarter" idx="4294967295"/>
          </p:nvPr>
        </p:nvSpPr>
        <p:spPr>
          <a:xfrm>
            <a:off x="11722608" y="6501384"/>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A97A6"/>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347472"/>
            <a:ext cx="4114800" cy="228600"/>
          </a:xfrm>
          <a:prstGeom prst="rect">
            <a:avLst/>
          </a:prstGeom>
          <a:noFill/>
          <a:ln/>
        </p:spPr>
        <p:txBody>
          <a:bodyPr wrap="square" lIns="0" tIns="0" rIns="0" bIns="0" rtlCol="0" anchor="ctr"/>
          <a:lstStyle/>
          <a:p>
            <a:pPr indent="0" marL="0">
              <a:buNone/>
            </a:pPr>
            <a:r>
              <a:rPr lang="en-US" sz="1050" b="1" spc="160" kern="0" dirty="0">
                <a:solidFill>
                  <a:srgbClr val="1F8A8A"/>
                </a:solidFill>
              </a:rPr>
              <a:t>TRANSCRIPT ARCHITECTURE</a:t>
            </a:r>
            <a:endParaRPr lang="en-US" sz="1050" dirty="0"/>
          </a:p>
        </p:txBody>
      </p:sp>
      <p:sp>
        <p:nvSpPr>
          <p:cNvPr id="3" name="Text 1"/>
          <p:cNvSpPr/>
          <p:nvPr/>
        </p:nvSpPr>
        <p:spPr>
          <a:xfrm>
            <a:off x="594360" y="603504"/>
            <a:ext cx="10972800" cy="493776"/>
          </a:xfrm>
          <a:prstGeom prst="rect">
            <a:avLst/>
          </a:prstGeom>
          <a:noFill/>
          <a:ln/>
        </p:spPr>
        <p:txBody>
          <a:bodyPr wrap="square" lIns="0" tIns="0" rIns="0" bIns="0" rtlCol="0" anchor="ctr"/>
          <a:lstStyle/>
          <a:p>
            <a:pPr indent="0" marL="0">
              <a:buNone/>
            </a:pPr>
            <a:r>
              <a:rPr lang="en-US" sz="2800" b="1" dirty="0">
                <a:solidFill>
                  <a:srgbClr val="12263A"/>
                </a:solidFill>
              </a:rPr>
              <a:t>Why TSS-only or TES-only kinetics can be misleading</a:t>
            </a:r>
            <a:endParaRPr lang="en-US" sz="2800" dirty="0"/>
          </a:p>
        </p:txBody>
      </p:sp>
      <p:sp>
        <p:nvSpPr>
          <p:cNvPr id="4" name="Text 2"/>
          <p:cNvSpPr/>
          <p:nvPr/>
        </p:nvSpPr>
        <p:spPr>
          <a:xfrm>
            <a:off x="685800" y="1170432"/>
            <a:ext cx="9966960" cy="384048"/>
          </a:xfrm>
          <a:prstGeom prst="rect">
            <a:avLst/>
          </a:prstGeom>
          <a:noFill/>
          <a:ln/>
        </p:spPr>
        <p:txBody>
          <a:bodyPr wrap="square" lIns="0" tIns="0" rIns="0" bIns="0" rtlCol="0" anchor="ctr"/>
          <a:lstStyle/>
          <a:p>
            <a:pPr indent="0" marL="0">
              <a:buNone/>
            </a:pPr>
            <a:r>
              <a:rPr lang="en-US" sz="1800" dirty="0">
                <a:solidFill>
                  <a:srgbClr val="667085"/>
                </a:solidFill>
              </a:rPr>
              <a:t>In tandem herpesvirus loci, several RNAs can share one end while carrying different upstream structure.</a:t>
            </a:r>
            <a:endParaRPr lang="en-US" sz="1800" dirty="0"/>
          </a:p>
        </p:txBody>
      </p:sp>
      <p:sp>
        <p:nvSpPr>
          <p:cNvPr id="5" name="Shape 3"/>
          <p:cNvSpPr/>
          <p:nvPr/>
        </p:nvSpPr>
        <p:spPr>
          <a:xfrm>
            <a:off x="914400" y="1920240"/>
            <a:ext cx="1234440" cy="329184"/>
          </a:xfrm>
          <a:prstGeom prst="chevron">
            <a:avLst/>
          </a:prstGeom>
          <a:solidFill>
            <a:srgbClr val="4E79A7"/>
          </a:solidFill>
          <a:ln w="12700">
            <a:solidFill>
              <a:srgbClr val="4E79A7"/>
            </a:solidFill>
            <a:prstDash val="solid"/>
          </a:ln>
        </p:spPr>
      </p:sp>
      <p:sp>
        <p:nvSpPr>
          <p:cNvPr id="6" name="Text 4"/>
          <p:cNvSpPr/>
          <p:nvPr/>
        </p:nvSpPr>
        <p:spPr>
          <a:xfrm>
            <a:off x="914400" y="1965960"/>
            <a:ext cx="1234440" cy="182880"/>
          </a:xfrm>
          <a:prstGeom prst="rect">
            <a:avLst/>
          </a:prstGeom>
          <a:noFill/>
          <a:ln/>
        </p:spPr>
        <p:txBody>
          <a:bodyPr wrap="square" lIns="0" tIns="0" rIns="0" bIns="0" rtlCol="0" anchor="ctr"/>
          <a:lstStyle/>
          <a:p>
            <a:pPr algn="ctr" indent="0" marL="0">
              <a:buNone/>
            </a:pPr>
            <a:r>
              <a:rPr lang="en-US" sz="950" b="1" dirty="0">
                <a:solidFill>
                  <a:srgbClr val="FFFFFF"/>
                </a:solidFill>
              </a:rPr>
              <a:t>A</a:t>
            </a:r>
            <a:endParaRPr lang="en-US" sz="950" dirty="0"/>
          </a:p>
        </p:txBody>
      </p:sp>
      <p:sp>
        <p:nvSpPr>
          <p:cNvPr id="7" name="Shape 5"/>
          <p:cNvSpPr/>
          <p:nvPr/>
        </p:nvSpPr>
        <p:spPr>
          <a:xfrm>
            <a:off x="2029968" y="1920240"/>
            <a:ext cx="1234440" cy="329184"/>
          </a:xfrm>
          <a:prstGeom prst="chevron">
            <a:avLst/>
          </a:prstGeom>
          <a:solidFill>
            <a:srgbClr val="1F8A8A"/>
          </a:solidFill>
          <a:ln w="12700">
            <a:solidFill>
              <a:srgbClr val="1F8A8A"/>
            </a:solidFill>
            <a:prstDash val="solid"/>
          </a:ln>
        </p:spPr>
      </p:sp>
      <p:sp>
        <p:nvSpPr>
          <p:cNvPr id="8" name="Text 6"/>
          <p:cNvSpPr/>
          <p:nvPr/>
        </p:nvSpPr>
        <p:spPr>
          <a:xfrm>
            <a:off x="2029968" y="1965960"/>
            <a:ext cx="1234440" cy="182880"/>
          </a:xfrm>
          <a:prstGeom prst="rect">
            <a:avLst/>
          </a:prstGeom>
          <a:noFill/>
          <a:ln/>
        </p:spPr>
        <p:txBody>
          <a:bodyPr wrap="square" lIns="0" tIns="0" rIns="0" bIns="0" rtlCol="0" anchor="ctr"/>
          <a:lstStyle/>
          <a:p>
            <a:pPr algn="ctr" indent="0" marL="0">
              <a:buNone/>
            </a:pPr>
            <a:r>
              <a:rPr lang="en-US" sz="950" b="1" dirty="0">
                <a:solidFill>
                  <a:srgbClr val="FFFFFF"/>
                </a:solidFill>
              </a:rPr>
              <a:t>B</a:t>
            </a:r>
            <a:endParaRPr lang="en-US" sz="950" dirty="0"/>
          </a:p>
        </p:txBody>
      </p:sp>
      <p:sp>
        <p:nvSpPr>
          <p:cNvPr id="9" name="Shape 7"/>
          <p:cNvSpPr/>
          <p:nvPr/>
        </p:nvSpPr>
        <p:spPr>
          <a:xfrm>
            <a:off x="3145536" y="1920240"/>
            <a:ext cx="1234440" cy="329184"/>
          </a:xfrm>
          <a:prstGeom prst="chevron">
            <a:avLst/>
          </a:prstGeom>
          <a:solidFill>
            <a:srgbClr val="F28E2B"/>
          </a:solidFill>
          <a:ln w="12700">
            <a:solidFill>
              <a:srgbClr val="F28E2B"/>
            </a:solidFill>
            <a:prstDash val="solid"/>
          </a:ln>
        </p:spPr>
      </p:sp>
      <p:sp>
        <p:nvSpPr>
          <p:cNvPr id="10" name="Text 8"/>
          <p:cNvSpPr/>
          <p:nvPr/>
        </p:nvSpPr>
        <p:spPr>
          <a:xfrm>
            <a:off x="3145536" y="1965960"/>
            <a:ext cx="1234440" cy="182880"/>
          </a:xfrm>
          <a:prstGeom prst="rect">
            <a:avLst/>
          </a:prstGeom>
          <a:noFill/>
          <a:ln/>
        </p:spPr>
        <p:txBody>
          <a:bodyPr wrap="square" lIns="0" tIns="0" rIns="0" bIns="0" rtlCol="0" anchor="ctr"/>
          <a:lstStyle/>
          <a:p>
            <a:pPr algn="ctr" indent="0" marL="0">
              <a:buNone/>
            </a:pPr>
            <a:r>
              <a:rPr lang="en-US" sz="950" b="1" dirty="0">
                <a:solidFill>
                  <a:srgbClr val="FFFFFF"/>
                </a:solidFill>
              </a:rPr>
              <a:t>C</a:t>
            </a:r>
            <a:endParaRPr lang="en-US" sz="950" dirty="0"/>
          </a:p>
        </p:txBody>
      </p:sp>
      <p:sp>
        <p:nvSpPr>
          <p:cNvPr id="11" name="Shape 9"/>
          <p:cNvSpPr/>
          <p:nvPr/>
        </p:nvSpPr>
        <p:spPr>
          <a:xfrm>
            <a:off x="4261104" y="1920240"/>
            <a:ext cx="1234440" cy="329184"/>
          </a:xfrm>
          <a:prstGeom prst="chevron">
            <a:avLst/>
          </a:prstGeom>
          <a:solidFill>
            <a:srgbClr val="E15759"/>
          </a:solidFill>
          <a:ln w="12700">
            <a:solidFill>
              <a:srgbClr val="E15759"/>
            </a:solidFill>
            <a:prstDash val="solid"/>
          </a:ln>
        </p:spPr>
      </p:sp>
      <p:sp>
        <p:nvSpPr>
          <p:cNvPr id="12" name="Text 10"/>
          <p:cNvSpPr/>
          <p:nvPr/>
        </p:nvSpPr>
        <p:spPr>
          <a:xfrm>
            <a:off x="4261104" y="1965960"/>
            <a:ext cx="1234440" cy="182880"/>
          </a:xfrm>
          <a:prstGeom prst="rect">
            <a:avLst/>
          </a:prstGeom>
          <a:noFill/>
          <a:ln/>
        </p:spPr>
        <p:txBody>
          <a:bodyPr wrap="square" lIns="0" tIns="0" rIns="0" bIns="0" rtlCol="0" anchor="ctr"/>
          <a:lstStyle/>
          <a:p>
            <a:pPr algn="ctr" indent="0" marL="0">
              <a:buNone/>
            </a:pPr>
            <a:r>
              <a:rPr lang="en-US" sz="950" b="1" dirty="0">
                <a:solidFill>
                  <a:srgbClr val="FFFFFF"/>
                </a:solidFill>
              </a:rPr>
              <a:t>D</a:t>
            </a:r>
            <a:endParaRPr lang="en-US" sz="950" dirty="0"/>
          </a:p>
        </p:txBody>
      </p:sp>
      <p:sp>
        <p:nvSpPr>
          <p:cNvPr id="13" name="Text 11"/>
          <p:cNvSpPr/>
          <p:nvPr/>
        </p:nvSpPr>
        <p:spPr>
          <a:xfrm>
            <a:off x="914400" y="2359152"/>
            <a:ext cx="4572000" cy="228600"/>
          </a:xfrm>
          <a:prstGeom prst="rect">
            <a:avLst/>
          </a:prstGeom>
          <a:noFill/>
          <a:ln/>
        </p:spPr>
        <p:txBody>
          <a:bodyPr wrap="square" lIns="0" tIns="0" rIns="0" bIns="0" rtlCol="0" anchor="ctr"/>
          <a:lstStyle/>
          <a:p>
            <a:pPr algn="ctr" indent="0" marL="0">
              <a:buNone/>
            </a:pPr>
            <a:r>
              <a:rPr lang="en-US" sz="1100" dirty="0">
                <a:solidFill>
                  <a:srgbClr val="667085"/>
                </a:solidFill>
              </a:rPr>
              <a:t>co-terminal gene cluster</a:t>
            </a:r>
            <a:endParaRPr lang="en-US" sz="1100" dirty="0"/>
          </a:p>
        </p:txBody>
      </p:sp>
      <p:sp>
        <p:nvSpPr>
          <p:cNvPr id="14" name="Shape 12"/>
          <p:cNvSpPr/>
          <p:nvPr/>
        </p:nvSpPr>
        <p:spPr>
          <a:xfrm>
            <a:off x="967435" y="3035808"/>
            <a:ext cx="4740250" cy="0"/>
          </a:xfrm>
          <a:prstGeom prst="line">
            <a:avLst/>
          </a:prstGeom>
          <a:noFill/>
          <a:ln w="30480">
            <a:solidFill>
              <a:srgbClr val="4E79A7"/>
            </a:solidFill>
            <a:prstDash val="solid"/>
            <a:headEnd type="none"/>
            <a:tailEnd type="triangle"/>
          </a:ln>
        </p:spPr>
      </p:sp>
      <p:sp>
        <p:nvSpPr>
          <p:cNvPr id="15" name="Text 13"/>
          <p:cNvSpPr/>
          <p:nvPr/>
        </p:nvSpPr>
        <p:spPr>
          <a:xfrm>
            <a:off x="967435" y="2889504"/>
            <a:ext cx="4740250" cy="164592"/>
          </a:xfrm>
          <a:prstGeom prst="rect">
            <a:avLst/>
          </a:prstGeom>
          <a:noFill/>
          <a:ln/>
        </p:spPr>
        <p:txBody>
          <a:bodyPr wrap="square" lIns="0" tIns="0" rIns="0" bIns="0" rtlCol="0" anchor="ctr"/>
          <a:lstStyle/>
          <a:p>
            <a:pPr indent="0" marL="0">
              <a:buNone/>
            </a:pPr>
            <a:r>
              <a:rPr lang="en-US" sz="950" dirty="0">
                <a:solidFill>
                  <a:srgbClr val="4E79A7"/>
                </a:solidFill>
              </a:rPr>
              <a:t>A-B-C-D RNA</a:t>
            </a:r>
            <a:endParaRPr lang="en-US" sz="950" dirty="0"/>
          </a:p>
        </p:txBody>
      </p:sp>
      <p:sp>
        <p:nvSpPr>
          <p:cNvPr id="16" name="Shape 14"/>
          <p:cNvSpPr/>
          <p:nvPr/>
        </p:nvSpPr>
        <p:spPr>
          <a:xfrm>
            <a:off x="2103120" y="3447288"/>
            <a:ext cx="3604565" cy="0"/>
          </a:xfrm>
          <a:prstGeom prst="line">
            <a:avLst/>
          </a:prstGeom>
          <a:noFill/>
          <a:ln w="30480">
            <a:solidFill>
              <a:srgbClr val="1F8A8A"/>
            </a:solidFill>
            <a:prstDash val="solid"/>
            <a:headEnd type="none"/>
            <a:tailEnd type="triangle"/>
          </a:ln>
        </p:spPr>
      </p:sp>
      <p:sp>
        <p:nvSpPr>
          <p:cNvPr id="17" name="Text 15"/>
          <p:cNvSpPr/>
          <p:nvPr/>
        </p:nvSpPr>
        <p:spPr>
          <a:xfrm>
            <a:off x="2103120" y="3300984"/>
            <a:ext cx="3604565" cy="164592"/>
          </a:xfrm>
          <a:prstGeom prst="rect">
            <a:avLst/>
          </a:prstGeom>
          <a:noFill/>
          <a:ln/>
        </p:spPr>
        <p:txBody>
          <a:bodyPr wrap="square" lIns="0" tIns="0" rIns="0" bIns="0" rtlCol="0" anchor="ctr"/>
          <a:lstStyle/>
          <a:p>
            <a:pPr indent="0" marL="0">
              <a:buNone/>
            </a:pPr>
            <a:r>
              <a:rPr lang="en-US" sz="950" dirty="0">
                <a:solidFill>
                  <a:srgbClr val="1F8A8A"/>
                </a:solidFill>
              </a:rPr>
              <a:t>B-C-D RNA</a:t>
            </a:r>
            <a:endParaRPr lang="en-US" sz="950" dirty="0"/>
          </a:p>
        </p:txBody>
      </p:sp>
      <p:sp>
        <p:nvSpPr>
          <p:cNvPr id="18" name="Shape 16"/>
          <p:cNvSpPr/>
          <p:nvPr/>
        </p:nvSpPr>
        <p:spPr>
          <a:xfrm>
            <a:off x="3288182" y="3858768"/>
            <a:ext cx="2419502" cy="0"/>
          </a:xfrm>
          <a:prstGeom prst="line">
            <a:avLst/>
          </a:prstGeom>
          <a:noFill/>
          <a:ln w="30480">
            <a:solidFill>
              <a:srgbClr val="F28E2B"/>
            </a:solidFill>
            <a:prstDash val="solid"/>
            <a:headEnd type="none"/>
            <a:tailEnd type="triangle"/>
          </a:ln>
        </p:spPr>
      </p:sp>
      <p:sp>
        <p:nvSpPr>
          <p:cNvPr id="19" name="Text 17"/>
          <p:cNvSpPr/>
          <p:nvPr/>
        </p:nvSpPr>
        <p:spPr>
          <a:xfrm>
            <a:off x="3288182" y="3712464"/>
            <a:ext cx="2419502" cy="164592"/>
          </a:xfrm>
          <a:prstGeom prst="rect">
            <a:avLst/>
          </a:prstGeom>
          <a:noFill/>
          <a:ln/>
        </p:spPr>
        <p:txBody>
          <a:bodyPr wrap="square" lIns="0" tIns="0" rIns="0" bIns="0" rtlCol="0" anchor="ctr"/>
          <a:lstStyle/>
          <a:p>
            <a:pPr indent="0" marL="0">
              <a:buNone/>
            </a:pPr>
            <a:r>
              <a:rPr lang="en-US" sz="950" dirty="0">
                <a:solidFill>
                  <a:srgbClr val="F28E2B"/>
                </a:solidFill>
              </a:rPr>
              <a:t>C-D RNA</a:t>
            </a:r>
            <a:endParaRPr lang="en-US" sz="950" dirty="0"/>
          </a:p>
        </p:txBody>
      </p:sp>
      <p:sp>
        <p:nvSpPr>
          <p:cNvPr id="20" name="Shape 18"/>
          <p:cNvSpPr/>
          <p:nvPr/>
        </p:nvSpPr>
        <p:spPr>
          <a:xfrm>
            <a:off x="4423867" y="4270248"/>
            <a:ext cx="1283818" cy="0"/>
          </a:xfrm>
          <a:prstGeom prst="line">
            <a:avLst/>
          </a:prstGeom>
          <a:noFill/>
          <a:ln w="30480">
            <a:solidFill>
              <a:srgbClr val="E15759"/>
            </a:solidFill>
            <a:prstDash val="solid"/>
            <a:headEnd type="none"/>
            <a:tailEnd type="triangle"/>
          </a:ln>
        </p:spPr>
      </p:sp>
      <p:sp>
        <p:nvSpPr>
          <p:cNvPr id="21" name="Text 19"/>
          <p:cNvSpPr/>
          <p:nvPr/>
        </p:nvSpPr>
        <p:spPr>
          <a:xfrm>
            <a:off x="4423867" y="4123944"/>
            <a:ext cx="1283818" cy="164592"/>
          </a:xfrm>
          <a:prstGeom prst="rect">
            <a:avLst/>
          </a:prstGeom>
          <a:noFill/>
          <a:ln/>
        </p:spPr>
        <p:txBody>
          <a:bodyPr wrap="square" lIns="0" tIns="0" rIns="0" bIns="0" rtlCol="0" anchor="ctr"/>
          <a:lstStyle/>
          <a:p>
            <a:pPr indent="0" marL="0">
              <a:buNone/>
            </a:pPr>
            <a:r>
              <a:rPr lang="en-US" sz="950" dirty="0">
                <a:solidFill>
                  <a:srgbClr val="E15759"/>
                </a:solidFill>
              </a:rPr>
              <a:t>D RNA</a:t>
            </a:r>
            <a:endParaRPr lang="en-US" sz="950" dirty="0"/>
          </a:p>
        </p:txBody>
      </p:sp>
      <p:sp>
        <p:nvSpPr>
          <p:cNvPr id="22" name="Text 20"/>
          <p:cNvSpPr/>
          <p:nvPr/>
        </p:nvSpPr>
        <p:spPr>
          <a:xfrm>
            <a:off x="6400800" y="1847088"/>
            <a:ext cx="1828800" cy="310896"/>
          </a:xfrm>
          <a:prstGeom prst="rect">
            <a:avLst/>
          </a:prstGeom>
          <a:noFill/>
          <a:ln/>
        </p:spPr>
        <p:txBody>
          <a:bodyPr wrap="square" lIns="0" tIns="0" rIns="0" bIns="0" rtlCol="0" anchor="ctr"/>
          <a:lstStyle/>
          <a:p>
            <a:pPr indent="0" marL="0">
              <a:buNone/>
            </a:pPr>
            <a:r>
              <a:rPr lang="en-US" sz="1600" b="1" dirty="0">
                <a:solidFill>
                  <a:srgbClr val="12263A"/>
                </a:solidFill>
              </a:rPr>
              <a:t>TSS signal</a:t>
            </a:r>
            <a:endParaRPr lang="en-US" sz="1600" dirty="0"/>
          </a:p>
        </p:txBody>
      </p:sp>
      <p:sp>
        <p:nvSpPr>
          <p:cNvPr id="23" name="Text 21"/>
          <p:cNvSpPr/>
          <p:nvPr/>
        </p:nvSpPr>
        <p:spPr>
          <a:xfrm>
            <a:off x="6400800" y="2267712"/>
            <a:ext cx="2148840" cy="960120"/>
          </a:xfrm>
          <a:prstGeom prst="rect">
            <a:avLst/>
          </a:prstGeom>
          <a:solidFill>
            <a:srgbClr val="FFF2E3"/>
          </a:solidFill>
          <a:ln>
            <a:solidFill>
              <a:srgbClr val="F6D6AF"/>
            </a:solidFill>
          </a:ln>
        </p:spPr>
        <p:txBody>
          <a:bodyPr wrap="square" lIns="381" tIns="381" rIns="381" bIns="381" rtlCol="0" anchor="ctr"/>
          <a:lstStyle/>
          <a:p>
            <a:pPr indent="0" marL="0">
              <a:buNone/>
            </a:pPr>
            <a:r>
              <a:rPr lang="en-US" sz="1500" dirty="0">
                <a:solidFill>
                  <a:srgbClr val="667085"/>
                </a:solidFill>
              </a:rPr>
              <a:t>Promoter-specific</a:t>
            </a:r>
            <a:endParaRPr lang="en-US" sz="1500" dirty="0"/>
          </a:p>
          <a:p>
            <a:pPr indent="0" marL="0">
              <a:buNone/>
            </a:pPr>
            <a:r>
              <a:rPr lang="en-US" sz="1500" dirty="0">
                <a:solidFill>
                  <a:srgbClr val="667085"/>
                </a:solidFill>
              </a:rPr>
              <a:t>but does not identify which TES is used</a:t>
            </a:r>
            <a:endParaRPr lang="en-US" sz="1500" dirty="0"/>
          </a:p>
        </p:txBody>
      </p:sp>
      <p:sp>
        <p:nvSpPr>
          <p:cNvPr id="24" name="Text 22"/>
          <p:cNvSpPr/>
          <p:nvPr/>
        </p:nvSpPr>
        <p:spPr>
          <a:xfrm>
            <a:off x="8796528" y="1847088"/>
            <a:ext cx="1828800" cy="310896"/>
          </a:xfrm>
          <a:prstGeom prst="rect">
            <a:avLst/>
          </a:prstGeom>
          <a:noFill/>
          <a:ln/>
        </p:spPr>
        <p:txBody>
          <a:bodyPr wrap="square" lIns="0" tIns="0" rIns="0" bIns="0" rtlCol="0" anchor="ctr"/>
          <a:lstStyle/>
          <a:p>
            <a:pPr indent="0" marL="0">
              <a:buNone/>
            </a:pPr>
            <a:r>
              <a:rPr lang="en-US" sz="1600" b="1" dirty="0">
                <a:solidFill>
                  <a:srgbClr val="12263A"/>
                </a:solidFill>
              </a:rPr>
              <a:t>TES signal</a:t>
            </a:r>
            <a:endParaRPr lang="en-US" sz="1600" dirty="0"/>
          </a:p>
        </p:txBody>
      </p:sp>
      <p:sp>
        <p:nvSpPr>
          <p:cNvPr id="25" name="Text 23"/>
          <p:cNvSpPr/>
          <p:nvPr/>
        </p:nvSpPr>
        <p:spPr>
          <a:xfrm>
            <a:off x="8796528" y="2267712"/>
            <a:ext cx="2148840" cy="960120"/>
          </a:xfrm>
          <a:prstGeom prst="rect">
            <a:avLst/>
          </a:prstGeom>
          <a:solidFill>
            <a:srgbClr val="EAF2F8"/>
          </a:solidFill>
          <a:ln>
            <a:solidFill>
              <a:srgbClr val="C8DCEB"/>
            </a:solidFill>
          </a:ln>
        </p:spPr>
        <p:txBody>
          <a:bodyPr wrap="square" lIns="381" tIns="381" rIns="381" bIns="381" rtlCol="0" anchor="ctr"/>
          <a:lstStyle/>
          <a:p>
            <a:pPr indent="0" marL="0">
              <a:buNone/>
            </a:pPr>
            <a:r>
              <a:rPr lang="en-US" sz="1500" dirty="0">
                <a:solidFill>
                  <a:srgbClr val="667085"/>
                </a:solidFill>
              </a:rPr>
              <a:t>Can sum several</a:t>
            </a:r>
            <a:endParaRPr lang="en-US" sz="1500" dirty="0"/>
          </a:p>
          <a:p>
            <a:pPr indent="0" marL="0">
              <a:buNone/>
            </a:pPr>
            <a:r>
              <a:rPr lang="en-US" sz="1500" dirty="0">
                <a:solidFill>
                  <a:srgbClr val="667085"/>
                </a:solidFill>
              </a:rPr>
              <a:t>transcripts from different promoters</a:t>
            </a:r>
            <a:endParaRPr lang="en-US" sz="1500" dirty="0"/>
          </a:p>
        </p:txBody>
      </p:sp>
      <p:sp>
        <p:nvSpPr>
          <p:cNvPr id="26" name="Shape 24"/>
          <p:cNvSpPr/>
          <p:nvPr/>
        </p:nvSpPr>
        <p:spPr>
          <a:xfrm>
            <a:off x="8174736" y="3611880"/>
            <a:ext cx="822960" cy="0"/>
          </a:xfrm>
          <a:prstGeom prst="line">
            <a:avLst/>
          </a:prstGeom>
          <a:noFill/>
          <a:ln w="33020">
            <a:solidFill>
              <a:srgbClr val="1F8A8A"/>
            </a:solidFill>
            <a:prstDash val="solid"/>
            <a:tailEnd type="triangle"/>
          </a:ln>
        </p:spPr>
      </p:sp>
      <p:sp>
        <p:nvSpPr>
          <p:cNvPr id="27" name="Text 25"/>
          <p:cNvSpPr/>
          <p:nvPr/>
        </p:nvSpPr>
        <p:spPr>
          <a:xfrm>
            <a:off x="6931152" y="3794760"/>
            <a:ext cx="2743200" cy="347472"/>
          </a:xfrm>
          <a:prstGeom prst="rect">
            <a:avLst/>
          </a:prstGeom>
          <a:noFill/>
          <a:ln/>
        </p:spPr>
        <p:txBody>
          <a:bodyPr wrap="square" lIns="0" tIns="0" rIns="0" bIns="0" rtlCol="0" anchor="ctr"/>
          <a:lstStyle/>
          <a:p>
            <a:pPr algn="ctr" indent="0" marL="0">
              <a:buNone/>
            </a:pPr>
            <a:r>
              <a:rPr lang="en-US" sz="1700" b="1" dirty="0">
                <a:solidFill>
                  <a:srgbClr val="1F8A8A"/>
                </a:solidFill>
              </a:rPr>
              <a:t>Full-length read</a:t>
            </a:r>
            <a:endParaRPr lang="en-US" sz="1700" dirty="0"/>
          </a:p>
        </p:txBody>
      </p:sp>
      <p:sp>
        <p:nvSpPr>
          <p:cNvPr id="28" name="Text 26"/>
          <p:cNvSpPr/>
          <p:nvPr/>
        </p:nvSpPr>
        <p:spPr>
          <a:xfrm>
            <a:off x="6492240" y="4251960"/>
            <a:ext cx="3794760" cy="868680"/>
          </a:xfrm>
          <a:prstGeom prst="rect">
            <a:avLst/>
          </a:prstGeom>
          <a:noFill/>
          <a:ln/>
        </p:spPr>
        <p:txBody>
          <a:bodyPr wrap="square" lIns="381" tIns="381" rIns="381" bIns="381" rtlCol="0" anchor="ctr"/>
          <a:lstStyle/>
          <a:p>
            <a:pPr algn="ctr" indent="0" marL="0">
              <a:buNone/>
            </a:pPr>
            <a:r>
              <a:rPr lang="en-US" sz="2000" b="1" dirty="0">
                <a:solidFill>
                  <a:srgbClr val="12263A"/>
                </a:solidFill>
              </a:rPr>
              <a:t>links the actual 5′ start, splice pattern and 3′ end on the same molecule</a:t>
            </a:r>
            <a:endParaRPr lang="en-US" sz="2000" dirty="0"/>
          </a:p>
        </p:txBody>
      </p:sp>
      <p:sp>
        <p:nvSpPr>
          <p:cNvPr id="29" name="Text 27"/>
          <p:cNvSpPr/>
          <p:nvPr/>
        </p:nvSpPr>
        <p:spPr>
          <a:xfrm>
            <a:off x="6492240" y="5330952"/>
            <a:ext cx="3794760" cy="548640"/>
          </a:xfrm>
          <a:prstGeom prst="rect">
            <a:avLst/>
          </a:prstGeom>
          <a:noFill/>
          <a:ln/>
        </p:spPr>
        <p:txBody>
          <a:bodyPr wrap="square" lIns="0" tIns="0" rIns="0" bIns="0" rtlCol="0" anchor="ctr"/>
          <a:lstStyle/>
          <a:p>
            <a:pPr algn="ctr" indent="0" marL="0">
              <a:buNone/>
            </a:pPr>
            <a:r>
              <a:rPr lang="en-US" sz="1550" dirty="0">
                <a:solidFill>
                  <a:srgbClr val="667085"/>
                </a:solidFill>
              </a:rPr>
              <a:t>This is why long reads are essential for interpreting viral expression dynamics.</a:t>
            </a:r>
            <a:endParaRPr lang="en-US" sz="1550" dirty="0"/>
          </a:p>
        </p:txBody>
      </p:sp>
      <p:sp>
        <p:nvSpPr>
          <p:cNvPr id="30" name="Text 28"/>
          <p:cNvSpPr/>
          <p:nvPr/>
        </p:nvSpPr>
        <p:spPr>
          <a:xfrm>
            <a:off x="640080" y="6236208"/>
            <a:ext cx="10881360" cy="182880"/>
          </a:xfrm>
          <a:prstGeom prst="rect">
            <a:avLst/>
          </a:prstGeom>
          <a:noFill/>
          <a:ln/>
        </p:spPr>
        <p:txBody>
          <a:bodyPr wrap="square" lIns="0" tIns="0" rIns="0" bIns="0" rtlCol="0" anchor="ctr"/>
          <a:lstStyle/>
          <a:p>
            <a:pPr algn="l" indent="0" marL="0">
              <a:buNone/>
            </a:pPr>
            <a:r>
              <a:rPr lang="en-US" sz="850" i="1" dirty="0">
                <a:solidFill>
                  <a:srgbClr val="7B8794"/>
                </a:solidFill>
              </a:rPr>
              <a:t>Published interpretation: co-terminal and overlapping RNAs explain mismatches between TSS and TES kinetics.</a:t>
            </a:r>
            <a:endParaRPr lang="en-US" sz="850" dirty="0"/>
          </a:p>
        </p:txBody>
      </p:sp>
      <p:sp>
        <p:nvSpPr>
          <p:cNvPr id="25" name="Slide Number Placeholder 0"/>
          <p:cNvSpPr>
            <a:spLocks noGrp="1"/>
          </p:cNvSpPr>
          <p:nvPr>
            <p:ph type="sldNum" sz="quarter" idx="4294967295"/>
          </p:nvPr>
        </p:nvSpPr>
        <p:spPr>
          <a:xfrm>
            <a:off x="11722608" y="6501384"/>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A97A6"/>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347472"/>
            <a:ext cx="4114800" cy="228600"/>
          </a:xfrm>
          <a:prstGeom prst="rect">
            <a:avLst/>
          </a:prstGeom>
          <a:noFill/>
          <a:ln/>
        </p:spPr>
        <p:txBody>
          <a:bodyPr wrap="square" lIns="0" tIns="0" rIns="0" bIns="0" rtlCol="0" anchor="ctr"/>
          <a:lstStyle/>
          <a:p>
            <a:pPr indent="0" marL="0">
              <a:buNone/>
            </a:pPr>
            <a:r>
              <a:rPr lang="en-US" sz="1050" b="1" spc="160" kern="0" dirty="0">
                <a:solidFill>
                  <a:srgbClr val="1F8A8A"/>
                </a:solidFill>
              </a:rPr>
              <a:t>BEYOND IE / E / L</a:t>
            </a:r>
            <a:endParaRPr lang="en-US" sz="1050" dirty="0"/>
          </a:p>
        </p:txBody>
      </p:sp>
      <p:sp>
        <p:nvSpPr>
          <p:cNvPr id="3" name="Text 1"/>
          <p:cNvSpPr/>
          <p:nvPr/>
        </p:nvSpPr>
        <p:spPr>
          <a:xfrm>
            <a:off x="594360" y="603504"/>
            <a:ext cx="10972800" cy="493776"/>
          </a:xfrm>
          <a:prstGeom prst="rect">
            <a:avLst/>
          </a:prstGeom>
          <a:noFill/>
          <a:ln/>
        </p:spPr>
        <p:txBody>
          <a:bodyPr wrap="square" lIns="0" tIns="0" rIns="0" bIns="0" rtlCol="0" anchor="ctr"/>
          <a:lstStyle/>
          <a:p>
            <a:pPr indent="0" marL="0">
              <a:buNone/>
            </a:pPr>
            <a:r>
              <a:rPr lang="en-US" sz="2800" b="1" dirty="0">
                <a:solidFill>
                  <a:srgbClr val="12263A"/>
                </a:solidFill>
              </a:rPr>
              <a:t>Data-driven clustering reveals a continuum, not three perfectly separated boxes</a:t>
            </a:r>
            <a:endParaRPr lang="en-US" sz="2800" dirty="0"/>
          </a:p>
        </p:txBody>
      </p:sp>
      <p:sp>
        <p:nvSpPr>
          <p:cNvPr id="4" name="Text 2"/>
          <p:cNvSpPr/>
          <p:nvPr/>
        </p:nvSpPr>
        <p:spPr>
          <a:xfrm>
            <a:off x="667512" y="1170432"/>
            <a:ext cx="9784080" cy="365760"/>
          </a:xfrm>
          <a:prstGeom prst="rect">
            <a:avLst/>
          </a:prstGeom>
          <a:noFill/>
          <a:ln/>
        </p:spPr>
        <p:txBody>
          <a:bodyPr wrap="square" lIns="0" tIns="0" rIns="0" bIns="0" rtlCol="0" anchor="ctr"/>
          <a:lstStyle/>
          <a:p>
            <a:pPr indent="0" marL="0">
              <a:buNone/>
            </a:pPr>
            <a:r>
              <a:rPr lang="en-US" sz="1800" dirty="0">
                <a:solidFill>
                  <a:srgbClr val="667085"/>
                </a:solidFill>
              </a:rPr>
              <a:t>Most genes follow their expected phase — but several bridge or violate the traditional assignments.</a:t>
            </a:r>
            <a:endParaRPr lang="en-US" sz="1800" dirty="0"/>
          </a:p>
        </p:txBody>
      </p:sp>
      <p:sp>
        <p:nvSpPr>
          <p:cNvPr id="5" name="Shape 3"/>
          <p:cNvSpPr/>
          <p:nvPr/>
        </p:nvSpPr>
        <p:spPr>
          <a:xfrm>
            <a:off x="841248" y="1856232"/>
            <a:ext cx="3291840" cy="2240280"/>
          </a:xfrm>
          <a:prstGeom prst="arc">
            <a:avLst/>
          </a:prstGeom>
          <a:solidFill>
            <a:srgbClr val="F28E2B">
              <a:alpha val="45000"/>
            </a:srgbClr>
          </a:solidFill>
          <a:ln w="12700">
            <a:solidFill>
              <a:srgbClr val="F28E2B">
                <a:alpha val="0"/>
              </a:srgbClr>
            </a:solidFill>
            <a:prstDash val="solid"/>
          </a:ln>
        </p:spPr>
      </p:sp>
      <p:sp>
        <p:nvSpPr>
          <p:cNvPr id="6" name="Shape 4"/>
          <p:cNvSpPr/>
          <p:nvPr/>
        </p:nvSpPr>
        <p:spPr>
          <a:xfrm>
            <a:off x="2962656" y="2020824"/>
            <a:ext cx="4206240" cy="2331720"/>
          </a:xfrm>
          <a:prstGeom prst="arc">
            <a:avLst/>
          </a:prstGeom>
          <a:solidFill>
            <a:srgbClr val="1F8A8A">
              <a:alpha val="42000"/>
            </a:srgbClr>
          </a:solidFill>
          <a:ln w="12700">
            <a:solidFill>
              <a:srgbClr val="1F8A8A">
                <a:alpha val="0"/>
              </a:srgbClr>
            </a:solidFill>
            <a:prstDash val="solid"/>
          </a:ln>
        </p:spPr>
      </p:sp>
      <p:sp>
        <p:nvSpPr>
          <p:cNvPr id="7" name="Shape 5"/>
          <p:cNvSpPr/>
          <p:nvPr/>
        </p:nvSpPr>
        <p:spPr>
          <a:xfrm>
            <a:off x="5870448" y="2002536"/>
            <a:ext cx="4663440" cy="2514600"/>
          </a:xfrm>
          <a:prstGeom prst="arc">
            <a:avLst/>
          </a:prstGeom>
          <a:solidFill>
            <a:srgbClr val="4E79A7">
              <a:alpha val="38000"/>
            </a:srgbClr>
          </a:solidFill>
          <a:ln w="12700">
            <a:solidFill>
              <a:srgbClr val="4E79A7">
                <a:alpha val="0"/>
              </a:srgbClr>
            </a:solidFill>
            <a:prstDash val="solid"/>
          </a:ln>
        </p:spPr>
      </p:sp>
      <p:sp>
        <p:nvSpPr>
          <p:cNvPr id="8" name="Text 6"/>
          <p:cNvSpPr/>
          <p:nvPr/>
        </p:nvSpPr>
        <p:spPr>
          <a:xfrm>
            <a:off x="1005840" y="2103120"/>
            <a:ext cx="914400" cy="274320"/>
          </a:xfrm>
          <a:prstGeom prst="rect">
            <a:avLst/>
          </a:prstGeom>
          <a:noFill/>
          <a:ln/>
        </p:spPr>
        <p:txBody>
          <a:bodyPr wrap="square" lIns="0" tIns="0" rIns="0" bIns="0" rtlCol="0" anchor="ctr"/>
          <a:lstStyle/>
          <a:p>
            <a:pPr indent="0" marL="0">
              <a:buNone/>
            </a:pPr>
            <a:r>
              <a:rPr lang="en-US" sz="1300" b="1" dirty="0">
                <a:solidFill>
                  <a:srgbClr val="F28E2B"/>
                </a:solidFill>
              </a:rPr>
              <a:t>early</a:t>
            </a:r>
            <a:endParaRPr lang="en-US" sz="1300" dirty="0"/>
          </a:p>
        </p:txBody>
      </p:sp>
      <p:sp>
        <p:nvSpPr>
          <p:cNvPr id="9" name="Text 7"/>
          <p:cNvSpPr/>
          <p:nvPr/>
        </p:nvSpPr>
        <p:spPr>
          <a:xfrm>
            <a:off x="4023360" y="2304288"/>
            <a:ext cx="1920240" cy="274320"/>
          </a:xfrm>
          <a:prstGeom prst="rect">
            <a:avLst/>
          </a:prstGeom>
          <a:noFill/>
          <a:ln/>
        </p:spPr>
        <p:txBody>
          <a:bodyPr wrap="square" lIns="0" tIns="0" rIns="0" bIns="0" rtlCol="0" anchor="ctr"/>
          <a:lstStyle/>
          <a:p>
            <a:pPr indent="0" marL="0">
              <a:buNone/>
            </a:pPr>
            <a:r>
              <a:rPr lang="en-US" sz="1300" b="1" dirty="0">
                <a:solidFill>
                  <a:srgbClr val="1F8A8A"/>
                </a:solidFill>
              </a:rPr>
              <a:t>intermediate / mixed</a:t>
            </a:r>
            <a:endParaRPr lang="en-US" sz="1300" dirty="0"/>
          </a:p>
        </p:txBody>
      </p:sp>
      <p:sp>
        <p:nvSpPr>
          <p:cNvPr id="10" name="Text 8"/>
          <p:cNvSpPr/>
          <p:nvPr/>
        </p:nvSpPr>
        <p:spPr>
          <a:xfrm>
            <a:off x="8732520" y="2377440"/>
            <a:ext cx="914400" cy="274320"/>
          </a:xfrm>
          <a:prstGeom prst="rect">
            <a:avLst/>
          </a:prstGeom>
          <a:noFill/>
          <a:ln/>
        </p:spPr>
        <p:txBody>
          <a:bodyPr wrap="square" lIns="0" tIns="0" rIns="0" bIns="0" rtlCol="0" anchor="ctr"/>
          <a:lstStyle/>
          <a:p>
            <a:pPr indent="0" marL="0">
              <a:buNone/>
            </a:pPr>
            <a:r>
              <a:rPr lang="en-US" sz="1300" b="1" dirty="0">
                <a:solidFill>
                  <a:srgbClr val="4E79A7"/>
                </a:solidFill>
              </a:rPr>
              <a:t>late</a:t>
            </a:r>
            <a:endParaRPr lang="en-US" sz="1300" dirty="0"/>
          </a:p>
        </p:txBody>
      </p:sp>
      <p:sp>
        <p:nvSpPr>
          <p:cNvPr id="11" name="Shape 9"/>
          <p:cNvSpPr/>
          <p:nvPr/>
        </p:nvSpPr>
        <p:spPr>
          <a:xfrm>
            <a:off x="1005840" y="4078224"/>
            <a:ext cx="9326880" cy="0"/>
          </a:xfrm>
          <a:prstGeom prst="line">
            <a:avLst/>
          </a:prstGeom>
          <a:noFill/>
          <a:ln w="20320">
            <a:solidFill>
              <a:srgbClr val="12263A"/>
            </a:solidFill>
            <a:prstDash val="solid"/>
            <a:tailEnd type="triangle"/>
          </a:ln>
        </p:spPr>
      </p:sp>
      <p:sp>
        <p:nvSpPr>
          <p:cNvPr id="12" name="Text 10"/>
          <p:cNvSpPr/>
          <p:nvPr/>
        </p:nvSpPr>
        <p:spPr>
          <a:xfrm>
            <a:off x="896112" y="4187952"/>
            <a:ext cx="502920" cy="219456"/>
          </a:xfrm>
          <a:prstGeom prst="rect">
            <a:avLst/>
          </a:prstGeom>
          <a:noFill/>
          <a:ln/>
        </p:spPr>
        <p:txBody>
          <a:bodyPr wrap="square" lIns="0" tIns="0" rIns="0" bIns="0" rtlCol="0" anchor="ctr"/>
          <a:lstStyle/>
          <a:p>
            <a:pPr algn="ctr" indent="0" marL="0">
              <a:buNone/>
            </a:pPr>
            <a:r>
              <a:rPr lang="en-US" sz="1050" dirty="0">
                <a:solidFill>
                  <a:srgbClr val="667085"/>
                </a:solidFill>
              </a:rPr>
              <a:t>1</a:t>
            </a:r>
            <a:endParaRPr lang="en-US" sz="1050" dirty="0"/>
          </a:p>
        </p:txBody>
      </p:sp>
      <p:sp>
        <p:nvSpPr>
          <p:cNvPr id="13" name="Text 11"/>
          <p:cNvSpPr/>
          <p:nvPr/>
        </p:nvSpPr>
        <p:spPr>
          <a:xfrm>
            <a:off x="2066544" y="4187952"/>
            <a:ext cx="502920" cy="219456"/>
          </a:xfrm>
          <a:prstGeom prst="rect">
            <a:avLst/>
          </a:prstGeom>
          <a:noFill/>
          <a:ln/>
        </p:spPr>
        <p:txBody>
          <a:bodyPr wrap="square" lIns="0" tIns="0" rIns="0" bIns="0" rtlCol="0" anchor="ctr"/>
          <a:lstStyle/>
          <a:p>
            <a:pPr algn="ctr" indent="0" marL="0">
              <a:buNone/>
            </a:pPr>
            <a:r>
              <a:rPr lang="en-US" sz="1050" dirty="0">
                <a:solidFill>
                  <a:srgbClr val="667085"/>
                </a:solidFill>
              </a:rPr>
              <a:t>2</a:t>
            </a:r>
            <a:endParaRPr lang="en-US" sz="1050" dirty="0"/>
          </a:p>
        </p:txBody>
      </p:sp>
      <p:sp>
        <p:nvSpPr>
          <p:cNvPr id="14" name="Text 12"/>
          <p:cNvSpPr/>
          <p:nvPr/>
        </p:nvSpPr>
        <p:spPr>
          <a:xfrm>
            <a:off x="3236976" y="4187952"/>
            <a:ext cx="502920" cy="219456"/>
          </a:xfrm>
          <a:prstGeom prst="rect">
            <a:avLst/>
          </a:prstGeom>
          <a:noFill/>
          <a:ln/>
        </p:spPr>
        <p:txBody>
          <a:bodyPr wrap="square" lIns="0" tIns="0" rIns="0" bIns="0" rtlCol="0" anchor="ctr"/>
          <a:lstStyle/>
          <a:p>
            <a:pPr algn="ctr" indent="0" marL="0">
              <a:buNone/>
            </a:pPr>
            <a:r>
              <a:rPr lang="en-US" sz="1050" dirty="0">
                <a:solidFill>
                  <a:srgbClr val="667085"/>
                </a:solidFill>
              </a:rPr>
              <a:t>4</a:t>
            </a:r>
            <a:endParaRPr lang="en-US" sz="1050" dirty="0"/>
          </a:p>
        </p:txBody>
      </p:sp>
      <p:sp>
        <p:nvSpPr>
          <p:cNvPr id="15" name="Text 13"/>
          <p:cNvSpPr/>
          <p:nvPr/>
        </p:nvSpPr>
        <p:spPr>
          <a:xfrm>
            <a:off x="4407408" y="4187952"/>
            <a:ext cx="502920" cy="219456"/>
          </a:xfrm>
          <a:prstGeom prst="rect">
            <a:avLst/>
          </a:prstGeom>
          <a:noFill/>
          <a:ln/>
        </p:spPr>
        <p:txBody>
          <a:bodyPr wrap="square" lIns="0" tIns="0" rIns="0" bIns="0" rtlCol="0" anchor="ctr"/>
          <a:lstStyle/>
          <a:p>
            <a:pPr algn="ctr" indent="0" marL="0">
              <a:buNone/>
            </a:pPr>
            <a:r>
              <a:rPr lang="en-US" sz="1050" dirty="0">
                <a:solidFill>
                  <a:srgbClr val="667085"/>
                </a:solidFill>
              </a:rPr>
              <a:t>6</a:t>
            </a:r>
            <a:endParaRPr lang="en-US" sz="1050" dirty="0"/>
          </a:p>
        </p:txBody>
      </p:sp>
      <p:sp>
        <p:nvSpPr>
          <p:cNvPr id="16" name="Text 14"/>
          <p:cNvSpPr/>
          <p:nvPr/>
        </p:nvSpPr>
        <p:spPr>
          <a:xfrm>
            <a:off x="5577840" y="4187952"/>
            <a:ext cx="502920" cy="219456"/>
          </a:xfrm>
          <a:prstGeom prst="rect">
            <a:avLst/>
          </a:prstGeom>
          <a:noFill/>
          <a:ln/>
        </p:spPr>
        <p:txBody>
          <a:bodyPr wrap="square" lIns="0" tIns="0" rIns="0" bIns="0" rtlCol="0" anchor="ctr"/>
          <a:lstStyle/>
          <a:p>
            <a:pPr algn="ctr" indent="0" marL="0">
              <a:buNone/>
            </a:pPr>
            <a:r>
              <a:rPr lang="en-US" sz="1050" dirty="0">
                <a:solidFill>
                  <a:srgbClr val="667085"/>
                </a:solidFill>
              </a:rPr>
              <a:t>8</a:t>
            </a:r>
            <a:endParaRPr lang="en-US" sz="1050" dirty="0"/>
          </a:p>
        </p:txBody>
      </p:sp>
      <p:sp>
        <p:nvSpPr>
          <p:cNvPr id="17" name="Text 15"/>
          <p:cNvSpPr/>
          <p:nvPr/>
        </p:nvSpPr>
        <p:spPr>
          <a:xfrm>
            <a:off x="6748272" y="4187952"/>
            <a:ext cx="502920" cy="219456"/>
          </a:xfrm>
          <a:prstGeom prst="rect">
            <a:avLst/>
          </a:prstGeom>
          <a:noFill/>
          <a:ln/>
        </p:spPr>
        <p:txBody>
          <a:bodyPr wrap="square" lIns="0" tIns="0" rIns="0" bIns="0" rtlCol="0" anchor="ctr"/>
          <a:lstStyle/>
          <a:p>
            <a:pPr algn="ctr" indent="0" marL="0">
              <a:buNone/>
            </a:pPr>
            <a:r>
              <a:rPr lang="en-US" sz="1050" dirty="0">
                <a:solidFill>
                  <a:srgbClr val="667085"/>
                </a:solidFill>
              </a:rPr>
              <a:t>12</a:t>
            </a:r>
            <a:endParaRPr lang="en-US" sz="1050" dirty="0"/>
          </a:p>
        </p:txBody>
      </p:sp>
      <p:sp>
        <p:nvSpPr>
          <p:cNvPr id="18" name="Text 16"/>
          <p:cNvSpPr/>
          <p:nvPr/>
        </p:nvSpPr>
        <p:spPr>
          <a:xfrm>
            <a:off x="7918704" y="4187952"/>
            <a:ext cx="502920" cy="219456"/>
          </a:xfrm>
          <a:prstGeom prst="rect">
            <a:avLst/>
          </a:prstGeom>
          <a:noFill/>
          <a:ln/>
        </p:spPr>
        <p:txBody>
          <a:bodyPr wrap="square" lIns="0" tIns="0" rIns="0" bIns="0" rtlCol="0" anchor="ctr"/>
          <a:lstStyle/>
          <a:p>
            <a:pPr algn="ctr" indent="0" marL="0">
              <a:buNone/>
            </a:pPr>
            <a:r>
              <a:rPr lang="en-US" sz="1050" dirty="0">
                <a:solidFill>
                  <a:srgbClr val="667085"/>
                </a:solidFill>
              </a:rPr>
              <a:t>18</a:t>
            </a:r>
            <a:endParaRPr lang="en-US" sz="1050" dirty="0"/>
          </a:p>
        </p:txBody>
      </p:sp>
      <p:sp>
        <p:nvSpPr>
          <p:cNvPr id="19" name="Text 17"/>
          <p:cNvSpPr/>
          <p:nvPr/>
        </p:nvSpPr>
        <p:spPr>
          <a:xfrm>
            <a:off x="9089136" y="4187952"/>
            <a:ext cx="502920" cy="219456"/>
          </a:xfrm>
          <a:prstGeom prst="rect">
            <a:avLst/>
          </a:prstGeom>
          <a:noFill/>
          <a:ln/>
        </p:spPr>
        <p:txBody>
          <a:bodyPr wrap="square" lIns="0" tIns="0" rIns="0" bIns="0" rtlCol="0" anchor="ctr"/>
          <a:lstStyle/>
          <a:p>
            <a:pPr algn="ctr" indent="0" marL="0">
              <a:buNone/>
            </a:pPr>
            <a:r>
              <a:rPr lang="en-US" sz="1050" dirty="0">
                <a:solidFill>
                  <a:srgbClr val="667085"/>
                </a:solidFill>
              </a:rPr>
              <a:t>24</a:t>
            </a:r>
            <a:endParaRPr lang="en-US" sz="1050" dirty="0"/>
          </a:p>
        </p:txBody>
      </p:sp>
      <p:sp>
        <p:nvSpPr>
          <p:cNvPr id="20" name="Text 18"/>
          <p:cNvSpPr/>
          <p:nvPr/>
        </p:nvSpPr>
        <p:spPr>
          <a:xfrm>
            <a:off x="10259568" y="4187952"/>
            <a:ext cx="502920" cy="219456"/>
          </a:xfrm>
          <a:prstGeom prst="rect">
            <a:avLst/>
          </a:prstGeom>
          <a:noFill/>
          <a:ln/>
        </p:spPr>
        <p:txBody>
          <a:bodyPr wrap="square" lIns="0" tIns="0" rIns="0" bIns="0" rtlCol="0" anchor="ctr"/>
          <a:lstStyle/>
          <a:p>
            <a:pPr algn="ctr" indent="0" marL="0">
              <a:buNone/>
            </a:pPr>
            <a:r>
              <a:rPr lang="en-US" sz="1050" dirty="0">
                <a:solidFill>
                  <a:srgbClr val="667085"/>
                </a:solidFill>
              </a:rPr>
              <a:t>48 h</a:t>
            </a:r>
            <a:endParaRPr lang="en-US" sz="1050" dirty="0"/>
          </a:p>
        </p:txBody>
      </p:sp>
      <p:sp>
        <p:nvSpPr>
          <p:cNvPr id="21" name="Text 19"/>
          <p:cNvSpPr/>
          <p:nvPr/>
        </p:nvSpPr>
        <p:spPr>
          <a:xfrm>
            <a:off x="868680" y="4754880"/>
            <a:ext cx="1051560" cy="365760"/>
          </a:xfrm>
          <a:prstGeom prst="rect">
            <a:avLst/>
          </a:prstGeom>
          <a:noFill/>
          <a:ln/>
        </p:spPr>
        <p:txBody>
          <a:bodyPr wrap="square" lIns="0" tIns="0" rIns="0" bIns="0" rtlCol="0" anchor="ctr"/>
          <a:lstStyle/>
          <a:p>
            <a:pPr indent="0" marL="0">
              <a:buNone/>
            </a:pPr>
            <a:r>
              <a:rPr lang="en-US" sz="2000" b="1" dirty="0">
                <a:solidFill>
                  <a:srgbClr val="E15759"/>
                </a:solidFill>
              </a:rPr>
              <a:t>ORF38</a:t>
            </a:r>
            <a:endParaRPr lang="en-US" sz="2000" dirty="0"/>
          </a:p>
        </p:txBody>
      </p:sp>
      <p:sp>
        <p:nvSpPr>
          <p:cNvPr id="22" name="Text 20"/>
          <p:cNvSpPr/>
          <p:nvPr/>
        </p:nvSpPr>
        <p:spPr>
          <a:xfrm>
            <a:off x="1965960" y="4754880"/>
            <a:ext cx="2240280" cy="676656"/>
          </a:xfrm>
          <a:prstGeom prst="rect">
            <a:avLst/>
          </a:prstGeom>
          <a:noFill/>
          <a:ln/>
        </p:spPr>
        <p:txBody>
          <a:bodyPr wrap="square" lIns="0" tIns="0" rIns="0" bIns="0" rtlCol="0" anchor="ctr"/>
          <a:lstStyle/>
          <a:p>
            <a:pPr indent="0" marL="0">
              <a:buNone/>
            </a:pPr>
            <a:r>
              <a:rPr lang="en-US" sz="1280" dirty="0">
                <a:solidFill>
                  <a:srgbClr val="667085"/>
                </a:solidFill>
              </a:rPr>
              <a:t>traditionally L</a:t>
            </a:r>
            <a:endParaRPr lang="en-US" sz="1280" dirty="0"/>
          </a:p>
          <a:p>
            <a:pPr indent="0" marL="0">
              <a:buNone/>
            </a:pPr>
            <a:r>
              <a:rPr lang="en-US" sz="1280" dirty="0">
                <a:solidFill>
                  <a:srgbClr val="667085"/>
                </a:solidFill>
              </a:rPr>
              <a:t>TSS peaks at 6 hpi</a:t>
            </a:r>
            <a:endParaRPr lang="en-US" sz="1280" dirty="0"/>
          </a:p>
        </p:txBody>
      </p:sp>
      <p:sp>
        <p:nvSpPr>
          <p:cNvPr id="23" name="Text 21"/>
          <p:cNvSpPr/>
          <p:nvPr/>
        </p:nvSpPr>
        <p:spPr>
          <a:xfrm>
            <a:off x="868680" y="5596128"/>
            <a:ext cx="3108960" cy="310896"/>
          </a:xfrm>
          <a:prstGeom prst="rect">
            <a:avLst/>
          </a:prstGeom>
          <a:solidFill>
            <a:srgbClr val="FFFFFF"/>
          </a:solidFill>
          <a:ln>
            <a:solidFill>
              <a:srgbClr val="E8EEF3"/>
            </a:solidFill>
          </a:ln>
        </p:spPr>
        <p:txBody>
          <a:bodyPr wrap="square" lIns="0" tIns="0" rIns="0" bIns="0" rtlCol="0" anchor="ctr"/>
          <a:lstStyle/>
          <a:p>
            <a:pPr algn="ctr" indent="0" marL="0">
              <a:buNone/>
            </a:pPr>
            <a:r>
              <a:rPr lang="en-US" sz="1200" b="1" dirty="0">
                <a:solidFill>
                  <a:srgbClr val="12263A"/>
                </a:solidFill>
              </a:rPr>
              <a:t>L → early-like</a:t>
            </a:r>
            <a:endParaRPr lang="en-US" sz="1200" dirty="0"/>
          </a:p>
        </p:txBody>
      </p:sp>
      <p:sp>
        <p:nvSpPr>
          <p:cNvPr id="24" name="Text 22"/>
          <p:cNvSpPr/>
          <p:nvPr/>
        </p:nvSpPr>
        <p:spPr>
          <a:xfrm>
            <a:off x="4572000" y="4754880"/>
            <a:ext cx="1051560" cy="365760"/>
          </a:xfrm>
          <a:prstGeom prst="rect">
            <a:avLst/>
          </a:prstGeom>
          <a:noFill/>
          <a:ln/>
        </p:spPr>
        <p:txBody>
          <a:bodyPr wrap="square" lIns="0" tIns="0" rIns="0" bIns="0" rtlCol="0" anchor="ctr"/>
          <a:lstStyle/>
          <a:p>
            <a:pPr indent="0" marL="0">
              <a:buNone/>
            </a:pPr>
            <a:r>
              <a:rPr lang="en-US" sz="2000" b="1" dirty="0">
                <a:solidFill>
                  <a:srgbClr val="F28E2B"/>
                </a:solidFill>
              </a:rPr>
              <a:t>ORF54</a:t>
            </a:r>
            <a:endParaRPr lang="en-US" sz="2000" dirty="0"/>
          </a:p>
        </p:txBody>
      </p:sp>
      <p:sp>
        <p:nvSpPr>
          <p:cNvPr id="25" name="Text 23"/>
          <p:cNvSpPr/>
          <p:nvPr/>
        </p:nvSpPr>
        <p:spPr>
          <a:xfrm>
            <a:off x="5669280" y="4754880"/>
            <a:ext cx="2240280" cy="676656"/>
          </a:xfrm>
          <a:prstGeom prst="rect">
            <a:avLst/>
          </a:prstGeom>
          <a:noFill/>
          <a:ln/>
        </p:spPr>
        <p:txBody>
          <a:bodyPr wrap="square" lIns="0" tIns="0" rIns="0" bIns="0" rtlCol="0" anchor="ctr"/>
          <a:lstStyle/>
          <a:p>
            <a:pPr indent="0" marL="0">
              <a:buNone/>
            </a:pPr>
            <a:r>
              <a:rPr lang="en-US" sz="1280" dirty="0">
                <a:solidFill>
                  <a:srgbClr val="667085"/>
                </a:solidFill>
              </a:rPr>
              <a:t>traditionally E</a:t>
            </a:r>
            <a:endParaRPr lang="en-US" sz="1280" dirty="0"/>
          </a:p>
          <a:p>
            <a:pPr indent="0" marL="0">
              <a:buNone/>
            </a:pPr>
            <a:r>
              <a:rPr lang="en-US" sz="1280" dirty="0">
                <a:solidFill>
                  <a:srgbClr val="667085"/>
                </a:solidFill>
              </a:rPr>
              <a:t>TSS peak at 24 hpi</a:t>
            </a:r>
            <a:endParaRPr lang="en-US" sz="1280" dirty="0"/>
          </a:p>
        </p:txBody>
      </p:sp>
      <p:sp>
        <p:nvSpPr>
          <p:cNvPr id="26" name="Text 24"/>
          <p:cNvSpPr/>
          <p:nvPr/>
        </p:nvSpPr>
        <p:spPr>
          <a:xfrm>
            <a:off x="4572000" y="5596128"/>
            <a:ext cx="3108960" cy="310896"/>
          </a:xfrm>
          <a:prstGeom prst="rect">
            <a:avLst/>
          </a:prstGeom>
          <a:solidFill>
            <a:srgbClr val="FFFFFF"/>
          </a:solidFill>
          <a:ln>
            <a:solidFill>
              <a:srgbClr val="E8EEF3"/>
            </a:solidFill>
          </a:ln>
        </p:spPr>
        <p:txBody>
          <a:bodyPr wrap="square" lIns="0" tIns="0" rIns="0" bIns="0" rtlCol="0" anchor="ctr"/>
          <a:lstStyle/>
          <a:p>
            <a:pPr algn="ctr" indent="0" marL="0">
              <a:buNone/>
            </a:pPr>
            <a:r>
              <a:rPr lang="en-US" sz="1200" b="1" dirty="0">
                <a:solidFill>
                  <a:srgbClr val="12263A"/>
                </a:solidFill>
              </a:rPr>
              <a:t>E → late-like</a:t>
            </a:r>
            <a:endParaRPr lang="en-US" sz="1200" dirty="0"/>
          </a:p>
        </p:txBody>
      </p:sp>
      <p:sp>
        <p:nvSpPr>
          <p:cNvPr id="27" name="Text 25"/>
          <p:cNvSpPr/>
          <p:nvPr/>
        </p:nvSpPr>
        <p:spPr>
          <a:xfrm>
            <a:off x="8275320" y="4754880"/>
            <a:ext cx="1051560" cy="365760"/>
          </a:xfrm>
          <a:prstGeom prst="rect">
            <a:avLst/>
          </a:prstGeom>
          <a:noFill/>
          <a:ln/>
        </p:spPr>
        <p:txBody>
          <a:bodyPr wrap="square" lIns="0" tIns="0" rIns="0" bIns="0" rtlCol="0" anchor="ctr"/>
          <a:lstStyle/>
          <a:p>
            <a:pPr indent="0" marL="0">
              <a:buNone/>
            </a:pPr>
            <a:r>
              <a:rPr lang="en-US" sz="2000" b="1" dirty="0">
                <a:solidFill>
                  <a:srgbClr val="4E79A7"/>
                </a:solidFill>
              </a:rPr>
              <a:t>ORF45</a:t>
            </a:r>
            <a:endParaRPr lang="en-US" sz="2000" dirty="0"/>
          </a:p>
        </p:txBody>
      </p:sp>
      <p:sp>
        <p:nvSpPr>
          <p:cNvPr id="28" name="Text 26"/>
          <p:cNvSpPr/>
          <p:nvPr/>
        </p:nvSpPr>
        <p:spPr>
          <a:xfrm>
            <a:off x="9372600" y="4754880"/>
            <a:ext cx="2240280" cy="676656"/>
          </a:xfrm>
          <a:prstGeom prst="rect">
            <a:avLst/>
          </a:prstGeom>
          <a:noFill/>
          <a:ln/>
        </p:spPr>
        <p:txBody>
          <a:bodyPr wrap="square" lIns="0" tIns="0" rIns="0" bIns="0" rtlCol="0" anchor="ctr"/>
          <a:lstStyle/>
          <a:p>
            <a:pPr indent="0" marL="0">
              <a:buNone/>
            </a:pPr>
            <a:r>
              <a:rPr lang="en-US" sz="1280" dirty="0">
                <a:solidFill>
                  <a:srgbClr val="667085"/>
                </a:solidFill>
              </a:rPr>
              <a:t>traditionally L</a:t>
            </a:r>
            <a:endParaRPr lang="en-US" sz="1280" dirty="0"/>
          </a:p>
          <a:p>
            <a:pPr indent="0" marL="0">
              <a:buNone/>
            </a:pPr>
            <a:r>
              <a:rPr lang="en-US" sz="1280" dirty="0">
                <a:solidFill>
                  <a:srgbClr val="667085"/>
                </a:solidFill>
              </a:rPr>
              <a:t>peaks at 12 and 48 hpi</a:t>
            </a:r>
            <a:endParaRPr lang="en-US" sz="1280" dirty="0"/>
          </a:p>
        </p:txBody>
      </p:sp>
      <p:sp>
        <p:nvSpPr>
          <p:cNvPr id="29" name="Text 27"/>
          <p:cNvSpPr/>
          <p:nvPr/>
        </p:nvSpPr>
        <p:spPr>
          <a:xfrm>
            <a:off x="8275320" y="5596128"/>
            <a:ext cx="3108960" cy="310896"/>
          </a:xfrm>
          <a:prstGeom prst="rect">
            <a:avLst/>
          </a:prstGeom>
          <a:solidFill>
            <a:srgbClr val="FFFFFF"/>
          </a:solidFill>
          <a:ln>
            <a:solidFill>
              <a:srgbClr val="E8EEF3"/>
            </a:solidFill>
          </a:ln>
        </p:spPr>
        <p:txBody>
          <a:bodyPr wrap="square" lIns="0" tIns="0" rIns="0" bIns="0" rtlCol="0" anchor="ctr"/>
          <a:lstStyle/>
          <a:p>
            <a:pPr algn="ctr" indent="0" marL="0">
              <a:buNone/>
            </a:pPr>
            <a:r>
              <a:rPr lang="en-US" sz="1200" b="1" dirty="0">
                <a:solidFill>
                  <a:srgbClr val="12263A"/>
                </a:solidFill>
              </a:rPr>
              <a:t>bimodal late</a:t>
            </a:r>
            <a:endParaRPr lang="en-US" sz="1200" dirty="0"/>
          </a:p>
        </p:txBody>
      </p:sp>
      <p:sp>
        <p:nvSpPr>
          <p:cNvPr id="30" name="Text 28"/>
          <p:cNvSpPr/>
          <p:nvPr/>
        </p:nvSpPr>
        <p:spPr>
          <a:xfrm>
            <a:off x="640080" y="6236208"/>
            <a:ext cx="10881360" cy="182880"/>
          </a:xfrm>
          <a:prstGeom prst="rect">
            <a:avLst/>
          </a:prstGeom>
          <a:noFill/>
          <a:ln/>
        </p:spPr>
        <p:txBody>
          <a:bodyPr wrap="square" lIns="0" tIns="0" rIns="0" bIns="0" rtlCol="0" anchor="ctr"/>
          <a:lstStyle/>
          <a:p>
            <a:pPr algn="l" indent="0" marL="0">
              <a:buNone/>
            </a:pPr>
            <a:r>
              <a:rPr lang="en-US" sz="850" i="1" dirty="0">
                <a:solidFill>
                  <a:srgbClr val="7B8794"/>
                </a:solidFill>
              </a:rPr>
              <a:t>Published examples from TSS kinetics and de novo clustering: ORF38, ORF54 and ORF45 illustrate mixed temporal behavior.</a:t>
            </a:r>
            <a:endParaRPr lang="en-US" sz="850" dirty="0"/>
          </a:p>
        </p:txBody>
      </p:sp>
      <p:sp>
        <p:nvSpPr>
          <p:cNvPr id="25" name="Slide Number Placeholder 0"/>
          <p:cNvSpPr>
            <a:spLocks noGrp="1"/>
          </p:cNvSpPr>
          <p:nvPr>
            <p:ph type="sldNum" sz="quarter" idx="4294967295"/>
          </p:nvPr>
        </p:nvSpPr>
        <p:spPr>
          <a:xfrm>
            <a:off x="11722608" y="6501384"/>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A97A6"/>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347472"/>
            <a:ext cx="4114800" cy="228600"/>
          </a:xfrm>
          <a:prstGeom prst="rect">
            <a:avLst/>
          </a:prstGeom>
          <a:noFill/>
          <a:ln/>
        </p:spPr>
        <p:txBody>
          <a:bodyPr wrap="square" lIns="0" tIns="0" rIns="0" bIns="0" rtlCol="0" anchor="ctr"/>
          <a:lstStyle/>
          <a:p>
            <a:pPr indent="0" marL="0">
              <a:buNone/>
            </a:pPr>
            <a:r>
              <a:rPr lang="en-US" sz="1050" b="1" spc="160" kern="0" dirty="0">
                <a:solidFill>
                  <a:srgbClr val="1F8A8A"/>
                </a:solidFill>
              </a:rPr>
              <a:t>DYNAMIC ISOFORM USAGE</a:t>
            </a:r>
            <a:endParaRPr lang="en-US" sz="1050" dirty="0"/>
          </a:p>
        </p:txBody>
      </p:sp>
      <p:sp>
        <p:nvSpPr>
          <p:cNvPr id="3" name="Text 1"/>
          <p:cNvSpPr/>
          <p:nvPr/>
        </p:nvSpPr>
        <p:spPr>
          <a:xfrm>
            <a:off x="594360" y="603504"/>
            <a:ext cx="10972800" cy="493776"/>
          </a:xfrm>
          <a:prstGeom prst="rect">
            <a:avLst/>
          </a:prstGeom>
          <a:noFill/>
          <a:ln/>
        </p:spPr>
        <p:txBody>
          <a:bodyPr wrap="square" lIns="0" tIns="0" rIns="0" bIns="0" rtlCol="0" anchor="ctr"/>
          <a:lstStyle/>
          <a:p>
            <a:pPr indent="0" marL="0">
              <a:buNone/>
            </a:pPr>
            <a:r>
              <a:rPr lang="en-US" sz="2800" b="1" dirty="0">
                <a:solidFill>
                  <a:srgbClr val="12263A"/>
                </a:solidFill>
              </a:rPr>
              <a:t>Splicing itself changes through the infection cycle</a:t>
            </a:r>
            <a:endParaRPr lang="en-US" sz="2800" dirty="0"/>
          </a:p>
        </p:txBody>
      </p:sp>
      <p:sp>
        <p:nvSpPr>
          <p:cNvPr id="4" name="Text 2"/>
          <p:cNvSpPr/>
          <p:nvPr/>
        </p:nvSpPr>
        <p:spPr>
          <a:xfrm>
            <a:off x="676656" y="1170432"/>
            <a:ext cx="8869680" cy="365760"/>
          </a:xfrm>
          <a:prstGeom prst="rect">
            <a:avLst/>
          </a:prstGeom>
          <a:noFill/>
          <a:ln/>
        </p:spPr>
        <p:txBody>
          <a:bodyPr wrap="square" lIns="0" tIns="0" rIns="0" bIns="0" rtlCol="0" anchor="ctr"/>
          <a:lstStyle/>
          <a:p>
            <a:pPr indent="0" marL="0">
              <a:buNone/>
            </a:pPr>
            <a:r>
              <a:rPr lang="en-US" sz="1800" dirty="0">
                <a:solidFill>
                  <a:srgbClr val="667085"/>
                </a:solidFill>
              </a:rPr>
              <a:t>ORF9 provides a clear example: splice isoforms are absent early and accumulate late.</a:t>
            </a:r>
            <a:endParaRPr lang="en-US" sz="1800" dirty="0"/>
          </a:p>
        </p:txBody>
      </p:sp>
      <p:sp>
        <p:nvSpPr>
          <p:cNvPr id="5" name="Shape 3"/>
          <p:cNvSpPr/>
          <p:nvPr/>
        </p:nvSpPr>
        <p:spPr>
          <a:xfrm>
            <a:off x="868680" y="1847088"/>
            <a:ext cx="1645920" cy="329184"/>
          </a:xfrm>
          <a:prstGeom prst="chevron">
            <a:avLst/>
          </a:prstGeom>
          <a:solidFill>
            <a:srgbClr val="1F8A8A"/>
          </a:solidFill>
          <a:ln w="12700">
            <a:solidFill>
              <a:srgbClr val="1F8A8A"/>
            </a:solidFill>
            <a:prstDash val="solid"/>
          </a:ln>
        </p:spPr>
      </p:sp>
      <p:sp>
        <p:nvSpPr>
          <p:cNvPr id="6" name="Text 4"/>
          <p:cNvSpPr/>
          <p:nvPr/>
        </p:nvSpPr>
        <p:spPr>
          <a:xfrm>
            <a:off x="868680" y="1892808"/>
            <a:ext cx="1645920" cy="182880"/>
          </a:xfrm>
          <a:prstGeom prst="rect">
            <a:avLst/>
          </a:prstGeom>
          <a:noFill/>
          <a:ln/>
        </p:spPr>
        <p:txBody>
          <a:bodyPr wrap="square" lIns="0" tIns="0" rIns="0" bIns="0" rtlCol="0" anchor="ctr"/>
          <a:lstStyle/>
          <a:p>
            <a:pPr algn="ctr" indent="0" marL="0">
              <a:buNone/>
            </a:pPr>
            <a:r>
              <a:rPr lang="en-US" sz="950" b="1" dirty="0">
                <a:solidFill>
                  <a:srgbClr val="FFFFFF"/>
                </a:solidFill>
              </a:rPr>
              <a:t>ORF9</a:t>
            </a:r>
            <a:endParaRPr lang="en-US" sz="950" dirty="0"/>
          </a:p>
        </p:txBody>
      </p:sp>
      <p:sp>
        <p:nvSpPr>
          <p:cNvPr id="7" name="Shape 5"/>
          <p:cNvSpPr/>
          <p:nvPr/>
        </p:nvSpPr>
        <p:spPr>
          <a:xfrm>
            <a:off x="926287" y="2505456"/>
            <a:ext cx="3911803" cy="0"/>
          </a:xfrm>
          <a:prstGeom prst="line">
            <a:avLst/>
          </a:prstGeom>
          <a:noFill/>
          <a:ln w="30480">
            <a:solidFill>
              <a:srgbClr val="1F8A8A"/>
            </a:solidFill>
            <a:prstDash val="solid"/>
            <a:headEnd type="none"/>
            <a:tailEnd type="triangle"/>
          </a:ln>
        </p:spPr>
      </p:sp>
      <p:sp>
        <p:nvSpPr>
          <p:cNvPr id="8" name="Text 6"/>
          <p:cNvSpPr/>
          <p:nvPr/>
        </p:nvSpPr>
        <p:spPr>
          <a:xfrm>
            <a:off x="926287" y="2359152"/>
            <a:ext cx="3911803" cy="164592"/>
          </a:xfrm>
          <a:prstGeom prst="rect">
            <a:avLst/>
          </a:prstGeom>
          <a:noFill/>
          <a:ln/>
        </p:spPr>
        <p:txBody>
          <a:bodyPr wrap="square" lIns="0" tIns="0" rIns="0" bIns="0" rtlCol="0" anchor="ctr"/>
          <a:lstStyle/>
          <a:p>
            <a:pPr indent="0" marL="0">
              <a:buNone/>
            </a:pPr>
            <a:r>
              <a:rPr lang="en-US" sz="950" dirty="0">
                <a:solidFill>
                  <a:srgbClr val="1F8A8A"/>
                </a:solidFill>
              </a:rPr>
              <a:t>canonical</a:t>
            </a:r>
            <a:endParaRPr lang="en-US" sz="950" dirty="0"/>
          </a:p>
        </p:txBody>
      </p:sp>
      <p:sp>
        <p:nvSpPr>
          <p:cNvPr id="9" name="Shape 7"/>
          <p:cNvSpPr/>
          <p:nvPr/>
        </p:nvSpPr>
        <p:spPr>
          <a:xfrm>
            <a:off x="1188720" y="2852928"/>
            <a:ext cx="658368" cy="0"/>
          </a:xfrm>
          <a:prstGeom prst="line">
            <a:avLst/>
          </a:prstGeom>
          <a:noFill/>
          <a:ln w="30480">
            <a:solidFill>
              <a:srgbClr val="F28E2B"/>
            </a:solidFill>
            <a:prstDash val="solid"/>
          </a:ln>
        </p:spPr>
      </p:sp>
      <p:sp>
        <p:nvSpPr>
          <p:cNvPr id="10" name="Shape 8"/>
          <p:cNvSpPr/>
          <p:nvPr/>
        </p:nvSpPr>
        <p:spPr>
          <a:xfrm>
            <a:off x="1874520" y="2852928"/>
            <a:ext cx="1691640" cy="0"/>
          </a:xfrm>
          <a:prstGeom prst="line">
            <a:avLst/>
          </a:prstGeom>
          <a:noFill/>
          <a:ln w="30480">
            <a:solidFill>
              <a:srgbClr val="F28E2B"/>
            </a:solidFill>
            <a:prstDash val="solid"/>
            <a:tailEnd type="triangle"/>
          </a:ln>
        </p:spPr>
      </p:sp>
      <p:sp>
        <p:nvSpPr>
          <p:cNvPr id="11" name="Text 9"/>
          <p:cNvSpPr/>
          <p:nvPr/>
        </p:nvSpPr>
        <p:spPr>
          <a:xfrm>
            <a:off x="1051560" y="3017520"/>
            <a:ext cx="2926080" cy="228600"/>
          </a:xfrm>
          <a:prstGeom prst="rect">
            <a:avLst/>
          </a:prstGeom>
          <a:noFill/>
          <a:ln/>
        </p:spPr>
        <p:txBody>
          <a:bodyPr wrap="square" lIns="0" tIns="0" rIns="0" bIns="0" rtlCol="0" anchor="ctr"/>
          <a:lstStyle/>
          <a:p>
            <a:pPr indent="0" marL="0">
              <a:buNone/>
            </a:pPr>
            <a:r>
              <a:rPr lang="en-US" sz="1050" dirty="0">
                <a:solidFill>
                  <a:srgbClr val="F28E2B"/>
                </a:solidFill>
              </a:rPr>
              <a:t>TR134 / TR172 (shared intron)</a:t>
            </a:r>
            <a:endParaRPr lang="en-US" sz="1050" dirty="0"/>
          </a:p>
        </p:txBody>
      </p:sp>
      <p:sp>
        <p:nvSpPr>
          <p:cNvPr id="12" name="Text 10"/>
          <p:cNvSpPr/>
          <p:nvPr/>
        </p:nvSpPr>
        <p:spPr>
          <a:xfrm>
            <a:off x="4983480" y="1783080"/>
            <a:ext cx="2286000" cy="274320"/>
          </a:xfrm>
          <a:prstGeom prst="rect">
            <a:avLst/>
          </a:prstGeom>
          <a:noFill/>
          <a:ln/>
        </p:spPr>
        <p:txBody>
          <a:bodyPr wrap="square" lIns="0" tIns="0" rIns="0" bIns="0" rtlCol="0" anchor="ctr"/>
          <a:lstStyle/>
          <a:p>
            <a:pPr indent="0" marL="0">
              <a:buNone/>
            </a:pPr>
            <a:r>
              <a:rPr lang="en-US" sz="1450" b="1" dirty="0">
                <a:solidFill>
                  <a:srgbClr val="12263A"/>
                </a:solidFill>
              </a:rPr>
              <a:t>Combined spliced isoforms</a:t>
            </a:r>
            <a:endParaRPr lang="en-US" sz="1450" dirty="0"/>
          </a:p>
        </p:txBody>
      </p:sp>
      <p:sp>
        <p:nvSpPr>
          <p:cNvPr id="13" name="Shape 11"/>
          <p:cNvSpPr/>
          <p:nvPr/>
        </p:nvSpPr>
        <p:spPr>
          <a:xfrm>
            <a:off x="5074920" y="2743200"/>
            <a:ext cx="4709160" cy="0"/>
          </a:xfrm>
          <a:prstGeom prst="line">
            <a:avLst/>
          </a:prstGeom>
          <a:noFill/>
          <a:ln w="20320">
            <a:solidFill>
              <a:srgbClr val="A7B1BE"/>
            </a:solidFill>
            <a:prstDash val="solid"/>
          </a:ln>
        </p:spPr>
      </p:sp>
      <p:sp>
        <p:nvSpPr>
          <p:cNvPr id="14" name="Shape 12"/>
          <p:cNvSpPr/>
          <p:nvPr/>
        </p:nvSpPr>
        <p:spPr>
          <a:xfrm>
            <a:off x="4983480" y="2651760"/>
            <a:ext cx="182880" cy="182880"/>
          </a:xfrm>
          <a:prstGeom prst="ellipse">
            <a:avLst/>
          </a:prstGeom>
          <a:solidFill>
            <a:srgbClr val="F28E2B"/>
          </a:solidFill>
          <a:ln w="12700">
            <a:solidFill>
              <a:srgbClr val="FFFFFF"/>
            </a:solidFill>
            <a:prstDash val="solid"/>
          </a:ln>
        </p:spPr>
      </p:sp>
      <p:sp>
        <p:nvSpPr>
          <p:cNvPr id="15" name="Text 13"/>
          <p:cNvSpPr/>
          <p:nvPr/>
        </p:nvSpPr>
        <p:spPr>
          <a:xfrm>
            <a:off x="4709160" y="2907792"/>
            <a:ext cx="731520" cy="219456"/>
          </a:xfrm>
          <a:prstGeom prst="rect">
            <a:avLst/>
          </a:prstGeom>
          <a:noFill/>
          <a:ln/>
        </p:spPr>
        <p:txBody>
          <a:bodyPr wrap="square" lIns="0" tIns="0" rIns="0" bIns="0" rtlCol="0" anchor="ctr"/>
          <a:lstStyle/>
          <a:p>
            <a:pPr algn="ctr" indent="0" marL="0">
              <a:buNone/>
            </a:pPr>
            <a:r>
              <a:rPr lang="en-US" sz="1050" dirty="0">
                <a:solidFill>
                  <a:srgbClr val="667085"/>
                </a:solidFill>
              </a:rPr>
              <a:t>1–8 h</a:t>
            </a:r>
            <a:endParaRPr lang="en-US" sz="1050" dirty="0"/>
          </a:p>
        </p:txBody>
      </p:sp>
      <p:sp>
        <p:nvSpPr>
          <p:cNvPr id="16" name="Text 14"/>
          <p:cNvSpPr/>
          <p:nvPr/>
        </p:nvSpPr>
        <p:spPr>
          <a:xfrm>
            <a:off x="4663440" y="2212848"/>
            <a:ext cx="822960" cy="256032"/>
          </a:xfrm>
          <a:prstGeom prst="rect">
            <a:avLst/>
          </a:prstGeom>
          <a:noFill/>
          <a:ln/>
        </p:spPr>
        <p:txBody>
          <a:bodyPr wrap="square" lIns="0" tIns="0" rIns="0" bIns="0" rtlCol="0" anchor="ctr"/>
          <a:lstStyle/>
          <a:p>
            <a:pPr algn="ctr" indent="0" marL="0">
              <a:buNone/>
            </a:pPr>
            <a:r>
              <a:rPr lang="en-US" sz="1350" b="1" dirty="0">
                <a:solidFill>
                  <a:srgbClr val="F28E2B"/>
                </a:solidFill>
              </a:rPr>
              <a:t>0%</a:t>
            </a:r>
            <a:endParaRPr lang="en-US" sz="1350" dirty="0"/>
          </a:p>
        </p:txBody>
      </p:sp>
      <p:sp>
        <p:nvSpPr>
          <p:cNvPr id="17" name="Shape 15"/>
          <p:cNvSpPr/>
          <p:nvPr/>
        </p:nvSpPr>
        <p:spPr>
          <a:xfrm>
            <a:off x="6080760" y="2651760"/>
            <a:ext cx="182880" cy="182880"/>
          </a:xfrm>
          <a:prstGeom prst="ellipse">
            <a:avLst/>
          </a:prstGeom>
          <a:solidFill>
            <a:srgbClr val="F28E2B"/>
          </a:solidFill>
          <a:ln w="12700">
            <a:solidFill>
              <a:srgbClr val="FFFFFF"/>
            </a:solidFill>
            <a:prstDash val="solid"/>
          </a:ln>
        </p:spPr>
      </p:sp>
      <p:sp>
        <p:nvSpPr>
          <p:cNvPr id="18" name="Text 16"/>
          <p:cNvSpPr/>
          <p:nvPr/>
        </p:nvSpPr>
        <p:spPr>
          <a:xfrm>
            <a:off x="5806440" y="2907792"/>
            <a:ext cx="731520" cy="219456"/>
          </a:xfrm>
          <a:prstGeom prst="rect">
            <a:avLst/>
          </a:prstGeom>
          <a:noFill/>
          <a:ln/>
        </p:spPr>
        <p:txBody>
          <a:bodyPr wrap="square" lIns="0" tIns="0" rIns="0" bIns="0" rtlCol="0" anchor="ctr"/>
          <a:lstStyle/>
          <a:p>
            <a:pPr algn="ctr" indent="0" marL="0">
              <a:buNone/>
            </a:pPr>
            <a:r>
              <a:rPr lang="en-US" sz="1050" dirty="0">
                <a:solidFill>
                  <a:srgbClr val="667085"/>
                </a:solidFill>
              </a:rPr>
              <a:t>12 h</a:t>
            </a:r>
            <a:endParaRPr lang="en-US" sz="1050" dirty="0"/>
          </a:p>
        </p:txBody>
      </p:sp>
      <p:sp>
        <p:nvSpPr>
          <p:cNvPr id="19" name="Text 17"/>
          <p:cNvSpPr/>
          <p:nvPr/>
        </p:nvSpPr>
        <p:spPr>
          <a:xfrm>
            <a:off x="5760720" y="2212848"/>
            <a:ext cx="822960" cy="256032"/>
          </a:xfrm>
          <a:prstGeom prst="rect">
            <a:avLst/>
          </a:prstGeom>
          <a:noFill/>
          <a:ln/>
        </p:spPr>
        <p:txBody>
          <a:bodyPr wrap="square" lIns="0" tIns="0" rIns="0" bIns="0" rtlCol="0" anchor="ctr"/>
          <a:lstStyle/>
          <a:p>
            <a:pPr algn="ctr" indent="0" marL="0">
              <a:buNone/>
            </a:pPr>
            <a:r>
              <a:rPr lang="en-US" sz="1350" b="1" dirty="0">
                <a:solidFill>
                  <a:srgbClr val="F28E2B"/>
                </a:solidFill>
              </a:rPr>
              <a:t>1.03%</a:t>
            </a:r>
            <a:endParaRPr lang="en-US" sz="1350" dirty="0"/>
          </a:p>
        </p:txBody>
      </p:sp>
      <p:sp>
        <p:nvSpPr>
          <p:cNvPr id="20" name="Shape 18"/>
          <p:cNvSpPr/>
          <p:nvPr/>
        </p:nvSpPr>
        <p:spPr>
          <a:xfrm>
            <a:off x="7178040" y="2651760"/>
            <a:ext cx="182880" cy="182880"/>
          </a:xfrm>
          <a:prstGeom prst="ellipse">
            <a:avLst/>
          </a:prstGeom>
          <a:solidFill>
            <a:srgbClr val="E15759"/>
          </a:solidFill>
          <a:ln w="12700">
            <a:solidFill>
              <a:srgbClr val="FFFFFF"/>
            </a:solidFill>
            <a:prstDash val="solid"/>
          </a:ln>
        </p:spPr>
      </p:sp>
      <p:sp>
        <p:nvSpPr>
          <p:cNvPr id="21" name="Text 19"/>
          <p:cNvSpPr/>
          <p:nvPr/>
        </p:nvSpPr>
        <p:spPr>
          <a:xfrm>
            <a:off x="6903720" y="2907792"/>
            <a:ext cx="731520" cy="219456"/>
          </a:xfrm>
          <a:prstGeom prst="rect">
            <a:avLst/>
          </a:prstGeom>
          <a:noFill/>
          <a:ln/>
        </p:spPr>
        <p:txBody>
          <a:bodyPr wrap="square" lIns="0" tIns="0" rIns="0" bIns="0" rtlCol="0" anchor="ctr"/>
          <a:lstStyle/>
          <a:p>
            <a:pPr algn="ctr" indent="0" marL="0">
              <a:buNone/>
            </a:pPr>
            <a:r>
              <a:rPr lang="en-US" sz="1050" dirty="0">
                <a:solidFill>
                  <a:srgbClr val="667085"/>
                </a:solidFill>
              </a:rPr>
              <a:t>18 h</a:t>
            </a:r>
            <a:endParaRPr lang="en-US" sz="1050" dirty="0"/>
          </a:p>
        </p:txBody>
      </p:sp>
      <p:sp>
        <p:nvSpPr>
          <p:cNvPr id="22" name="Text 20"/>
          <p:cNvSpPr/>
          <p:nvPr/>
        </p:nvSpPr>
        <p:spPr>
          <a:xfrm>
            <a:off x="6858000" y="2212848"/>
            <a:ext cx="822960" cy="256032"/>
          </a:xfrm>
          <a:prstGeom prst="rect">
            <a:avLst/>
          </a:prstGeom>
          <a:noFill/>
          <a:ln/>
        </p:spPr>
        <p:txBody>
          <a:bodyPr wrap="square" lIns="0" tIns="0" rIns="0" bIns="0" rtlCol="0" anchor="ctr"/>
          <a:lstStyle/>
          <a:p>
            <a:pPr algn="ctr" indent="0" marL="0">
              <a:buNone/>
            </a:pPr>
            <a:r>
              <a:rPr lang="en-US" sz="1350" b="1" dirty="0">
                <a:solidFill>
                  <a:srgbClr val="E15759"/>
                </a:solidFill>
              </a:rPr>
              <a:t>11.49%</a:t>
            </a:r>
            <a:endParaRPr lang="en-US" sz="1350" dirty="0"/>
          </a:p>
        </p:txBody>
      </p:sp>
      <p:sp>
        <p:nvSpPr>
          <p:cNvPr id="23" name="Shape 21"/>
          <p:cNvSpPr/>
          <p:nvPr/>
        </p:nvSpPr>
        <p:spPr>
          <a:xfrm>
            <a:off x="8275320" y="2651760"/>
            <a:ext cx="182880" cy="182880"/>
          </a:xfrm>
          <a:prstGeom prst="ellipse">
            <a:avLst/>
          </a:prstGeom>
          <a:solidFill>
            <a:srgbClr val="E15759"/>
          </a:solidFill>
          <a:ln w="12700">
            <a:solidFill>
              <a:srgbClr val="FFFFFF"/>
            </a:solidFill>
            <a:prstDash val="solid"/>
          </a:ln>
        </p:spPr>
      </p:sp>
      <p:sp>
        <p:nvSpPr>
          <p:cNvPr id="24" name="Text 22"/>
          <p:cNvSpPr/>
          <p:nvPr/>
        </p:nvSpPr>
        <p:spPr>
          <a:xfrm>
            <a:off x="8001000" y="2907792"/>
            <a:ext cx="731520" cy="219456"/>
          </a:xfrm>
          <a:prstGeom prst="rect">
            <a:avLst/>
          </a:prstGeom>
          <a:noFill/>
          <a:ln/>
        </p:spPr>
        <p:txBody>
          <a:bodyPr wrap="square" lIns="0" tIns="0" rIns="0" bIns="0" rtlCol="0" anchor="ctr"/>
          <a:lstStyle/>
          <a:p>
            <a:pPr algn="ctr" indent="0" marL="0">
              <a:buNone/>
            </a:pPr>
            <a:r>
              <a:rPr lang="en-US" sz="1050" dirty="0">
                <a:solidFill>
                  <a:srgbClr val="667085"/>
                </a:solidFill>
              </a:rPr>
              <a:t>24 h</a:t>
            </a:r>
            <a:endParaRPr lang="en-US" sz="1050" dirty="0"/>
          </a:p>
        </p:txBody>
      </p:sp>
      <p:sp>
        <p:nvSpPr>
          <p:cNvPr id="25" name="Text 23"/>
          <p:cNvSpPr/>
          <p:nvPr/>
        </p:nvSpPr>
        <p:spPr>
          <a:xfrm>
            <a:off x="7955280" y="2212848"/>
            <a:ext cx="822960" cy="256032"/>
          </a:xfrm>
          <a:prstGeom prst="rect">
            <a:avLst/>
          </a:prstGeom>
          <a:noFill/>
          <a:ln/>
        </p:spPr>
        <p:txBody>
          <a:bodyPr wrap="square" lIns="0" tIns="0" rIns="0" bIns="0" rtlCol="0" anchor="ctr"/>
          <a:lstStyle/>
          <a:p>
            <a:pPr algn="ctr" indent="0" marL="0">
              <a:buNone/>
            </a:pPr>
            <a:r>
              <a:rPr lang="en-US" sz="1350" b="1" dirty="0">
                <a:solidFill>
                  <a:srgbClr val="E15759"/>
                </a:solidFill>
              </a:rPr>
              <a:t>12.85%</a:t>
            </a:r>
            <a:endParaRPr lang="en-US" sz="1350" dirty="0"/>
          </a:p>
        </p:txBody>
      </p:sp>
      <p:sp>
        <p:nvSpPr>
          <p:cNvPr id="26" name="Shape 24"/>
          <p:cNvSpPr/>
          <p:nvPr/>
        </p:nvSpPr>
        <p:spPr>
          <a:xfrm>
            <a:off x="9372600" y="2651760"/>
            <a:ext cx="182880" cy="182880"/>
          </a:xfrm>
          <a:prstGeom prst="ellipse">
            <a:avLst/>
          </a:prstGeom>
          <a:solidFill>
            <a:srgbClr val="E15759"/>
          </a:solidFill>
          <a:ln w="12700">
            <a:solidFill>
              <a:srgbClr val="FFFFFF"/>
            </a:solidFill>
            <a:prstDash val="solid"/>
          </a:ln>
        </p:spPr>
      </p:sp>
      <p:sp>
        <p:nvSpPr>
          <p:cNvPr id="27" name="Text 25"/>
          <p:cNvSpPr/>
          <p:nvPr/>
        </p:nvSpPr>
        <p:spPr>
          <a:xfrm>
            <a:off x="9098280" y="2907792"/>
            <a:ext cx="731520" cy="219456"/>
          </a:xfrm>
          <a:prstGeom prst="rect">
            <a:avLst/>
          </a:prstGeom>
          <a:noFill/>
          <a:ln/>
        </p:spPr>
        <p:txBody>
          <a:bodyPr wrap="square" lIns="0" tIns="0" rIns="0" bIns="0" rtlCol="0" anchor="ctr"/>
          <a:lstStyle/>
          <a:p>
            <a:pPr algn="ctr" indent="0" marL="0">
              <a:buNone/>
            </a:pPr>
            <a:r>
              <a:rPr lang="en-US" sz="1050" dirty="0">
                <a:solidFill>
                  <a:srgbClr val="667085"/>
                </a:solidFill>
              </a:rPr>
              <a:t>48 h</a:t>
            </a:r>
            <a:endParaRPr lang="en-US" sz="1050" dirty="0"/>
          </a:p>
        </p:txBody>
      </p:sp>
      <p:sp>
        <p:nvSpPr>
          <p:cNvPr id="28" name="Text 26"/>
          <p:cNvSpPr/>
          <p:nvPr/>
        </p:nvSpPr>
        <p:spPr>
          <a:xfrm>
            <a:off x="9052560" y="2212848"/>
            <a:ext cx="822960" cy="256032"/>
          </a:xfrm>
          <a:prstGeom prst="rect">
            <a:avLst/>
          </a:prstGeom>
          <a:noFill/>
          <a:ln/>
        </p:spPr>
        <p:txBody>
          <a:bodyPr wrap="square" lIns="0" tIns="0" rIns="0" bIns="0" rtlCol="0" anchor="ctr"/>
          <a:lstStyle/>
          <a:p>
            <a:pPr algn="ctr" indent="0" marL="0">
              <a:buNone/>
            </a:pPr>
            <a:r>
              <a:rPr lang="en-US" sz="1350" b="1" dirty="0">
                <a:solidFill>
                  <a:srgbClr val="E15759"/>
                </a:solidFill>
              </a:rPr>
              <a:t>17.10%</a:t>
            </a:r>
            <a:endParaRPr lang="en-US" sz="1350" dirty="0"/>
          </a:p>
        </p:txBody>
      </p:sp>
      <p:sp>
        <p:nvSpPr>
          <p:cNvPr id="29" name="Text 27"/>
          <p:cNvSpPr/>
          <p:nvPr/>
        </p:nvSpPr>
        <p:spPr>
          <a:xfrm>
            <a:off x="914400" y="3968496"/>
            <a:ext cx="1920240" cy="274320"/>
          </a:xfrm>
          <a:prstGeom prst="rect">
            <a:avLst/>
          </a:prstGeom>
          <a:noFill/>
          <a:ln/>
        </p:spPr>
        <p:txBody>
          <a:bodyPr wrap="square" lIns="0" tIns="0" rIns="0" bIns="0" rtlCol="0" anchor="ctr"/>
          <a:lstStyle/>
          <a:p>
            <a:pPr indent="0" marL="0">
              <a:buNone/>
            </a:pPr>
            <a:r>
              <a:rPr lang="en-US" sz="1400" b="1" dirty="0">
                <a:solidFill>
                  <a:srgbClr val="12263A"/>
                </a:solidFill>
              </a:rPr>
              <a:t>Canonical ORF9</a:t>
            </a:r>
            <a:endParaRPr lang="en-US" sz="1400" dirty="0"/>
          </a:p>
        </p:txBody>
      </p:sp>
      <p:sp>
        <p:nvSpPr>
          <p:cNvPr id="30" name="Text 28"/>
          <p:cNvSpPr/>
          <p:nvPr/>
        </p:nvSpPr>
        <p:spPr>
          <a:xfrm>
            <a:off x="914400" y="4370832"/>
            <a:ext cx="1143000" cy="502920"/>
          </a:xfrm>
          <a:prstGeom prst="rect">
            <a:avLst/>
          </a:prstGeom>
          <a:noFill/>
          <a:ln/>
        </p:spPr>
        <p:txBody>
          <a:bodyPr wrap="square" lIns="0" tIns="0" rIns="0" bIns="0" rtlCol="0" anchor="ctr"/>
          <a:lstStyle/>
          <a:p>
            <a:pPr indent="0" marL="0">
              <a:buNone/>
            </a:pPr>
            <a:r>
              <a:rPr lang="en-US" sz="2800" b="1" dirty="0">
                <a:solidFill>
                  <a:srgbClr val="1F8A8A"/>
                </a:solidFill>
              </a:rPr>
              <a:t>~100%</a:t>
            </a:r>
            <a:endParaRPr lang="en-US" sz="2800" dirty="0"/>
          </a:p>
        </p:txBody>
      </p:sp>
      <p:sp>
        <p:nvSpPr>
          <p:cNvPr id="31" name="Shape 29"/>
          <p:cNvSpPr/>
          <p:nvPr/>
        </p:nvSpPr>
        <p:spPr>
          <a:xfrm>
            <a:off x="2103120" y="4617720"/>
            <a:ext cx="1965960" cy="0"/>
          </a:xfrm>
          <a:prstGeom prst="line">
            <a:avLst/>
          </a:prstGeom>
          <a:noFill/>
          <a:ln w="38100">
            <a:solidFill>
              <a:srgbClr val="A7B1BE"/>
            </a:solidFill>
            <a:prstDash val="solid"/>
            <a:tailEnd type="triangle"/>
          </a:ln>
        </p:spPr>
      </p:sp>
      <p:sp>
        <p:nvSpPr>
          <p:cNvPr id="32" name="Text 30"/>
          <p:cNvSpPr/>
          <p:nvPr/>
        </p:nvSpPr>
        <p:spPr>
          <a:xfrm>
            <a:off x="4224528" y="4370832"/>
            <a:ext cx="1325880" cy="502920"/>
          </a:xfrm>
          <a:prstGeom prst="rect">
            <a:avLst/>
          </a:prstGeom>
          <a:noFill/>
          <a:ln/>
        </p:spPr>
        <p:txBody>
          <a:bodyPr wrap="square" lIns="0" tIns="0" rIns="0" bIns="0" rtlCol="0" anchor="ctr"/>
          <a:lstStyle/>
          <a:p>
            <a:pPr indent="0" marL="0">
              <a:buNone/>
            </a:pPr>
            <a:r>
              <a:rPr lang="en-US" sz="2800" b="1" dirty="0">
                <a:solidFill>
                  <a:srgbClr val="E15759"/>
                </a:solidFill>
              </a:rPr>
              <a:t>41.69%</a:t>
            </a:r>
            <a:endParaRPr lang="en-US" sz="2800" dirty="0"/>
          </a:p>
        </p:txBody>
      </p:sp>
      <p:sp>
        <p:nvSpPr>
          <p:cNvPr id="33" name="Text 31"/>
          <p:cNvSpPr/>
          <p:nvPr/>
        </p:nvSpPr>
        <p:spPr>
          <a:xfrm>
            <a:off x="896112" y="4901184"/>
            <a:ext cx="1463040" cy="237744"/>
          </a:xfrm>
          <a:prstGeom prst="rect">
            <a:avLst/>
          </a:prstGeom>
          <a:noFill/>
          <a:ln/>
        </p:spPr>
        <p:txBody>
          <a:bodyPr wrap="square" lIns="0" tIns="0" rIns="0" bIns="0" rtlCol="0" anchor="ctr"/>
          <a:lstStyle/>
          <a:p>
            <a:pPr indent="0" marL="0">
              <a:buNone/>
            </a:pPr>
            <a:r>
              <a:rPr lang="en-US" sz="1080" dirty="0">
                <a:solidFill>
                  <a:srgbClr val="667085"/>
                </a:solidFill>
              </a:rPr>
              <a:t>early (2–4 hpi)</a:t>
            </a:r>
            <a:endParaRPr lang="en-US" sz="1080" dirty="0"/>
          </a:p>
        </p:txBody>
      </p:sp>
      <p:sp>
        <p:nvSpPr>
          <p:cNvPr id="34" name="Text 32"/>
          <p:cNvSpPr/>
          <p:nvPr/>
        </p:nvSpPr>
        <p:spPr>
          <a:xfrm>
            <a:off x="4224528" y="4901184"/>
            <a:ext cx="914400" cy="237744"/>
          </a:xfrm>
          <a:prstGeom prst="rect">
            <a:avLst/>
          </a:prstGeom>
          <a:noFill/>
          <a:ln/>
        </p:spPr>
        <p:txBody>
          <a:bodyPr wrap="square" lIns="0" tIns="0" rIns="0" bIns="0" rtlCol="0" anchor="ctr"/>
          <a:lstStyle/>
          <a:p>
            <a:pPr indent="0" marL="0">
              <a:buNone/>
            </a:pPr>
            <a:r>
              <a:rPr lang="en-US" sz="1080" dirty="0">
                <a:solidFill>
                  <a:srgbClr val="667085"/>
                </a:solidFill>
              </a:rPr>
              <a:t>48 hpi</a:t>
            </a:r>
            <a:endParaRPr lang="en-US" sz="1080" dirty="0"/>
          </a:p>
        </p:txBody>
      </p:sp>
      <p:sp>
        <p:nvSpPr>
          <p:cNvPr id="35" name="Text 33"/>
          <p:cNvSpPr/>
          <p:nvPr/>
        </p:nvSpPr>
        <p:spPr>
          <a:xfrm>
            <a:off x="5623560" y="4133088"/>
            <a:ext cx="5029200" cy="1024128"/>
          </a:xfrm>
          <a:prstGeom prst="rect">
            <a:avLst/>
          </a:prstGeom>
          <a:solidFill>
            <a:srgbClr val="E8F6F5"/>
          </a:solidFill>
          <a:ln>
            <a:solidFill>
              <a:srgbClr val="CBE7E6"/>
            </a:solidFill>
          </a:ln>
        </p:spPr>
        <p:txBody>
          <a:bodyPr wrap="square" lIns="508" tIns="508" rIns="508" bIns="508" rtlCol="0" anchor="ctr"/>
          <a:lstStyle/>
          <a:p>
            <a:pPr algn="ctr" indent="0" marL="0">
              <a:buNone/>
            </a:pPr>
            <a:r>
              <a:rPr lang="en-US" sz="2100" b="1" dirty="0">
                <a:solidFill>
                  <a:srgbClr val="12263A"/>
                </a:solidFill>
              </a:rPr>
              <a:t>The late transcriptome is not simply “more RNA” — it contains a different mixture of RNA structures.</a:t>
            </a:r>
            <a:endParaRPr lang="en-US" sz="2100" dirty="0"/>
          </a:p>
        </p:txBody>
      </p:sp>
      <p:sp>
        <p:nvSpPr>
          <p:cNvPr id="36" name="Text 34"/>
          <p:cNvSpPr/>
          <p:nvPr/>
        </p:nvSpPr>
        <p:spPr>
          <a:xfrm>
            <a:off x="640080" y="6236208"/>
            <a:ext cx="10881360" cy="182880"/>
          </a:xfrm>
          <a:prstGeom prst="rect">
            <a:avLst/>
          </a:prstGeom>
          <a:noFill/>
          <a:ln/>
        </p:spPr>
        <p:txBody>
          <a:bodyPr wrap="square" lIns="0" tIns="0" rIns="0" bIns="0" rtlCol="0" anchor="ctr"/>
          <a:lstStyle/>
          <a:p>
            <a:pPr algn="l" indent="0" marL="0">
              <a:buNone/>
            </a:pPr>
            <a:r>
              <a:rPr lang="en-US" sz="850" i="1" dirty="0">
                <a:solidFill>
                  <a:srgbClr val="7B8794"/>
                </a:solidFill>
              </a:rPr>
              <a:t>Published ORF9 ratios: TR134+TR172 rise from 0% at 1–8 hpi to 17.10% at 48 hpi; canonical isoform declines late.</a:t>
            </a:r>
            <a:endParaRPr lang="en-US" sz="850" dirty="0"/>
          </a:p>
        </p:txBody>
      </p:sp>
      <p:sp>
        <p:nvSpPr>
          <p:cNvPr id="25" name="Slide Number Placeholder 0"/>
          <p:cNvSpPr>
            <a:spLocks noGrp="1"/>
          </p:cNvSpPr>
          <p:nvPr>
            <p:ph type="sldNum" sz="quarter" idx="4294967295"/>
          </p:nvPr>
        </p:nvSpPr>
        <p:spPr>
          <a:xfrm>
            <a:off x="11722608" y="6501384"/>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A97A6"/>
                </a:solidFill>
                <a:latin typeface="Aptos"/>
                <a:ea typeface="Aptos"/>
                <a:cs typeface="Apto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347472"/>
            <a:ext cx="4114800" cy="228600"/>
          </a:xfrm>
          <a:prstGeom prst="rect">
            <a:avLst/>
          </a:prstGeom>
          <a:noFill/>
          <a:ln/>
        </p:spPr>
        <p:txBody>
          <a:bodyPr wrap="square" lIns="0" tIns="0" rIns="0" bIns="0" rtlCol="0" anchor="ctr"/>
          <a:lstStyle/>
          <a:p>
            <a:pPr indent="0" marL="0">
              <a:buNone/>
            </a:pPr>
            <a:r>
              <a:rPr lang="en-US" sz="1050" b="1" spc="160" kern="0" dirty="0">
                <a:solidFill>
                  <a:srgbClr val="1F8A8A"/>
                </a:solidFill>
              </a:rPr>
              <a:t>DYNAMIC TRANSCRIPT ARCHITECTURE</a:t>
            </a:r>
            <a:endParaRPr lang="en-US" sz="1050" dirty="0"/>
          </a:p>
        </p:txBody>
      </p:sp>
      <p:sp>
        <p:nvSpPr>
          <p:cNvPr id="3" name="Text 1"/>
          <p:cNvSpPr/>
          <p:nvPr/>
        </p:nvSpPr>
        <p:spPr>
          <a:xfrm>
            <a:off x="594360" y="603504"/>
            <a:ext cx="10972800" cy="493776"/>
          </a:xfrm>
          <a:prstGeom prst="rect">
            <a:avLst/>
          </a:prstGeom>
          <a:noFill/>
          <a:ln/>
        </p:spPr>
        <p:txBody>
          <a:bodyPr wrap="square" lIns="0" tIns="0" rIns="0" bIns="0" rtlCol="0" anchor="ctr"/>
          <a:lstStyle/>
          <a:p>
            <a:pPr indent="0" marL="0">
              <a:buNone/>
            </a:pPr>
            <a:r>
              <a:rPr lang="en-US" sz="2800" b="1" dirty="0">
                <a:solidFill>
                  <a:srgbClr val="12263A"/>
                </a:solidFill>
              </a:rPr>
              <a:t>Isoform switching can invert which RNA is dominant</a:t>
            </a:r>
            <a:endParaRPr lang="en-US" sz="2800" dirty="0"/>
          </a:p>
        </p:txBody>
      </p:sp>
      <p:sp>
        <p:nvSpPr>
          <p:cNvPr id="4" name="Text 2"/>
          <p:cNvSpPr/>
          <p:nvPr/>
        </p:nvSpPr>
        <p:spPr>
          <a:xfrm>
            <a:off x="676656" y="1170432"/>
            <a:ext cx="9326880" cy="365760"/>
          </a:xfrm>
          <a:prstGeom prst="rect">
            <a:avLst/>
          </a:prstGeom>
          <a:noFill/>
          <a:ln/>
        </p:spPr>
        <p:txBody>
          <a:bodyPr wrap="square" lIns="0" tIns="0" rIns="0" bIns="0" rtlCol="0" anchor="ctr"/>
          <a:lstStyle/>
          <a:p>
            <a:pPr indent="0" marL="0">
              <a:buNone/>
            </a:pPr>
            <a:r>
              <a:rPr lang="en-US" sz="1800" dirty="0">
                <a:solidFill>
                  <a:srgbClr val="667085"/>
                </a:solidFill>
              </a:rPr>
              <a:t>ORF54 is an especially clean switch between a short isoform and the canonical transcript.</a:t>
            </a:r>
            <a:endParaRPr lang="en-US" sz="1800" dirty="0"/>
          </a:p>
        </p:txBody>
      </p:sp>
      <p:graphicFrame>
        <p:nvGraphicFramePr>
          <p:cNvPr id="5" name="Chart 0" descr=""/>
          <p:cNvGraphicFramePr/>
          <p:nvPr/>
        </p:nvGraphicFramePr>
        <p:xfrm>
          <a:off x="658368" y="1737360"/>
          <a:ext cx="6675120" cy="405079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754112" y="1828800"/>
            <a:ext cx="914400" cy="237744"/>
          </a:xfrm>
          <a:prstGeom prst="rect">
            <a:avLst/>
          </a:prstGeom>
          <a:noFill/>
          <a:ln/>
        </p:spPr>
        <p:txBody>
          <a:bodyPr wrap="square" lIns="0" tIns="0" rIns="0" bIns="0" rtlCol="0" anchor="ctr"/>
          <a:lstStyle/>
          <a:p>
            <a:pPr indent="0" marL="0">
              <a:buNone/>
            </a:pPr>
            <a:r>
              <a:rPr lang="en-US" sz="1100" b="1" dirty="0">
                <a:solidFill>
                  <a:srgbClr val="F28E2B"/>
                </a:solidFill>
              </a:rPr>
              <a:t>2 hpi</a:t>
            </a:r>
            <a:endParaRPr lang="en-US" sz="1100" dirty="0"/>
          </a:p>
        </p:txBody>
      </p:sp>
      <p:sp>
        <p:nvSpPr>
          <p:cNvPr id="7" name="Text 4"/>
          <p:cNvSpPr/>
          <p:nvPr/>
        </p:nvSpPr>
        <p:spPr>
          <a:xfrm>
            <a:off x="7754112" y="2157984"/>
            <a:ext cx="2834640" cy="384048"/>
          </a:xfrm>
          <a:prstGeom prst="rect">
            <a:avLst/>
          </a:prstGeom>
          <a:noFill/>
          <a:ln/>
        </p:spPr>
        <p:txBody>
          <a:bodyPr wrap="square" lIns="0" tIns="0" rIns="0" bIns="0" rtlCol="0" anchor="ctr"/>
          <a:lstStyle/>
          <a:p>
            <a:pPr indent="0" marL="0">
              <a:buNone/>
            </a:pPr>
            <a:r>
              <a:rPr lang="en-US" sz="2100" b="1" dirty="0">
                <a:solidFill>
                  <a:srgbClr val="F28E2B"/>
                </a:solidFill>
              </a:rPr>
              <a:t>ORF54-S ≈ 100%</a:t>
            </a:r>
            <a:endParaRPr lang="en-US" sz="2100" dirty="0"/>
          </a:p>
        </p:txBody>
      </p:sp>
      <p:sp>
        <p:nvSpPr>
          <p:cNvPr id="8" name="Shape 5"/>
          <p:cNvSpPr/>
          <p:nvPr/>
        </p:nvSpPr>
        <p:spPr>
          <a:xfrm>
            <a:off x="7772400" y="2779776"/>
            <a:ext cx="2286000" cy="0"/>
          </a:xfrm>
          <a:prstGeom prst="line">
            <a:avLst/>
          </a:prstGeom>
          <a:noFill/>
          <a:ln w="38100">
            <a:solidFill>
              <a:srgbClr val="A7B1BE"/>
            </a:solidFill>
            <a:prstDash val="solid"/>
            <a:tailEnd type="triangle"/>
          </a:ln>
        </p:spPr>
      </p:sp>
      <p:sp>
        <p:nvSpPr>
          <p:cNvPr id="9" name="Text 6"/>
          <p:cNvSpPr/>
          <p:nvPr/>
        </p:nvSpPr>
        <p:spPr>
          <a:xfrm>
            <a:off x="7754112" y="3063240"/>
            <a:ext cx="914400" cy="237744"/>
          </a:xfrm>
          <a:prstGeom prst="rect">
            <a:avLst/>
          </a:prstGeom>
          <a:noFill/>
          <a:ln/>
        </p:spPr>
        <p:txBody>
          <a:bodyPr wrap="square" lIns="0" tIns="0" rIns="0" bIns="0" rtlCol="0" anchor="ctr"/>
          <a:lstStyle/>
          <a:p>
            <a:pPr indent="0" marL="0">
              <a:buNone/>
            </a:pPr>
            <a:r>
              <a:rPr lang="en-US" sz="1100" b="1" dirty="0">
                <a:solidFill>
                  <a:srgbClr val="1F8A8A"/>
                </a:solidFill>
              </a:rPr>
              <a:t>18 hpi</a:t>
            </a:r>
            <a:endParaRPr lang="en-US" sz="1100" dirty="0"/>
          </a:p>
        </p:txBody>
      </p:sp>
      <p:sp>
        <p:nvSpPr>
          <p:cNvPr id="10" name="Text 7"/>
          <p:cNvSpPr/>
          <p:nvPr/>
        </p:nvSpPr>
        <p:spPr>
          <a:xfrm>
            <a:off x="7754112" y="3401568"/>
            <a:ext cx="2926080" cy="384048"/>
          </a:xfrm>
          <a:prstGeom prst="rect">
            <a:avLst/>
          </a:prstGeom>
          <a:noFill/>
          <a:ln/>
        </p:spPr>
        <p:txBody>
          <a:bodyPr wrap="square" lIns="0" tIns="0" rIns="0" bIns="0" rtlCol="0" anchor="ctr"/>
          <a:lstStyle/>
          <a:p>
            <a:pPr indent="0" marL="0">
              <a:buNone/>
            </a:pPr>
            <a:r>
              <a:rPr lang="en-US" sz="2100" b="1" dirty="0">
                <a:solidFill>
                  <a:srgbClr val="1F8A8A"/>
                </a:solidFill>
              </a:rPr>
              <a:t>canonical ≈ 96%</a:t>
            </a:r>
            <a:endParaRPr lang="en-US" sz="2100" dirty="0"/>
          </a:p>
        </p:txBody>
      </p:sp>
      <p:sp>
        <p:nvSpPr>
          <p:cNvPr id="11" name="Text 8"/>
          <p:cNvSpPr/>
          <p:nvPr/>
        </p:nvSpPr>
        <p:spPr>
          <a:xfrm>
            <a:off x="7754112" y="4224528"/>
            <a:ext cx="2743200" cy="274320"/>
          </a:xfrm>
          <a:prstGeom prst="rect">
            <a:avLst/>
          </a:prstGeom>
          <a:noFill/>
          <a:ln/>
        </p:spPr>
        <p:txBody>
          <a:bodyPr wrap="square" lIns="0" tIns="0" rIns="0" bIns="0" rtlCol="0" anchor="ctr"/>
          <a:lstStyle/>
          <a:p>
            <a:pPr indent="0" marL="0">
              <a:buNone/>
            </a:pPr>
            <a:r>
              <a:rPr lang="en-US" sz="1450" b="1" dirty="0">
                <a:solidFill>
                  <a:srgbClr val="12263A"/>
                </a:solidFill>
              </a:rPr>
              <a:t>A second example: ORF19</a:t>
            </a:r>
            <a:endParaRPr lang="en-US" sz="1450" dirty="0"/>
          </a:p>
        </p:txBody>
      </p:sp>
      <p:sp>
        <p:nvSpPr>
          <p:cNvPr id="12" name="Text 9"/>
          <p:cNvSpPr/>
          <p:nvPr/>
        </p:nvSpPr>
        <p:spPr>
          <a:xfrm>
            <a:off x="7754112" y="4590288"/>
            <a:ext cx="3337560" cy="777240"/>
          </a:xfrm>
          <a:prstGeom prst="rect">
            <a:avLst/>
          </a:prstGeom>
          <a:noFill/>
          <a:ln/>
        </p:spPr>
        <p:txBody>
          <a:bodyPr wrap="square" lIns="0" tIns="0" rIns="0" bIns="0" rtlCol="0" anchor="ctr"/>
          <a:lstStyle/>
          <a:p>
            <a:pPr indent="0" marL="0">
              <a:buNone/>
            </a:pPr>
            <a:r>
              <a:rPr lang="en-US" sz="1550" dirty="0">
                <a:solidFill>
                  <a:srgbClr val="667085"/>
                </a:solidFill>
              </a:rPr>
              <a:t>canonical: 100% early → 14.59% at 48 hpi</a:t>
            </a:r>
            <a:endParaRPr lang="en-US" sz="1550" dirty="0"/>
          </a:p>
          <a:p>
            <a:pPr indent="0" marL="0">
              <a:buNone/>
            </a:pPr>
            <a:r>
              <a:rPr lang="en-US" sz="1550" dirty="0">
                <a:solidFill>
                  <a:srgbClr val="667085"/>
                </a:solidFill>
              </a:rPr>
              <a:t>complex isoforms: → 72.21% at 48 hpi</a:t>
            </a:r>
            <a:endParaRPr lang="en-US" sz="1550" dirty="0"/>
          </a:p>
        </p:txBody>
      </p:sp>
      <p:sp>
        <p:nvSpPr>
          <p:cNvPr id="13" name="Text 10"/>
          <p:cNvSpPr/>
          <p:nvPr/>
        </p:nvSpPr>
        <p:spPr>
          <a:xfrm>
            <a:off x="7754112" y="5486400"/>
            <a:ext cx="3291840" cy="493776"/>
          </a:xfrm>
          <a:prstGeom prst="rect">
            <a:avLst/>
          </a:prstGeom>
          <a:noFill/>
          <a:ln/>
        </p:spPr>
        <p:txBody>
          <a:bodyPr wrap="square" lIns="0" tIns="0" rIns="0" bIns="0" rtlCol="0" anchor="ctr"/>
          <a:lstStyle/>
          <a:p>
            <a:pPr indent="0" marL="0">
              <a:buNone/>
            </a:pPr>
            <a:r>
              <a:rPr lang="en-US" sz="1750" b="1" dirty="0">
                <a:solidFill>
                  <a:srgbClr val="12263A"/>
                </a:solidFill>
              </a:rPr>
              <a:t>Same gene. Different RNA architecture. Different stage.</a:t>
            </a:r>
            <a:endParaRPr lang="en-US" sz="1750" dirty="0"/>
          </a:p>
        </p:txBody>
      </p:sp>
      <p:sp>
        <p:nvSpPr>
          <p:cNvPr id="14" name="Text 11"/>
          <p:cNvSpPr/>
          <p:nvPr/>
        </p:nvSpPr>
        <p:spPr>
          <a:xfrm>
            <a:off x="640080" y="6236208"/>
            <a:ext cx="10881360" cy="182880"/>
          </a:xfrm>
          <a:prstGeom prst="rect">
            <a:avLst/>
          </a:prstGeom>
          <a:noFill/>
          <a:ln/>
        </p:spPr>
        <p:txBody>
          <a:bodyPr wrap="square" lIns="0" tIns="0" rIns="0" bIns="0" rtlCol="0" anchor="ctr"/>
          <a:lstStyle/>
          <a:p>
            <a:pPr algn="l" indent="0" marL="0">
              <a:buNone/>
            </a:pPr>
            <a:r>
              <a:rPr lang="en-US" sz="850" i="1" dirty="0">
                <a:solidFill>
                  <a:srgbClr val="7B8794"/>
                </a:solidFill>
              </a:rPr>
              <a:t>ORF54 curves redrawn from repository mean isoform ratios; ORF19 endpoint values from the published article.</a:t>
            </a:r>
            <a:endParaRPr lang="en-US" sz="850" dirty="0"/>
          </a:p>
        </p:txBody>
      </p:sp>
      <p:sp>
        <p:nvSpPr>
          <p:cNvPr id="25" name="Slide Number Placeholder 0"/>
          <p:cNvSpPr>
            <a:spLocks noGrp="1"/>
          </p:cNvSpPr>
          <p:nvPr>
            <p:ph type="sldNum" sz="quarter" idx="4294967295"/>
          </p:nvPr>
        </p:nvSpPr>
        <p:spPr>
          <a:xfrm>
            <a:off x="11722608" y="6501384"/>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A97A6"/>
                </a:solidFill>
                <a:latin typeface="Aptos"/>
                <a:ea typeface="Aptos"/>
                <a:cs typeface="Apto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94360" y="347472"/>
            <a:ext cx="4114800" cy="228600"/>
          </a:xfrm>
          <a:prstGeom prst="rect">
            <a:avLst/>
          </a:prstGeom>
          <a:noFill/>
          <a:ln/>
        </p:spPr>
        <p:txBody>
          <a:bodyPr wrap="square" lIns="0" tIns="0" rIns="0" bIns="0" rtlCol="0" anchor="ctr"/>
          <a:lstStyle/>
          <a:p>
            <a:pPr indent="0" marL="0">
              <a:buNone/>
            </a:pPr>
            <a:r>
              <a:rPr lang="en-US" sz="1050" b="1" spc="160" kern="0" dirty="0">
                <a:solidFill>
                  <a:srgbClr val="1F8A8A"/>
                </a:solidFill>
              </a:rPr>
              <a:t>GENOME-WIDE ARCHITECTURE</a:t>
            </a:r>
            <a:endParaRPr lang="en-US" sz="1050" dirty="0"/>
          </a:p>
        </p:txBody>
      </p:sp>
      <p:sp>
        <p:nvSpPr>
          <p:cNvPr id="3" name="Text 1"/>
          <p:cNvSpPr/>
          <p:nvPr/>
        </p:nvSpPr>
        <p:spPr>
          <a:xfrm>
            <a:off x="594360" y="603504"/>
            <a:ext cx="10972800" cy="493776"/>
          </a:xfrm>
          <a:prstGeom prst="rect">
            <a:avLst/>
          </a:prstGeom>
          <a:noFill/>
          <a:ln/>
        </p:spPr>
        <p:txBody>
          <a:bodyPr wrap="square" lIns="0" tIns="0" rIns="0" bIns="0" rtlCol="0" anchor="ctr"/>
          <a:lstStyle/>
          <a:p>
            <a:pPr indent="0" marL="0">
              <a:buNone/>
            </a:pPr>
            <a:r>
              <a:rPr lang="en-US" sz="2800" b="1" dirty="0">
                <a:solidFill>
                  <a:srgbClr val="12263A"/>
                </a:solidFill>
              </a:rPr>
              <a:t>Transcriptional overlap becomes progressively denser</a:t>
            </a:r>
            <a:endParaRPr lang="en-US" sz="2800" dirty="0"/>
          </a:p>
        </p:txBody>
      </p:sp>
      <p:sp>
        <p:nvSpPr>
          <p:cNvPr id="4" name="Text 2"/>
          <p:cNvSpPr/>
          <p:nvPr/>
        </p:nvSpPr>
        <p:spPr>
          <a:xfrm>
            <a:off x="676656" y="1170432"/>
            <a:ext cx="9692640" cy="365760"/>
          </a:xfrm>
          <a:prstGeom prst="rect">
            <a:avLst/>
          </a:prstGeom>
          <a:noFill/>
          <a:ln/>
        </p:spPr>
        <p:txBody>
          <a:bodyPr wrap="square" lIns="0" tIns="0" rIns="0" bIns="0" rtlCol="0" anchor="ctr"/>
          <a:lstStyle/>
          <a:p>
            <a:pPr indent="0" marL="0">
              <a:buNone/>
            </a:pPr>
            <a:r>
              <a:rPr lang="en-US" sz="1800" dirty="0">
                <a:solidFill>
                  <a:srgbClr val="667085"/>
                </a:solidFill>
              </a:rPr>
              <a:t>Raw long reads reveal increasing overlap as more promoters and transcript isoforms become active.</a:t>
            </a:r>
            <a:endParaRPr lang="en-US" sz="1800" dirty="0"/>
          </a:p>
        </p:txBody>
      </p:sp>
      <p:sp>
        <p:nvSpPr>
          <p:cNvPr id="5" name="Text 3"/>
          <p:cNvSpPr/>
          <p:nvPr/>
        </p:nvSpPr>
        <p:spPr>
          <a:xfrm>
            <a:off x="777240" y="2057400"/>
            <a:ext cx="960120" cy="274320"/>
          </a:xfrm>
          <a:prstGeom prst="rect">
            <a:avLst/>
          </a:prstGeom>
          <a:noFill/>
          <a:ln/>
        </p:spPr>
        <p:txBody>
          <a:bodyPr wrap="square" lIns="0" tIns="0" rIns="0" bIns="0" rtlCol="0" anchor="ctr"/>
          <a:lstStyle/>
          <a:p>
            <a:pPr indent="0" marL="0">
              <a:buNone/>
            </a:pPr>
            <a:r>
              <a:rPr lang="en-US" sz="1200" b="1" dirty="0">
                <a:solidFill>
                  <a:srgbClr val="F28E2B"/>
                </a:solidFill>
              </a:rPr>
              <a:t>2 hpi</a:t>
            </a:r>
            <a:endParaRPr lang="en-US" sz="1200" dirty="0"/>
          </a:p>
        </p:txBody>
      </p:sp>
      <p:sp>
        <p:nvSpPr>
          <p:cNvPr id="6" name="Shape 4"/>
          <p:cNvSpPr/>
          <p:nvPr/>
        </p:nvSpPr>
        <p:spPr>
          <a:xfrm>
            <a:off x="1874520" y="1874520"/>
            <a:ext cx="1207008" cy="329184"/>
          </a:xfrm>
          <a:prstGeom prst="chevron">
            <a:avLst/>
          </a:prstGeom>
          <a:solidFill>
            <a:srgbClr val="4E79A7"/>
          </a:solidFill>
          <a:ln w="12700">
            <a:solidFill>
              <a:srgbClr val="4E79A7"/>
            </a:solidFill>
            <a:prstDash val="solid"/>
          </a:ln>
        </p:spPr>
      </p:sp>
      <p:sp>
        <p:nvSpPr>
          <p:cNvPr id="7" name="Text 5"/>
          <p:cNvSpPr/>
          <p:nvPr/>
        </p:nvSpPr>
        <p:spPr>
          <a:xfrm>
            <a:off x="1874520" y="1920240"/>
            <a:ext cx="1207008" cy="182880"/>
          </a:xfrm>
          <a:prstGeom prst="rect">
            <a:avLst/>
          </a:prstGeom>
          <a:noFill/>
          <a:ln/>
        </p:spPr>
        <p:txBody>
          <a:bodyPr wrap="square" lIns="0" tIns="0" rIns="0" bIns="0" rtlCol="0" anchor="ctr"/>
          <a:lstStyle/>
          <a:p>
            <a:pPr algn="ctr" indent="0" marL="0">
              <a:buNone/>
            </a:pPr>
            <a:r>
              <a:rPr lang="en-US" sz="950" b="1" dirty="0">
                <a:solidFill>
                  <a:srgbClr val="FFFFFF"/>
                </a:solidFill>
              </a:rPr>
              <a:t>A</a:t>
            </a:r>
            <a:endParaRPr lang="en-US" sz="950" dirty="0"/>
          </a:p>
        </p:txBody>
      </p:sp>
      <p:sp>
        <p:nvSpPr>
          <p:cNvPr id="8" name="Shape 6"/>
          <p:cNvSpPr/>
          <p:nvPr/>
        </p:nvSpPr>
        <p:spPr>
          <a:xfrm>
            <a:off x="3017520" y="1874520"/>
            <a:ext cx="1207008" cy="329184"/>
          </a:xfrm>
          <a:prstGeom prst="chevron">
            <a:avLst/>
          </a:prstGeom>
          <a:solidFill>
            <a:srgbClr val="1F8A8A"/>
          </a:solidFill>
          <a:ln w="12700">
            <a:solidFill>
              <a:srgbClr val="1F8A8A"/>
            </a:solidFill>
            <a:prstDash val="solid"/>
          </a:ln>
        </p:spPr>
      </p:sp>
      <p:sp>
        <p:nvSpPr>
          <p:cNvPr id="9" name="Text 7"/>
          <p:cNvSpPr/>
          <p:nvPr/>
        </p:nvSpPr>
        <p:spPr>
          <a:xfrm>
            <a:off x="3017520" y="1920240"/>
            <a:ext cx="1207008" cy="182880"/>
          </a:xfrm>
          <a:prstGeom prst="rect">
            <a:avLst/>
          </a:prstGeom>
          <a:noFill/>
          <a:ln/>
        </p:spPr>
        <p:txBody>
          <a:bodyPr wrap="square" lIns="0" tIns="0" rIns="0" bIns="0" rtlCol="0" anchor="ctr"/>
          <a:lstStyle/>
          <a:p>
            <a:pPr algn="ctr" indent="0" marL="0">
              <a:buNone/>
            </a:pPr>
            <a:r>
              <a:rPr lang="en-US" sz="950" b="1" dirty="0">
                <a:solidFill>
                  <a:srgbClr val="FFFFFF"/>
                </a:solidFill>
              </a:rPr>
              <a:t>B</a:t>
            </a:r>
            <a:endParaRPr lang="en-US" sz="950" dirty="0"/>
          </a:p>
        </p:txBody>
      </p:sp>
      <p:sp>
        <p:nvSpPr>
          <p:cNvPr id="10" name="Shape 8"/>
          <p:cNvSpPr/>
          <p:nvPr/>
        </p:nvSpPr>
        <p:spPr>
          <a:xfrm>
            <a:off x="4160520" y="1874520"/>
            <a:ext cx="1207008" cy="329184"/>
          </a:xfrm>
          <a:prstGeom prst="chevron">
            <a:avLst/>
          </a:prstGeom>
          <a:solidFill>
            <a:srgbClr val="4E79A7"/>
          </a:solidFill>
          <a:ln w="12700">
            <a:solidFill>
              <a:srgbClr val="4E79A7"/>
            </a:solidFill>
            <a:prstDash val="solid"/>
          </a:ln>
        </p:spPr>
      </p:sp>
      <p:sp>
        <p:nvSpPr>
          <p:cNvPr id="11" name="Text 9"/>
          <p:cNvSpPr/>
          <p:nvPr/>
        </p:nvSpPr>
        <p:spPr>
          <a:xfrm>
            <a:off x="4160520" y="1920240"/>
            <a:ext cx="1207008" cy="182880"/>
          </a:xfrm>
          <a:prstGeom prst="rect">
            <a:avLst/>
          </a:prstGeom>
          <a:noFill/>
          <a:ln/>
        </p:spPr>
        <p:txBody>
          <a:bodyPr wrap="square" lIns="0" tIns="0" rIns="0" bIns="0" rtlCol="0" anchor="ctr"/>
          <a:lstStyle/>
          <a:p>
            <a:pPr algn="ctr" indent="0" marL="0">
              <a:buNone/>
            </a:pPr>
            <a:r>
              <a:rPr lang="en-US" sz="950" b="1" dirty="0">
                <a:solidFill>
                  <a:srgbClr val="FFFFFF"/>
                </a:solidFill>
              </a:rPr>
              <a:t>C</a:t>
            </a:r>
            <a:endParaRPr lang="en-US" sz="950" dirty="0"/>
          </a:p>
        </p:txBody>
      </p:sp>
      <p:sp>
        <p:nvSpPr>
          <p:cNvPr id="12" name="Shape 10"/>
          <p:cNvSpPr/>
          <p:nvPr/>
        </p:nvSpPr>
        <p:spPr>
          <a:xfrm rot="10800000">
            <a:off x="5303520" y="1874520"/>
            <a:ext cx="1207008" cy="329184"/>
          </a:xfrm>
          <a:prstGeom prst="chevron">
            <a:avLst/>
          </a:prstGeom>
          <a:solidFill>
            <a:srgbClr val="1F8A8A"/>
          </a:solidFill>
          <a:ln w="12700">
            <a:solidFill>
              <a:srgbClr val="1F8A8A"/>
            </a:solidFill>
            <a:prstDash val="solid"/>
          </a:ln>
        </p:spPr>
      </p:sp>
      <p:sp>
        <p:nvSpPr>
          <p:cNvPr id="13" name="Text 11"/>
          <p:cNvSpPr/>
          <p:nvPr/>
        </p:nvSpPr>
        <p:spPr>
          <a:xfrm>
            <a:off x="5303520" y="1920240"/>
            <a:ext cx="1207008" cy="182880"/>
          </a:xfrm>
          <a:prstGeom prst="rect">
            <a:avLst/>
          </a:prstGeom>
          <a:noFill/>
          <a:ln/>
        </p:spPr>
        <p:txBody>
          <a:bodyPr wrap="square" lIns="0" tIns="0" rIns="0" bIns="0" rtlCol="0" anchor="ctr"/>
          <a:lstStyle/>
          <a:p>
            <a:pPr algn="ctr" indent="0" marL="0">
              <a:buNone/>
            </a:pPr>
            <a:r>
              <a:rPr lang="en-US" sz="950" b="1" dirty="0">
                <a:solidFill>
                  <a:srgbClr val="FFFFFF"/>
                </a:solidFill>
              </a:rPr>
              <a:t>D</a:t>
            </a:r>
            <a:endParaRPr lang="en-US" sz="950" dirty="0"/>
          </a:p>
        </p:txBody>
      </p:sp>
      <p:sp>
        <p:nvSpPr>
          <p:cNvPr id="14" name="Shape 12"/>
          <p:cNvSpPr/>
          <p:nvPr/>
        </p:nvSpPr>
        <p:spPr>
          <a:xfrm>
            <a:off x="6446520" y="1874520"/>
            <a:ext cx="1207008" cy="329184"/>
          </a:xfrm>
          <a:prstGeom prst="chevron">
            <a:avLst/>
          </a:prstGeom>
          <a:solidFill>
            <a:srgbClr val="4E79A7"/>
          </a:solidFill>
          <a:ln w="12700">
            <a:solidFill>
              <a:srgbClr val="4E79A7"/>
            </a:solidFill>
            <a:prstDash val="solid"/>
          </a:ln>
        </p:spPr>
      </p:sp>
      <p:sp>
        <p:nvSpPr>
          <p:cNvPr id="15" name="Text 13"/>
          <p:cNvSpPr/>
          <p:nvPr/>
        </p:nvSpPr>
        <p:spPr>
          <a:xfrm>
            <a:off x="6446520" y="1920240"/>
            <a:ext cx="1207008" cy="182880"/>
          </a:xfrm>
          <a:prstGeom prst="rect">
            <a:avLst/>
          </a:prstGeom>
          <a:noFill/>
          <a:ln/>
        </p:spPr>
        <p:txBody>
          <a:bodyPr wrap="square" lIns="0" tIns="0" rIns="0" bIns="0" rtlCol="0" anchor="ctr"/>
          <a:lstStyle/>
          <a:p>
            <a:pPr algn="ctr" indent="0" marL="0">
              <a:buNone/>
            </a:pPr>
            <a:r>
              <a:rPr lang="en-US" sz="950" b="1" dirty="0">
                <a:solidFill>
                  <a:srgbClr val="FFFFFF"/>
                </a:solidFill>
              </a:rPr>
              <a:t>E</a:t>
            </a:r>
            <a:endParaRPr lang="en-US" sz="950" dirty="0"/>
          </a:p>
        </p:txBody>
      </p:sp>
      <p:sp>
        <p:nvSpPr>
          <p:cNvPr id="16" name="Shape 14"/>
          <p:cNvSpPr/>
          <p:nvPr/>
        </p:nvSpPr>
        <p:spPr>
          <a:xfrm>
            <a:off x="1874520" y="2423160"/>
            <a:ext cx="2171700" cy="0"/>
          </a:xfrm>
          <a:prstGeom prst="line">
            <a:avLst/>
          </a:prstGeom>
          <a:noFill/>
          <a:ln w="30480">
            <a:solidFill>
              <a:srgbClr val="F28E2B"/>
            </a:solidFill>
            <a:prstDash val="solid"/>
            <a:headEnd type="none"/>
            <a:tailEnd type="triangle"/>
          </a:ln>
        </p:spPr>
      </p:sp>
      <p:sp>
        <p:nvSpPr>
          <p:cNvPr id="17" name="Text 15"/>
          <p:cNvSpPr/>
          <p:nvPr/>
        </p:nvSpPr>
        <p:spPr>
          <a:xfrm>
            <a:off x="1874520" y="2276856"/>
            <a:ext cx="2171700" cy="164592"/>
          </a:xfrm>
          <a:prstGeom prst="rect">
            <a:avLst/>
          </a:prstGeom>
          <a:noFill/>
          <a:ln/>
        </p:spPr>
        <p:txBody>
          <a:bodyPr wrap="square" lIns="0" tIns="0" rIns="0" bIns="0" rtlCol="0" anchor="ctr"/>
          <a:lstStyle/>
          <a:p>
            <a:pPr indent="0" marL="0">
              <a:buNone/>
            </a:pPr>
            <a:endParaRPr lang="en-US" sz="950" dirty="0"/>
          </a:p>
        </p:txBody>
      </p:sp>
      <p:sp>
        <p:nvSpPr>
          <p:cNvPr id="18" name="Shape 16"/>
          <p:cNvSpPr/>
          <p:nvPr/>
        </p:nvSpPr>
        <p:spPr>
          <a:xfrm>
            <a:off x="2560320" y="2624328"/>
            <a:ext cx="2857500" cy="0"/>
          </a:xfrm>
          <a:prstGeom prst="line">
            <a:avLst/>
          </a:prstGeom>
          <a:noFill/>
          <a:ln w="30480">
            <a:solidFill>
              <a:srgbClr val="1F8A8A"/>
            </a:solidFill>
            <a:prstDash val="solid"/>
            <a:headEnd type="none"/>
            <a:tailEnd type="triangle"/>
          </a:ln>
        </p:spPr>
      </p:sp>
      <p:sp>
        <p:nvSpPr>
          <p:cNvPr id="19" name="Text 17"/>
          <p:cNvSpPr/>
          <p:nvPr/>
        </p:nvSpPr>
        <p:spPr>
          <a:xfrm>
            <a:off x="2560320" y="2478024"/>
            <a:ext cx="2857500" cy="164592"/>
          </a:xfrm>
          <a:prstGeom prst="rect">
            <a:avLst/>
          </a:prstGeom>
          <a:noFill/>
          <a:ln/>
        </p:spPr>
        <p:txBody>
          <a:bodyPr wrap="square" lIns="0" tIns="0" rIns="0" bIns="0" rtlCol="0" anchor="ctr"/>
          <a:lstStyle/>
          <a:p>
            <a:pPr indent="0" marL="0">
              <a:buNone/>
            </a:pPr>
            <a:endParaRPr lang="en-US" sz="950" dirty="0"/>
          </a:p>
        </p:txBody>
      </p:sp>
      <p:sp>
        <p:nvSpPr>
          <p:cNvPr id="20" name="Shape 18"/>
          <p:cNvSpPr/>
          <p:nvPr/>
        </p:nvSpPr>
        <p:spPr>
          <a:xfrm>
            <a:off x="3246120" y="2825496"/>
            <a:ext cx="3543300" cy="0"/>
          </a:xfrm>
          <a:prstGeom prst="line">
            <a:avLst/>
          </a:prstGeom>
          <a:noFill/>
          <a:ln w="30480">
            <a:solidFill>
              <a:srgbClr val="4E79A7"/>
            </a:solidFill>
            <a:prstDash val="solid"/>
            <a:headEnd type="none"/>
            <a:tailEnd type="triangle"/>
          </a:ln>
        </p:spPr>
      </p:sp>
      <p:sp>
        <p:nvSpPr>
          <p:cNvPr id="21" name="Text 19"/>
          <p:cNvSpPr/>
          <p:nvPr/>
        </p:nvSpPr>
        <p:spPr>
          <a:xfrm>
            <a:off x="3246120" y="2679192"/>
            <a:ext cx="3543300" cy="164592"/>
          </a:xfrm>
          <a:prstGeom prst="rect">
            <a:avLst/>
          </a:prstGeom>
          <a:noFill/>
          <a:ln/>
        </p:spPr>
        <p:txBody>
          <a:bodyPr wrap="square" lIns="0" tIns="0" rIns="0" bIns="0" rtlCol="0" anchor="ctr"/>
          <a:lstStyle/>
          <a:p>
            <a:pPr indent="0" marL="0">
              <a:buNone/>
            </a:pPr>
            <a:endParaRPr lang="en-US" sz="950" dirty="0"/>
          </a:p>
        </p:txBody>
      </p:sp>
      <p:sp>
        <p:nvSpPr>
          <p:cNvPr id="22" name="Text 20"/>
          <p:cNvSpPr/>
          <p:nvPr/>
        </p:nvSpPr>
        <p:spPr>
          <a:xfrm>
            <a:off x="777240" y="3364992"/>
            <a:ext cx="960120" cy="274320"/>
          </a:xfrm>
          <a:prstGeom prst="rect">
            <a:avLst/>
          </a:prstGeom>
          <a:noFill/>
          <a:ln/>
        </p:spPr>
        <p:txBody>
          <a:bodyPr wrap="square" lIns="0" tIns="0" rIns="0" bIns="0" rtlCol="0" anchor="ctr"/>
          <a:lstStyle/>
          <a:p>
            <a:pPr indent="0" marL="0">
              <a:buNone/>
            </a:pPr>
            <a:r>
              <a:rPr lang="en-US" sz="1200" b="1" dirty="0">
                <a:solidFill>
                  <a:srgbClr val="1F8A8A"/>
                </a:solidFill>
              </a:rPr>
              <a:t>8 hpi</a:t>
            </a:r>
            <a:endParaRPr lang="en-US" sz="1200" dirty="0"/>
          </a:p>
        </p:txBody>
      </p:sp>
      <p:sp>
        <p:nvSpPr>
          <p:cNvPr id="23" name="Shape 21"/>
          <p:cNvSpPr/>
          <p:nvPr/>
        </p:nvSpPr>
        <p:spPr>
          <a:xfrm>
            <a:off x="1874520" y="3182112"/>
            <a:ext cx="1207008" cy="329184"/>
          </a:xfrm>
          <a:prstGeom prst="chevron">
            <a:avLst/>
          </a:prstGeom>
          <a:solidFill>
            <a:srgbClr val="4E79A7"/>
          </a:solidFill>
          <a:ln w="12700">
            <a:solidFill>
              <a:srgbClr val="4E79A7"/>
            </a:solidFill>
            <a:prstDash val="solid"/>
          </a:ln>
        </p:spPr>
      </p:sp>
      <p:sp>
        <p:nvSpPr>
          <p:cNvPr id="24" name="Text 22"/>
          <p:cNvSpPr/>
          <p:nvPr/>
        </p:nvSpPr>
        <p:spPr>
          <a:xfrm>
            <a:off x="1874520" y="3227832"/>
            <a:ext cx="1207008" cy="182880"/>
          </a:xfrm>
          <a:prstGeom prst="rect">
            <a:avLst/>
          </a:prstGeom>
          <a:noFill/>
          <a:ln/>
        </p:spPr>
        <p:txBody>
          <a:bodyPr wrap="square" lIns="0" tIns="0" rIns="0" bIns="0" rtlCol="0" anchor="ctr"/>
          <a:lstStyle/>
          <a:p>
            <a:pPr algn="ctr" indent="0" marL="0">
              <a:buNone/>
            </a:pPr>
            <a:r>
              <a:rPr lang="en-US" sz="950" b="1" dirty="0">
                <a:solidFill>
                  <a:srgbClr val="FFFFFF"/>
                </a:solidFill>
              </a:rPr>
              <a:t>A</a:t>
            </a:r>
            <a:endParaRPr lang="en-US" sz="950" dirty="0"/>
          </a:p>
        </p:txBody>
      </p:sp>
      <p:sp>
        <p:nvSpPr>
          <p:cNvPr id="25" name="Shape 23"/>
          <p:cNvSpPr/>
          <p:nvPr/>
        </p:nvSpPr>
        <p:spPr>
          <a:xfrm>
            <a:off x="3017520" y="3182112"/>
            <a:ext cx="1207008" cy="329184"/>
          </a:xfrm>
          <a:prstGeom prst="chevron">
            <a:avLst/>
          </a:prstGeom>
          <a:solidFill>
            <a:srgbClr val="1F8A8A"/>
          </a:solidFill>
          <a:ln w="12700">
            <a:solidFill>
              <a:srgbClr val="1F8A8A"/>
            </a:solidFill>
            <a:prstDash val="solid"/>
          </a:ln>
        </p:spPr>
      </p:sp>
      <p:sp>
        <p:nvSpPr>
          <p:cNvPr id="26" name="Text 24"/>
          <p:cNvSpPr/>
          <p:nvPr/>
        </p:nvSpPr>
        <p:spPr>
          <a:xfrm>
            <a:off x="3017520" y="3227832"/>
            <a:ext cx="1207008" cy="182880"/>
          </a:xfrm>
          <a:prstGeom prst="rect">
            <a:avLst/>
          </a:prstGeom>
          <a:noFill/>
          <a:ln/>
        </p:spPr>
        <p:txBody>
          <a:bodyPr wrap="square" lIns="0" tIns="0" rIns="0" bIns="0" rtlCol="0" anchor="ctr"/>
          <a:lstStyle/>
          <a:p>
            <a:pPr algn="ctr" indent="0" marL="0">
              <a:buNone/>
            </a:pPr>
            <a:r>
              <a:rPr lang="en-US" sz="950" b="1" dirty="0">
                <a:solidFill>
                  <a:srgbClr val="FFFFFF"/>
                </a:solidFill>
              </a:rPr>
              <a:t>B</a:t>
            </a:r>
            <a:endParaRPr lang="en-US" sz="950" dirty="0"/>
          </a:p>
        </p:txBody>
      </p:sp>
      <p:sp>
        <p:nvSpPr>
          <p:cNvPr id="27" name="Shape 25"/>
          <p:cNvSpPr/>
          <p:nvPr/>
        </p:nvSpPr>
        <p:spPr>
          <a:xfrm>
            <a:off x="4160520" y="3182112"/>
            <a:ext cx="1207008" cy="329184"/>
          </a:xfrm>
          <a:prstGeom prst="chevron">
            <a:avLst/>
          </a:prstGeom>
          <a:solidFill>
            <a:srgbClr val="4E79A7"/>
          </a:solidFill>
          <a:ln w="12700">
            <a:solidFill>
              <a:srgbClr val="4E79A7"/>
            </a:solidFill>
            <a:prstDash val="solid"/>
          </a:ln>
        </p:spPr>
      </p:sp>
      <p:sp>
        <p:nvSpPr>
          <p:cNvPr id="28" name="Text 26"/>
          <p:cNvSpPr/>
          <p:nvPr/>
        </p:nvSpPr>
        <p:spPr>
          <a:xfrm>
            <a:off x="4160520" y="3227832"/>
            <a:ext cx="1207008" cy="182880"/>
          </a:xfrm>
          <a:prstGeom prst="rect">
            <a:avLst/>
          </a:prstGeom>
          <a:noFill/>
          <a:ln/>
        </p:spPr>
        <p:txBody>
          <a:bodyPr wrap="square" lIns="0" tIns="0" rIns="0" bIns="0" rtlCol="0" anchor="ctr"/>
          <a:lstStyle/>
          <a:p>
            <a:pPr algn="ctr" indent="0" marL="0">
              <a:buNone/>
            </a:pPr>
            <a:r>
              <a:rPr lang="en-US" sz="950" b="1" dirty="0">
                <a:solidFill>
                  <a:srgbClr val="FFFFFF"/>
                </a:solidFill>
              </a:rPr>
              <a:t>C</a:t>
            </a:r>
            <a:endParaRPr lang="en-US" sz="950" dirty="0"/>
          </a:p>
        </p:txBody>
      </p:sp>
      <p:sp>
        <p:nvSpPr>
          <p:cNvPr id="29" name="Shape 27"/>
          <p:cNvSpPr/>
          <p:nvPr/>
        </p:nvSpPr>
        <p:spPr>
          <a:xfrm rot="10800000">
            <a:off x="5303520" y="3182112"/>
            <a:ext cx="1207008" cy="329184"/>
          </a:xfrm>
          <a:prstGeom prst="chevron">
            <a:avLst/>
          </a:prstGeom>
          <a:solidFill>
            <a:srgbClr val="1F8A8A"/>
          </a:solidFill>
          <a:ln w="12700">
            <a:solidFill>
              <a:srgbClr val="1F8A8A"/>
            </a:solidFill>
            <a:prstDash val="solid"/>
          </a:ln>
        </p:spPr>
      </p:sp>
      <p:sp>
        <p:nvSpPr>
          <p:cNvPr id="30" name="Text 28"/>
          <p:cNvSpPr/>
          <p:nvPr/>
        </p:nvSpPr>
        <p:spPr>
          <a:xfrm>
            <a:off x="5303520" y="3227832"/>
            <a:ext cx="1207008" cy="182880"/>
          </a:xfrm>
          <a:prstGeom prst="rect">
            <a:avLst/>
          </a:prstGeom>
          <a:noFill/>
          <a:ln/>
        </p:spPr>
        <p:txBody>
          <a:bodyPr wrap="square" lIns="0" tIns="0" rIns="0" bIns="0" rtlCol="0" anchor="ctr"/>
          <a:lstStyle/>
          <a:p>
            <a:pPr algn="ctr" indent="0" marL="0">
              <a:buNone/>
            </a:pPr>
            <a:r>
              <a:rPr lang="en-US" sz="950" b="1" dirty="0">
                <a:solidFill>
                  <a:srgbClr val="FFFFFF"/>
                </a:solidFill>
              </a:rPr>
              <a:t>D</a:t>
            </a:r>
            <a:endParaRPr lang="en-US" sz="950" dirty="0"/>
          </a:p>
        </p:txBody>
      </p:sp>
      <p:sp>
        <p:nvSpPr>
          <p:cNvPr id="31" name="Shape 29"/>
          <p:cNvSpPr/>
          <p:nvPr/>
        </p:nvSpPr>
        <p:spPr>
          <a:xfrm>
            <a:off x="6446520" y="3182112"/>
            <a:ext cx="1207008" cy="329184"/>
          </a:xfrm>
          <a:prstGeom prst="chevron">
            <a:avLst/>
          </a:prstGeom>
          <a:solidFill>
            <a:srgbClr val="4E79A7"/>
          </a:solidFill>
          <a:ln w="12700">
            <a:solidFill>
              <a:srgbClr val="4E79A7"/>
            </a:solidFill>
            <a:prstDash val="solid"/>
          </a:ln>
        </p:spPr>
      </p:sp>
      <p:sp>
        <p:nvSpPr>
          <p:cNvPr id="32" name="Text 30"/>
          <p:cNvSpPr/>
          <p:nvPr/>
        </p:nvSpPr>
        <p:spPr>
          <a:xfrm>
            <a:off x="6446520" y="3227832"/>
            <a:ext cx="1207008" cy="182880"/>
          </a:xfrm>
          <a:prstGeom prst="rect">
            <a:avLst/>
          </a:prstGeom>
          <a:noFill/>
          <a:ln/>
        </p:spPr>
        <p:txBody>
          <a:bodyPr wrap="square" lIns="0" tIns="0" rIns="0" bIns="0" rtlCol="0" anchor="ctr"/>
          <a:lstStyle/>
          <a:p>
            <a:pPr algn="ctr" indent="0" marL="0">
              <a:buNone/>
            </a:pPr>
            <a:r>
              <a:rPr lang="en-US" sz="950" b="1" dirty="0">
                <a:solidFill>
                  <a:srgbClr val="FFFFFF"/>
                </a:solidFill>
              </a:rPr>
              <a:t>E</a:t>
            </a:r>
            <a:endParaRPr lang="en-US" sz="950" dirty="0"/>
          </a:p>
        </p:txBody>
      </p:sp>
      <p:sp>
        <p:nvSpPr>
          <p:cNvPr id="33" name="Shape 31"/>
          <p:cNvSpPr/>
          <p:nvPr/>
        </p:nvSpPr>
        <p:spPr>
          <a:xfrm>
            <a:off x="1874520" y="3730752"/>
            <a:ext cx="2171700" cy="0"/>
          </a:xfrm>
          <a:prstGeom prst="line">
            <a:avLst/>
          </a:prstGeom>
          <a:noFill/>
          <a:ln w="30480">
            <a:solidFill>
              <a:srgbClr val="F28E2B"/>
            </a:solidFill>
            <a:prstDash val="solid"/>
            <a:headEnd type="none"/>
            <a:tailEnd type="triangle"/>
          </a:ln>
        </p:spPr>
      </p:sp>
      <p:sp>
        <p:nvSpPr>
          <p:cNvPr id="34" name="Text 32"/>
          <p:cNvSpPr/>
          <p:nvPr/>
        </p:nvSpPr>
        <p:spPr>
          <a:xfrm>
            <a:off x="1874520" y="3584448"/>
            <a:ext cx="2171700" cy="164592"/>
          </a:xfrm>
          <a:prstGeom prst="rect">
            <a:avLst/>
          </a:prstGeom>
          <a:noFill/>
          <a:ln/>
        </p:spPr>
        <p:txBody>
          <a:bodyPr wrap="square" lIns="0" tIns="0" rIns="0" bIns="0" rtlCol="0" anchor="ctr"/>
          <a:lstStyle/>
          <a:p>
            <a:pPr indent="0" marL="0">
              <a:buNone/>
            </a:pPr>
            <a:endParaRPr lang="en-US" sz="950" dirty="0"/>
          </a:p>
        </p:txBody>
      </p:sp>
      <p:sp>
        <p:nvSpPr>
          <p:cNvPr id="35" name="Shape 33"/>
          <p:cNvSpPr/>
          <p:nvPr/>
        </p:nvSpPr>
        <p:spPr>
          <a:xfrm>
            <a:off x="2560320" y="3931920"/>
            <a:ext cx="2857500" cy="0"/>
          </a:xfrm>
          <a:prstGeom prst="line">
            <a:avLst/>
          </a:prstGeom>
          <a:noFill/>
          <a:ln w="30480">
            <a:solidFill>
              <a:srgbClr val="1F8A8A"/>
            </a:solidFill>
            <a:prstDash val="solid"/>
            <a:headEnd type="none"/>
            <a:tailEnd type="triangle"/>
          </a:ln>
        </p:spPr>
      </p:sp>
      <p:sp>
        <p:nvSpPr>
          <p:cNvPr id="36" name="Text 34"/>
          <p:cNvSpPr/>
          <p:nvPr/>
        </p:nvSpPr>
        <p:spPr>
          <a:xfrm>
            <a:off x="2560320" y="3785616"/>
            <a:ext cx="2857500" cy="164592"/>
          </a:xfrm>
          <a:prstGeom prst="rect">
            <a:avLst/>
          </a:prstGeom>
          <a:noFill/>
          <a:ln/>
        </p:spPr>
        <p:txBody>
          <a:bodyPr wrap="square" lIns="0" tIns="0" rIns="0" bIns="0" rtlCol="0" anchor="ctr"/>
          <a:lstStyle/>
          <a:p>
            <a:pPr indent="0" marL="0">
              <a:buNone/>
            </a:pPr>
            <a:endParaRPr lang="en-US" sz="950" dirty="0"/>
          </a:p>
        </p:txBody>
      </p:sp>
      <p:sp>
        <p:nvSpPr>
          <p:cNvPr id="37" name="Shape 35"/>
          <p:cNvSpPr/>
          <p:nvPr/>
        </p:nvSpPr>
        <p:spPr>
          <a:xfrm>
            <a:off x="3246120" y="4133088"/>
            <a:ext cx="3543300" cy="0"/>
          </a:xfrm>
          <a:prstGeom prst="line">
            <a:avLst/>
          </a:prstGeom>
          <a:noFill/>
          <a:ln w="30480">
            <a:solidFill>
              <a:srgbClr val="4E79A7"/>
            </a:solidFill>
            <a:prstDash val="solid"/>
            <a:headEnd type="none"/>
            <a:tailEnd type="triangle"/>
          </a:ln>
        </p:spPr>
      </p:sp>
      <p:sp>
        <p:nvSpPr>
          <p:cNvPr id="38" name="Text 36"/>
          <p:cNvSpPr/>
          <p:nvPr/>
        </p:nvSpPr>
        <p:spPr>
          <a:xfrm>
            <a:off x="3246120" y="3986784"/>
            <a:ext cx="3543300" cy="164592"/>
          </a:xfrm>
          <a:prstGeom prst="rect">
            <a:avLst/>
          </a:prstGeom>
          <a:noFill/>
          <a:ln/>
        </p:spPr>
        <p:txBody>
          <a:bodyPr wrap="square" lIns="0" tIns="0" rIns="0" bIns="0" rtlCol="0" anchor="ctr"/>
          <a:lstStyle/>
          <a:p>
            <a:pPr indent="0" marL="0">
              <a:buNone/>
            </a:pPr>
            <a:endParaRPr lang="en-US" sz="950" dirty="0"/>
          </a:p>
        </p:txBody>
      </p:sp>
      <p:sp>
        <p:nvSpPr>
          <p:cNvPr id="39" name="Shape 37"/>
          <p:cNvSpPr/>
          <p:nvPr/>
        </p:nvSpPr>
        <p:spPr>
          <a:xfrm>
            <a:off x="3931920" y="3730752"/>
            <a:ext cx="3543300" cy="0"/>
          </a:xfrm>
          <a:prstGeom prst="line">
            <a:avLst/>
          </a:prstGeom>
          <a:noFill/>
          <a:ln w="30480">
            <a:solidFill>
              <a:srgbClr val="E15759"/>
            </a:solidFill>
            <a:prstDash val="solid"/>
            <a:headEnd type="none"/>
            <a:tailEnd type="triangle"/>
          </a:ln>
        </p:spPr>
      </p:sp>
      <p:sp>
        <p:nvSpPr>
          <p:cNvPr id="40" name="Text 38"/>
          <p:cNvSpPr/>
          <p:nvPr/>
        </p:nvSpPr>
        <p:spPr>
          <a:xfrm>
            <a:off x="3931920" y="3584448"/>
            <a:ext cx="3543300" cy="164592"/>
          </a:xfrm>
          <a:prstGeom prst="rect">
            <a:avLst/>
          </a:prstGeom>
          <a:noFill/>
          <a:ln/>
        </p:spPr>
        <p:txBody>
          <a:bodyPr wrap="square" lIns="0" tIns="0" rIns="0" bIns="0" rtlCol="0" anchor="ctr"/>
          <a:lstStyle/>
          <a:p>
            <a:pPr indent="0" marL="0">
              <a:buNone/>
            </a:pPr>
            <a:endParaRPr lang="en-US" sz="950" dirty="0"/>
          </a:p>
        </p:txBody>
      </p:sp>
      <p:sp>
        <p:nvSpPr>
          <p:cNvPr id="41" name="Shape 39"/>
          <p:cNvSpPr/>
          <p:nvPr/>
        </p:nvSpPr>
        <p:spPr>
          <a:xfrm>
            <a:off x="4617720" y="3931920"/>
            <a:ext cx="2171700" cy="0"/>
          </a:xfrm>
          <a:prstGeom prst="line">
            <a:avLst/>
          </a:prstGeom>
          <a:noFill/>
          <a:ln w="30480">
            <a:solidFill>
              <a:srgbClr val="9C6FB6"/>
            </a:solidFill>
            <a:prstDash val="solid"/>
            <a:headEnd type="none"/>
            <a:tailEnd type="triangle"/>
          </a:ln>
        </p:spPr>
      </p:sp>
      <p:sp>
        <p:nvSpPr>
          <p:cNvPr id="42" name="Text 40"/>
          <p:cNvSpPr/>
          <p:nvPr/>
        </p:nvSpPr>
        <p:spPr>
          <a:xfrm>
            <a:off x="4617720" y="3785616"/>
            <a:ext cx="2171700" cy="164592"/>
          </a:xfrm>
          <a:prstGeom prst="rect">
            <a:avLst/>
          </a:prstGeom>
          <a:noFill/>
          <a:ln/>
        </p:spPr>
        <p:txBody>
          <a:bodyPr wrap="square" lIns="0" tIns="0" rIns="0" bIns="0" rtlCol="0" anchor="ctr"/>
          <a:lstStyle/>
          <a:p>
            <a:pPr indent="0" marL="0">
              <a:buNone/>
            </a:pPr>
            <a:endParaRPr lang="en-US" sz="950" dirty="0"/>
          </a:p>
        </p:txBody>
      </p:sp>
      <p:sp>
        <p:nvSpPr>
          <p:cNvPr id="43" name="Shape 41"/>
          <p:cNvSpPr/>
          <p:nvPr/>
        </p:nvSpPr>
        <p:spPr>
          <a:xfrm>
            <a:off x="1874520" y="4133088"/>
            <a:ext cx="2857500" cy="0"/>
          </a:xfrm>
          <a:prstGeom prst="line">
            <a:avLst/>
          </a:prstGeom>
          <a:noFill/>
          <a:ln w="30480">
            <a:solidFill>
              <a:srgbClr val="F28E2B"/>
            </a:solidFill>
            <a:prstDash val="solid"/>
            <a:headEnd type="none"/>
            <a:tailEnd type="triangle"/>
          </a:ln>
        </p:spPr>
      </p:sp>
      <p:sp>
        <p:nvSpPr>
          <p:cNvPr id="44" name="Text 42"/>
          <p:cNvSpPr/>
          <p:nvPr/>
        </p:nvSpPr>
        <p:spPr>
          <a:xfrm>
            <a:off x="1874520" y="3986784"/>
            <a:ext cx="2857500" cy="164592"/>
          </a:xfrm>
          <a:prstGeom prst="rect">
            <a:avLst/>
          </a:prstGeom>
          <a:noFill/>
          <a:ln/>
        </p:spPr>
        <p:txBody>
          <a:bodyPr wrap="square" lIns="0" tIns="0" rIns="0" bIns="0" rtlCol="0" anchor="ctr"/>
          <a:lstStyle/>
          <a:p>
            <a:pPr indent="0" marL="0">
              <a:buNone/>
            </a:pPr>
            <a:endParaRPr lang="en-US" sz="950" dirty="0"/>
          </a:p>
        </p:txBody>
      </p:sp>
      <p:sp>
        <p:nvSpPr>
          <p:cNvPr id="45" name="Text 43"/>
          <p:cNvSpPr/>
          <p:nvPr/>
        </p:nvSpPr>
        <p:spPr>
          <a:xfrm>
            <a:off x="777240" y="4672584"/>
            <a:ext cx="960120" cy="274320"/>
          </a:xfrm>
          <a:prstGeom prst="rect">
            <a:avLst/>
          </a:prstGeom>
          <a:noFill/>
          <a:ln/>
        </p:spPr>
        <p:txBody>
          <a:bodyPr wrap="square" lIns="0" tIns="0" rIns="0" bIns="0" rtlCol="0" anchor="ctr"/>
          <a:lstStyle/>
          <a:p>
            <a:pPr indent="0" marL="0">
              <a:buNone/>
            </a:pPr>
            <a:r>
              <a:rPr lang="en-US" sz="1200" b="1" dirty="0">
                <a:solidFill>
                  <a:srgbClr val="4E79A7"/>
                </a:solidFill>
              </a:rPr>
              <a:t>24–48 hpi</a:t>
            </a:r>
            <a:endParaRPr lang="en-US" sz="1200" dirty="0"/>
          </a:p>
        </p:txBody>
      </p:sp>
      <p:sp>
        <p:nvSpPr>
          <p:cNvPr id="46" name="Shape 44"/>
          <p:cNvSpPr/>
          <p:nvPr/>
        </p:nvSpPr>
        <p:spPr>
          <a:xfrm>
            <a:off x="1874520" y="4489704"/>
            <a:ext cx="1207008" cy="329184"/>
          </a:xfrm>
          <a:prstGeom prst="chevron">
            <a:avLst/>
          </a:prstGeom>
          <a:solidFill>
            <a:srgbClr val="4E79A7"/>
          </a:solidFill>
          <a:ln w="12700">
            <a:solidFill>
              <a:srgbClr val="4E79A7"/>
            </a:solidFill>
            <a:prstDash val="solid"/>
          </a:ln>
        </p:spPr>
      </p:sp>
      <p:sp>
        <p:nvSpPr>
          <p:cNvPr id="47" name="Text 45"/>
          <p:cNvSpPr/>
          <p:nvPr/>
        </p:nvSpPr>
        <p:spPr>
          <a:xfrm>
            <a:off x="1874520" y="4535424"/>
            <a:ext cx="1207008" cy="182880"/>
          </a:xfrm>
          <a:prstGeom prst="rect">
            <a:avLst/>
          </a:prstGeom>
          <a:noFill/>
          <a:ln/>
        </p:spPr>
        <p:txBody>
          <a:bodyPr wrap="square" lIns="0" tIns="0" rIns="0" bIns="0" rtlCol="0" anchor="ctr"/>
          <a:lstStyle/>
          <a:p>
            <a:pPr algn="ctr" indent="0" marL="0">
              <a:buNone/>
            </a:pPr>
            <a:r>
              <a:rPr lang="en-US" sz="950" b="1" dirty="0">
                <a:solidFill>
                  <a:srgbClr val="FFFFFF"/>
                </a:solidFill>
              </a:rPr>
              <a:t>A</a:t>
            </a:r>
            <a:endParaRPr lang="en-US" sz="950" dirty="0"/>
          </a:p>
        </p:txBody>
      </p:sp>
      <p:sp>
        <p:nvSpPr>
          <p:cNvPr id="48" name="Shape 46"/>
          <p:cNvSpPr/>
          <p:nvPr/>
        </p:nvSpPr>
        <p:spPr>
          <a:xfrm>
            <a:off x="3017520" y="4489704"/>
            <a:ext cx="1207008" cy="329184"/>
          </a:xfrm>
          <a:prstGeom prst="chevron">
            <a:avLst/>
          </a:prstGeom>
          <a:solidFill>
            <a:srgbClr val="1F8A8A"/>
          </a:solidFill>
          <a:ln w="12700">
            <a:solidFill>
              <a:srgbClr val="1F8A8A"/>
            </a:solidFill>
            <a:prstDash val="solid"/>
          </a:ln>
        </p:spPr>
      </p:sp>
      <p:sp>
        <p:nvSpPr>
          <p:cNvPr id="49" name="Text 47"/>
          <p:cNvSpPr/>
          <p:nvPr/>
        </p:nvSpPr>
        <p:spPr>
          <a:xfrm>
            <a:off x="3017520" y="4535424"/>
            <a:ext cx="1207008" cy="182880"/>
          </a:xfrm>
          <a:prstGeom prst="rect">
            <a:avLst/>
          </a:prstGeom>
          <a:noFill/>
          <a:ln/>
        </p:spPr>
        <p:txBody>
          <a:bodyPr wrap="square" lIns="0" tIns="0" rIns="0" bIns="0" rtlCol="0" anchor="ctr"/>
          <a:lstStyle/>
          <a:p>
            <a:pPr algn="ctr" indent="0" marL="0">
              <a:buNone/>
            </a:pPr>
            <a:r>
              <a:rPr lang="en-US" sz="950" b="1" dirty="0">
                <a:solidFill>
                  <a:srgbClr val="FFFFFF"/>
                </a:solidFill>
              </a:rPr>
              <a:t>B</a:t>
            </a:r>
            <a:endParaRPr lang="en-US" sz="950" dirty="0"/>
          </a:p>
        </p:txBody>
      </p:sp>
      <p:sp>
        <p:nvSpPr>
          <p:cNvPr id="50" name="Shape 48"/>
          <p:cNvSpPr/>
          <p:nvPr/>
        </p:nvSpPr>
        <p:spPr>
          <a:xfrm>
            <a:off x="4160520" y="4489704"/>
            <a:ext cx="1207008" cy="329184"/>
          </a:xfrm>
          <a:prstGeom prst="chevron">
            <a:avLst/>
          </a:prstGeom>
          <a:solidFill>
            <a:srgbClr val="4E79A7"/>
          </a:solidFill>
          <a:ln w="12700">
            <a:solidFill>
              <a:srgbClr val="4E79A7"/>
            </a:solidFill>
            <a:prstDash val="solid"/>
          </a:ln>
        </p:spPr>
      </p:sp>
      <p:sp>
        <p:nvSpPr>
          <p:cNvPr id="51" name="Text 49"/>
          <p:cNvSpPr/>
          <p:nvPr/>
        </p:nvSpPr>
        <p:spPr>
          <a:xfrm>
            <a:off x="4160520" y="4535424"/>
            <a:ext cx="1207008" cy="182880"/>
          </a:xfrm>
          <a:prstGeom prst="rect">
            <a:avLst/>
          </a:prstGeom>
          <a:noFill/>
          <a:ln/>
        </p:spPr>
        <p:txBody>
          <a:bodyPr wrap="square" lIns="0" tIns="0" rIns="0" bIns="0" rtlCol="0" anchor="ctr"/>
          <a:lstStyle/>
          <a:p>
            <a:pPr algn="ctr" indent="0" marL="0">
              <a:buNone/>
            </a:pPr>
            <a:r>
              <a:rPr lang="en-US" sz="950" b="1" dirty="0">
                <a:solidFill>
                  <a:srgbClr val="FFFFFF"/>
                </a:solidFill>
              </a:rPr>
              <a:t>C</a:t>
            </a:r>
            <a:endParaRPr lang="en-US" sz="950" dirty="0"/>
          </a:p>
        </p:txBody>
      </p:sp>
      <p:sp>
        <p:nvSpPr>
          <p:cNvPr id="52" name="Shape 50"/>
          <p:cNvSpPr/>
          <p:nvPr/>
        </p:nvSpPr>
        <p:spPr>
          <a:xfrm rot="10800000">
            <a:off x="5303520" y="4489704"/>
            <a:ext cx="1207008" cy="329184"/>
          </a:xfrm>
          <a:prstGeom prst="chevron">
            <a:avLst/>
          </a:prstGeom>
          <a:solidFill>
            <a:srgbClr val="1F8A8A"/>
          </a:solidFill>
          <a:ln w="12700">
            <a:solidFill>
              <a:srgbClr val="1F8A8A"/>
            </a:solidFill>
            <a:prstDash val="solid"/>
          </a:ln>
        </p:spPr>
      </p:sp>
      <p:sp>
        <p:nvSpPr>
          <p:cNvPr id="53" name="Text 51"/>
          <p:cNvSpPr/>
          <p:nvPr/>
        </p:nvSpPr>
        <p:spPr>
          <a:xfrm>
            <a:off x="5303520" y="4535424"/>
            <a:ext cx="1207008" cy="182880"/>
          </a:xfrm>
          <a:prstGeom prst="rect">
            <a:avLst/>
          </a:prstGeom>
          <a:noFill/>
          <a:ln/>
        </p:spPr>
        <p:txBody>
          <a:bodyPr wrap="square" lIns="0" tIns="0" rIns="0" bIns="0" rtlCol="0" anchor="ctr"/>
          <a:lstStyle/>
          <a:p>
            <a:pPr algn="ctr" indent="0" marL="0">
              <a:buNone/>
            </a:pPr>
            <a:r>
              <a:rPr lang="en-US" sz="950" b="1" dirty="0">
                <a:solidFill>
                  <a:srgbClr val="FFFFFF"/>
                </a:solidFill>
              </a:rPr>
              <a:t>D</a:t>
            </a:r>
            <a:endParaRPr lang="en-US" sz="950" dirty="0"/>
          </a:p>
        </p:txBody>
      </p:sp>
      <p:sp>
        <p:nvSpPr>
          <p:cNvPr id="54" name="Shape 52"/>
          <p:cNvSpPr/>
          <p:nvPr/>
        </p:nvSpPr>
        <p:spPr>
          <a:xfrm>
            <a:off x="6446520" y="4489704"/>
            <a:ext cx="1207008" cy="329184"/>
          </a:xfrm>
          <a:prstGeom prst="chevron">
            <a:avLst/>
          </a:prstGeom>
          <a:solidFill>
            <a:srgbClr val="4E79A7"/>
          </a:solidFill>
          <a:ln w="12700">
            <a:solidFill>
              <a:srgbClr val="4E79A7"/>
            </a:solidFill>
            <a:prstDash val="solid"/>
          </a:ln>
        </p:spPr>
      </p:sp>
      <p:sp>
        <p:nvSpPr>
          <p:cNvPr id="55" name="Text 53"/>
          <p:cNvSpPr/>
          <p:nvPr/>
        </p:nvSpPr>
        <p:spPr>
          <a:xfrm>
            <a:off x="6446520" y="4535424"/>
            <a:ext cx="1207008" cy="182880"/>
          </a:xfrm>
          <a:prstGeom prst="rect">
            <a:avLst/>
          </a:prstGeom>
          <a:noFill/>
          <a:ln/>
        </p:spPr>
        <p:txBody>
          <a:bodyPr wrap="square" lIns="0" tIns="0" rIns="0" bIns="0" rtlCol="0" anchor="ctr"/>
          <a:lstStyle/>
          <a:p>
            <a:pPr algn="ctr" indent="0" marL="0">
              <a:buNone/>
            </a:pPr>
            <a:r>
              <a:rPr lang="en-US" sz="950" b="1" dirty="0">
                <a:solidFill>
                  <a:srgbClr val="FFFFFF"/>
                </a:solidFill>
              </a:rPr>
              <a:t>E</a:t>
            </a:r>
            <a:endParaRPr lang="en-US" sz="950" dirty="0"/>
          </a:p>
        </p:txBody>
      </p:sp>
      <p:sp>
        <p:nvSpPr>
          <p:cNvPr id="56" name="Shape 54"/>
          <p:cNvSpPr/>
          <p:nvPr/>
        </p:nvSpPr>
        <p:spPr>
          <a:xfrm>
            <a:off x="1874520" y="5038344"/>
            <a:ext cx="2171700" cy="0"/>
          </a:xfrm>
          <a:prstGeom prst="line">
            <a:avLst/>
          </a:prstGeom>
          <a:noFill/>
          <a:ln w="30480">
            <a:solidFill>
              <a:srgbClr val="F28E2B"/>
            </a:solidFill>
            <a:prstDash val="solid"/>
            <a:headEnd type="none"/>
            <a:tailEnd type="triangle"/>
          </a:ln>
        </p:spPr>
      </p:sp>
      <p:sp>
        <p:nvSpPr>
          <p:cNvPr id="57" name="Text 55"/>
          <p:cNvSpPr/>
          <p:nvPr/>
        </p:nvSpPr>
        <p:spPr>
          <a:xfrm>
            <a:off x="1874520" y="4892040"/>
            <a:ext cx="2171700" cy="164592"/>
          </a:xfrm>
          <a:prstGeom prst="rect">
            <a:avLst/>
          </a:prstGeom>
          <a:noFill/>
          <a:ln/>
        </p:spPr>
        <p:txBody>
          <a:bodyPr wrap="square" lIns="0" tIns="0" rIns="0" bIns="0" rtlCol="0" anchor="ctr"/>
          <a:lstStyle/>
          <a:p>
            <a:pPr indent="0" marL="0">
              <a:buNone/>
            </a:pPr>
            <a:endParaRPr lang="en-US" sz="950" dirty="0"/>
          </a:p>
        </p:txBody>
      </p:sp>
      <p:sp>
        <p:nvSpPr>
          <p:cNvPr id="58" name="Shape 56"/>
          <p:cNvSpPr/>
          <p:nvPr/>
        </p:nvSpPr>
        <p:spPr>
          <a:xfrm>
            <a:off x="2560320" y="5239512"/>
            <a:ext cx="2857500" cy="0"/>
          </a:xfrm>
          <a:prstGeom prst="line">
            <a:avLst/>
          </a:prstGeom>
          <a:noFill/>
          <a:ln w="30480">
            <a:solidFill>
              <a:srgbClr val="1F8A8A"/>
            </a:solidFill>
            <a:prstDash val="solid"/>
            <a:headEnd type="none"/>
            <a:tailEnd type="triangle"/>
          </a:ln>
        </p:spPr>
      </p:sp>
      <p:sp>
        <p:nvSpPr>
          <p:cNvPr id="59" name="Text 57"/>
          <p:cNvSpPr/>
          <p:nvPr/>
        </p:nvSpPr>
        <p:spPr>
          <a:xfrm>
            <a:off x="2560320" y="5093208"/>
            <a:ext cx="2857500" cy="164592"/>
          </a:xfrm>
          <a:prstGeom prst="rect">
            <a:avLst/>
          </a:prstGeom>
          <a:noFill/>
          <a:ln/>
        </p:spPr>
        <p:txBody>
          <a:bodyPr wrap="square" lIns="0" tIns="0" rIns="0" bIns="0" rtlCol="0" anchor="ctr"/>
          <a:lstStyle/>
          <a:p>
            <a:pPr indent="0" marL="0">
              <a:buNone/>
            </a:pPr>
            <a:endParaRPr lang="en-US" sz="950" dirty="0"/>
          </a:p>
        </p:txBody>
      </p:sp>
      <p:sp>
        <p:nvSpPr>
          <p:cNvPr id="60" name="Shape 58"/>
          <p:cNvSpPr/>
          <p:nvPr/>
        </p:nvSpPr>
        <p:spPr>
          <a:xfrm>
            <a:off x="3246120" y="5440680"/>
            <a:ext cx="3543300" cy="0"/>
          </a:xfrm>
          <a:prstGeom prst="line">
            <a:avLst/>
          </a:prstGeom>
          <a:noFill/>
          <a:ln w="30480">
            <a:solidFill>
              <a:srgbClr val="4E79A7"/>
            </a:solidFill>
            <a:prstDash val="solid"/>
            <a:headEnd type="none"/>
            <a:tailEnd type="triangle"/>
          </a:ln>
        </p:spPr>
      </p:sp>
      <p:sp>
        <p:nvSpPr>
          <p:cNvPr id="61" name="Text 59"/>
          <p:cNvSpPr/>
          <p:nvPr/>
        </p:nvSpPr>
        <p:spPr>
          <a:xfrm>
            <a:off x="3246120" y="5294376"/>
            <a:ext cx="3543300" cy="164592"/>
          </a:xfrm>
          <a:prstGeom prst="rect">
            <a:avLst/>
          </a:prstGeom>
          <a:noFill/>
          <a:ln/>
        </p:spPr>
        <p:txBody>
          <a:bodyPr wrap="square" lIns="0" tIns="0" rIns="0" bIns="0" rtlCol="0" anchor="ctr"/>
          <a:lstStyle/>
          <a:p>
            <a:pPr indent="0" marL="0">
              <a:buNone/>
            </a:pPr>
            <a:endParaRPr lang="en-US" sz="950" dirty="0"/>
          </a:p>
        </p:txBody>
      </p:sp>
      <p:sp>
        <p:nvSpPr>
          <p:cNvPr id="62" name="Shape 60"/>
          <p:cNvSpPr/>
          <p:nvPr/>
        </p:nvSpPr>
        <p:spPr>
          <a:xfrm>
            <a:off x="3931920" y="5038344"/>
            <a:ext cx="3543300" cy="0"/>
          </a:xfrm>
          <a:prstGeom prst="line">
            <a:avLst/>
          </a:prstGeom>
          <a:noFill/>
          <a:ln w="30480">
            <a:solidFill>
              <a:srgbClr val="E15759"/>
            </a:solidFill>
            <a:prstDash val="solid"/>
            <a:headEnd type="none"/>
            <a:tailEnd type="triangle"/>
          </a:ln>
        </p:spPr>
      </p:sp>
      <p:sp>
        <p:nvSpPr>
          <p:cNvPr id="63" name="Text 61"/>
          <p:cNvSpPr/>
          <p:nvPr/>
        </p:nvSpPr>
        <p:spPr>
          <a:xfrm>
            <a:off x="3931920" y="4892040"/>
            <a:ext cx="3543300" cy="164592"/>
          </a:xfrm>
          <a:prstGeom prst="rect">
            <a:avLst/>
          </a:prstGeom>
          <a:noFill/>
          <a:ln/>
        </p:spPr>
        <p:txBody>
          <a:bodyPr wrap="square" lIns="0" tIns="0" rIns="0" bIns="0" rtlCol="0" anchor="ctr"/>
          <a:lstStyle/>
          <a:p>
            <a:pPr indent="0" marL="0">
              <a:buNone/>
            </a:pPr>
            <a:endParaRPr lang="en-US" sz="950" dirty="0"/>
          </a:p>
        </p:txBody>
      </p:sp>
      <p:sp>
        <p:nvSpPr>
          <p:cNvPr id="64" name="Shape 62"/>
          <p:cNvSpPr/>
          <p:nvPr/>
        </p:nvSpPr>
        <p:spPr>
          <a:xfrm>
            <a:off x="4617720" y="5239512"/>
            <a:ext cx="2171700" cy="0"/>
          </a:xfrm>
          <a:prstGeom prst="line">
            <a:avLst/>
          </a:prstGeom>
          <a:noFill/>
          <a:ln w="30480">
            <a:solidFill>
              <a:srgbClr val="9C6FB6"/>
            </a:solidFill>
            <a:prstDash val="solid"/>
            <a:headEnd type="none"/>
            <a:tailEnd type="triangle"/>
          </a:ln>
        </p:spPr>
      </p:sp>
      <p:sp>
        <p:nvSpPr>
          <p:cNvPr id="65" name="Text 63"/>
          <p:cNvSpPr/>
          <p:nvPr/>
        </p:nvSpPr>
        <p:spPr>
          <a:xfrm>
            <a:off x="4617720" y="5093208"/>
            <a:ext cx="2171700" cy="164592"/>
          </a:xfrm>
          <a:prstGeom prst="rect">
            <a:avLst/>
          </a:prstGeom>
          <a:noFill/>
          <a:ln/>
        </p:spPr>
        <p:txBody>
          <a:bodyPr wrap="square" lIns="0" tIns="0" rIns="0" bIns="0" rtlCol="0" anchor="ctr"/>
          <a:lstStyle/>
          <a:p>
            <a:pPr indent="0" marL="0">
              <a:buNone/>
            </a:pPr>
            <a:endParaRPr lang="en-US" sz="950" dirty="0"/>
          </a:p>
        </p:txBody>
      </p:sp>
      <p:sp>
        <p:nvSpPr>
          <p:cNvPr id="66" name="Shape 64"/>
          <p:cNvSpPr/>
          <p:nvPr/>
        </p:nvSpPr>
        <p:spPr>
          <a:xfrm>
            <a:off x="1874520" y="5440680"/>
            <a:ext cx="2857500" cy="0"/>
          </a:xfrm>
          <a:prstGeom prst="line">
            <a:avLst/>
          </a:prstGeom>
          <a:noFill/>
          <a:ln w="30480">
            <a:solidFill>
              <a:srgbClr val="F28E2B"/>
            </a:solidFill>
            <a:prstDash val="solid"/>
            <a:headEnd type="none"/>
            <a:tailEnd type="triangle"/>
          </a:ln>
        </p:spPr>
      </p:sp>
      <p:sp>
        <p:nvSpPr>
          <p:cNvPr id="67" name="Text 65"/>
          <p:cNvSpPr/>
          <p:nvPr/>
        </p:nvSpPr>
        <p:spPr>
          <a:xfrm>
            <a:off x="1874520" y="5294376"/>
            <a:ext cx="2857500" cy="164592"/>
          </a:xfrm>
          <a:prstGeom prst="rect">
            <a:avLst/>
          </a:prstGeom>
          <a:noFill/>
          <a:ln/>
        </p:spPr>
        <p:txBody>
          <a:bodyPr wrap="square" lIns="0" tIns="0" rIns="0" bIns="0" rtlCol="0" anchor="ctr"/>
          <a:lstStyle/>
          <a:p>
            <a:pPr indent="0" marL="0">
              <a:buNone/>
            </a:pPr>
            <a:endParaRPr lang="en-US" sz="950" dirty="0"/>
          </a:p>
        </p:txBody>
      </p:sp>
      <p:sp>
        <p:nvSpPr>
          <p:cNvPr id="68" name="Shape 66"/>
          <p:cNvSpPr/>
          <p:nvPr/>
        </p:nvSpPr>
        <p:spPr>
          <a:xfrm>
            <a:off x="2560320" y="5038344"/>
            <a:ext cx="3543300" cy="0"/>
          </a:xfrm>
          <a:prstGeom prst="line">
            <a:avLst/>
          </a:prstGeom>
          <a:noFill/>
          <a:ln w="30480">
            <a:solidFill>
              <a:srgbClr val="1F8A8A"/>
            </a:solidFill>
            <a:prstDash val="solid"/>
            <a:headEnd type="none"/>
            <a:tailEnd type="triangle"/>
          </a:ln>
        </p:spPr>
      </p:sp>
      <p:sp>
        <p:nvSpPr>
          <p:cNvPr id="69" name="Text 67"/>
          <p:cNvSpPr/>
          <p:nvPr/>
        </p:nvSpPr>
        <p:spPr>
          <a:xfrm>
            <a:off x="2560320" y="4892040"/>
            <a:ext cx="3543300" cy="164592"/>
          </a:xfrm>
          <a:prstGeom prst="rect">
            <a:avLst/>
          </a:prstGeom>
          <a:noFill/>
          <a:ln/>
        </p:spPr>
        <p:txBody>
          <a:bodyPr wrap="square" lIns="0" tIns="0" rIns="0" bIns="0" rtlCol="0" anchor="ctr"/>
          <a:lstStyle/>
          <a:p>
            <a:pPr indent="0" marL="0">
              <a:buNone/>
            </a:pPr>
            <a:endParaRPr lang="en-US" sz="950" dirty="0"/>
          </a:p>
        </p:txBody>
      </p:sp>
      <p:sp>
        <p:nvSpPr>
          <p:cNvPr id="70" name="Shape 68"/>
          <p:cNvSpPr/>
          <p:nvPr/>
        </p:nvSpPr>
        <p:spPr>
          <a:xfrm>
            <a:off x="3246120" y="5239512"/>
            <a:ext cx="4229100" cy="0"/>
          </a:xfrm>
          <a:prstGeom prst="line">
            <a:avLst/>
          </a:prstGeom>
          <a:noFill/>
          <a:ln w="30480">
            <a:solidFill>
              <a:srgbClr val="4E79A7"/>
            </a:solidFill>
            <a:prstDash val="solid"/>
            <a:headEnd type="none"/>
            <a:tailEnd type="triangle"/>
          </a:ln>
        </p:spPr>
      </p:sp>
      <p:sp>
        <p:nvSpPr>
          <p:cNvPr id="71" name="Text 69"/>
          <p:cNvSpPr/>
          <p:nvPr/>
        </p:nvSpPr>
        <p:spPr>
          <a:xfrm>
            <a:off x="3246120" y="5093208"/>
            <a:ext cx="4229100" cy="164592"/>
          </a:xfrm>
          <a:prstGeom prst="rect">
            <a:avLst/>
          </a:prstGeom>
          <a:noFill/>
          <a:ln/>
        </p:spPr>
        <p:txBody>
          <a:bodyPr wrap="square" lIns="0" tIns="0" rIns="0" bIns="0" rtlCol="0" anchor="ctr"/>
          <a:lstStyle/>
          <a:p>
            <a:pPr indent="0" marL="0">
              <a:buNone/>
            </a:pPr>
            <a:endParaRPr lang="en-US" sz="950" dirty="0"/>
          </a:p>
        </p:txBody>
      </p:sp>
      <p:sp>
        <p:nvSpPr>
          <p:cNvPr id="72" name="Shape 70"/>
          <p:cNvSpPr/>
          <p:nvPr/>
        </p:nvSpPr>
        <p:spPr>
          <a:xfrm>
            <a:off x="3931920" y="5440680"/>
            <a:ext cx="2171700" cy="0"/>
          </a:xfrm>
          <a:prstGeom prst="line">
            <a:avLst/>
          </a:prstGeom>
          <a:noFill/>
          <a:ln w="30480">
            <a:solidFill>
              <a:srgbClr val="E15759"/>
            </a:solidFill>
            <a:prstDash val="solid"/>
            <a:headEnd type="none"/>
            <a:tailEnd type="triangle"/>
          </a:ln>
        </p:spPr>
      </p:sp>
      <p:sp>
        <p:nvSpPr>
          <p:cNvPr id="73" name="Text 71"/>
          <p:cNvSpPr/>
          <p:nvPr/>
        </p:nvSpPr>
        <p:spPr>
          <a:xfrm>
            <a:off x="3931920" y="5294376"/>
            <a:ext cx="2171700" cy="164592"/>
          </a:xfrm>
          <a:prstGeom prst="rect">
            <a:avLst/>
          </a:prstGeom>
          <a:noFill/>
          <a:ln/>
        </p:spPr>
        <p:txBody>
          <a:bodyPr wrap="square" lIns="0" tIns="0" rIns="0" bIns="0" rtlCol="0" anchor="ctr"/>
          <a:lstStyle/>
          <a:p>
            <a:pPr indent="0" marL="0">
              <a:buNone/>
            </a:pPr>
            <a:endParaRPr lang="en-US" sz="950" dirty="0"/>
          </a:p>
        </p:txBody>
      </p:sp>
      <p:sp>
        <p:nvSpPr>
          <p:cNvPr id="74" name="Text 72"/>
          <p:cNvSpPr/>
          <p:nvPr/>
        </p:nvSpPr>
        <p:spPr>
          <a:xfrm>
            <a:off x="8412480" y="1874520"/>
            <a:ext cx="2286000" cy="292608"/>
          </a:xfrm>
          <a:prstGeom prst="rect">
            <a:avLst/>
          </a:prstGeom>
          <a:noFill/>
          <a:ln/>
        </p:spPr>
        <p:txBody>
          <a:bodyPr wrap="square" lIns="0" tIns="0" rIns="0" bIns="0" rtlCol="0" anchor="ctr"/>
          <a:lstStyle/>
          <a:p>
            <a:pPr indent="0" marL="0">
              <a:buNone/>
            </a:pPr>
            <a:r>
              <a:rPr lang="en-US" sz="1300" b="1" dirty="0">
                <a:solidFill>
                  <a:srgbClr val="1F8A8A"/>
                </a:solidFill>
              </a:rPr>
              <a:t>Potential consequence</a:t>
            </a:r>
            <a:endParaRPr lang="en-US" sz="1300" dirty="0"/>
          </a:p>
        </p:txBody>
      </p:sp>
      <p:sp>
        <p:nvSpPr>
          <p:cNvPr id="75" name="Text 73"/>
          <p:cNvSpPr/>
          <p:nvPr/>
        </p:nvSpPr>
        <p:spPr>
          <a:xfrm>
            <a:off x="8412480" y="2267712"/>
            <a:ext cx="2880360" cy="1078992"/>
          </a:xfrm>
          <a:prstGeom prst="rect">
            <a:avLst/>
          </a:prstGeom>
          <a:noFill/>
          <a:ln/>
        </p:spPr>
        <p:txBody>
          <a:bodyPr wrap="square" lIns="381" tIns="381" rIns="381" bIns="381" rtlCol="0" anchor="ctr"/>
          <a:lstStyle/>
          <a:p>
            <a:pPr indent="0" marL="0">
              <a:buNone/>
            </a:pPr>
            <a:r>
              <a:rPr lang="en-US" sz="1950" b="1" dirty="0">
                <a:solidFill>
                  <a:srgbClr val="12263A"/>
                </a:solidFill>
              </a:rPr>
              <a:t>Convergent and divergent transcription can create collisions or promoter interference.</a:t>
            </a:r>
            <a:endParaRPr lang="en-US" sz="1950" dirty="0"/>
          </a:p>
        </p:txBody>
      </p:sp>
      <p:sp>
        <p:nvSpPr>
          <p:cNvPr id="76" name="Text 74"/>
          <p:cNvSpPr/>
          <p:nvPr/>
        </p:nvSpPr>
        <p:spPr>
          <a:xfrm>
            <a:off x="8412480" y="3767328"/>
            <a:ext cx="2880360" cy="1234440"/>
          </a:xfrm>
          <a:prstGeom prst="rect">
            <a:avLst/>
          </a:prstGeom>
          <a:noFill/>
          <a:ln/>
        </p:spPr>
        <p:txBody>
          <a:bodyPr wrap="square" lIns="254" tIns="254" rIns="254" bIns="254" rtlCol="0" anchor="ctr"/>
          <a:lstStyle/>
          <a:p>
            <a:pPr indent="0" marL="0">
              <a:buNone/>
            </a:pPr>
            <a:r>
              <a:rPr lang="en-US" sz="1550" dirty="0">
                <a:solidFill>
                  <a:srgbClr val="667085"/>
                </a:solidFill>
              </a:rPr>
              <a:t>The study proposes transcriptional interference as one possible regulatory layer — an interpretation that still requires direct mechanistic testing.</a:t>
            </a:r>
            <a:endParaRPr lang="en-US" sz="1550" dirty="0"/>
          </a:p>
        </p:txBody>
      </p:sp>
      <p:sp>
        <p:nvSpPr>
          <p:cNvPr id="77" name="Text 75"/>
          <p:cNvSpPr/>
          <p:nvPr/>
        </p:nvSpPr>
        <p:spPr>
          <a:xfrm>
            <a:off x="8412480" y="5285232"/>
            <a:ext cx="1298448" cy="310896"/>
          </a:xfrm>
          <a:prstGeom prst="rect">
            <a:avLst/>
          </a:prstGeom>
          <a:solidFill>
            <a:srgbClr val="FCEBEC"/>
          </a:solidFill>
          <a:ln>
            <a:solidFill>
              <a:srgbClr val="FCEBEC"/>
            </a:solidFill>
          </a:ln>
        </p:spPr>
        <p:txBody>
          <a:bodyPr wrap="square" lIns="508" tIns="508" rIns="508" bIns="508" rtlCol="0" anchor="ctr"/>
          <a:lstStyle/>
          <a:p>
            <a:pPr algn="ctr" indent="0" marL="0">
              <a:buNone/>
            </a:pPr>
            <a:r>
              <a:rPr lang="en-US" sz="1120" b="1" dirty="0">
                <a:solidFill>
                  <a:srgbClr val="E15759"/>
                </a:solidFill>
              </a:rPr>
              <a:t>HYPOTHESIS</a:t>
            </a:r>
            <a:endParaRPr lang="en-US" sz="1120" dirty="0"/>
          </a:p>
        </p:txBody>
      </p:sp>
      <p:sp>
        <p:nvSpPr>
          <p:cNvPr id="78" name="Text 76"/>
          <p:cNvSpPr/>
          <p:nvPr/>
        </p:nvSpPr>
        <p:spPr>
          <a:xfrm>
            <a:off x="640080" y="6236208"/>
            <a:ext cx="10881360" cy="182880"/>
          </a:xfrm>
          <a:prstGeom prst="rect">
            <a:avLst/>
          </a:prstGeom>
          <a:noFill/>
          <a:ln/>
        </p:spPr>
        <p:txBody>
          <a:bodyPr wrap="square" lIns="0" tIns="0" rIns="0" bIns="0" rtlCol="0" anchor="ctr"/>
          <a:lstStyle/>
          <a:p>
            <a:pPr algn="l" indent="0" marL="0">
              <a:buNone/>
            </a:pPr>
            <a:r>
              <a:rPr lang="en-US" sz="850" i="1" dirty="0">
                <a:solidFill>
                  <a:srgbClr val="7B8794"/>
                </a:solidFill>
              </a:rPr>
              <a:t>Published observation: transcriptional overlaps increase as infection progresses; regulatory interference is a proposed interpretation.</a:t>
            </a:r>
            <a:endParaRPr lang="en-US" sz="850" dirty="0"/>
          </a:p>
        </p:txBody>
      </p:sp>
      <p:sp>
        <p:nvSpPr>
          <p:cNvPr id="25" name="Slide Number Placeholder 0"/>
          <p:cNvSpPr>
            <a:spLocks noGrp="1"/>
          </p:cNvSpPr>
          <p:nvPr>
            <p:ph type="sldNum" sz="quarter" idx="4294967295"/>
          </p:nvPr>
        </p:nvSpPr>
        <p:spPr>
          <a:xfrm>
            <a:off x="11722608" y="6501384"/>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A97A6"/>
                </a:solidFill>
                <a:latin typeface="Aptos"/>
                <a:ea typeface="Aptos"/>
                <a:cs typeface="Apto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94360" y="347472"/>
            <a:ext cx="4114800" cy="228600"/>
          </a:xfrm>
          <a:prstGeom prst="rect">
            <a:avLst/>
          </a:prstGeom>
          <a:noFill/>
          <a:ln/>
        </p:spPr>
        <p:txBody>
          <a:bodyPr wrap="square" lIns="0" tIns="0" rIns="0" bIns="0" rtlCol="0" anchor="ctr"/>
          <a:lstStyle/>
          <a:p>
            <a:pPr indent="0" marL="0">
              <a:buNone/>
            </a:pPr>
            <a:r>
              <a:rPr lang="en-US" sz="1050" b="1" spc="160" kern="0" dirty="0">
                <a:solidFill>
                  <a:srgbClr val="1F8A8A"/>
                </a:solidFill>
              </a:rPr>
              <a:t>INTEGRATED MODEL</a:t>
            </a:r>
            <a:endParaRPr lang="en-US" sz="1050" dirty="0"/>
          </a:p>
        </p:txBody>
      </p:sp>
      <p:sp>
        <p:nvSpPr>
          <p:cNvPr id="3" name="Text 1"/>
          <p:cNvSpPr/>
          <p:nvPr/>
        </p:nvSpPr>
        <p:spPr>
          <a:xfrm>
            <a:off x="594360" y="603504"/>
            <a:ext cx="10972800" cy="493776"/>
          </a:xfrm>
          <a:prstGeom prst="rect">
            <a:avLst/>
          </a:prstGeom>
          <a:noFill/>
          <a:ln/>
        </p:spPr>
        <p:txBody>
          <a:bodyPr wrap="square" lIns="0" tIns="0" rIns="0" bIns="0" rtlCol="0" anchor="ctr"/>
          <a:lstStyle/>
          <a:p>
            <a:pPr indent="0" marL="0">
              <a:buNone/>
            </a:pPr>
            <a:r>
              <a:rPr lang="en-US" sz="2800" b="1" dirty="0">
                <a:solidFill>
                  <a:srgbClr val="12263A"/>
                </a:solidFill>
              </a:rPr>
              <a:t>EHV-1 regulation operates at multiple transcript-level layers</a:t>
            </a:r>
            <a:endParaRPr lang="en-US" sz="2800" dirty="0"/>
          </a:p>
        </p:txBody>
      </p:sp>
      <p:sp>
        <p:nvSpPr>
          <p:cNvPr id="4" name="Text 2"/>
          <p:cNvSpPr/>
          <p:nvPr/>
        </p:nvSpPr>
        <p:spPr>
          <a:xfrm>
            <a:off x="676656" y="1170432"/>
            <a:ext cx="9875520" cy="384048"/>
          </a:xfrm>
          <a:prstGeom prst="rect">
            <a:avLst/>
          </a:prstGeom>
          <a:noFill/>
          <a:ln/>
        </p:spPr>
        <p:txBody>
          <a:bodyPr wrap="square" lIns="0" tIns="0" rIns="0" bIns="0" rtlCol="0" anchor="ctr"/>
          <a:lstStyle/>
          <a:p>
            <a:pPr indent="0" marL="0">
              <a:buNone/>
            </a:pPr>
            <a:r>
              <a:rPr lang="en-US" sz="1900" b="1" dirty="0">
                <a:solidFill>
                  <a:srgbClr val="12263A"/>
                </a:solidFill>
              </a:rPr>
              <a:t>Time changes not only how much a gene is transcribed, but which RNA molecule is produced.</a:t>
            </a:r>
            <a:endParaRPr lang="en-US" sz="1900" dirty="0"/>
          </a:p>
        </p:txBody>
      </p:sp>
      <p:sp>
        <p:nvSpPr>
          <p:cNvPr id="5" name="Text 3"/>
          <p:cNvSpPr/>
          <p:nvPr/>
        </p:nvSpPr>
        <p:spPr>
          <a:xfrm>
            <a:off x="758952" y="1920240"/>
            <a:ext cx="1188720" cy="310896"/>
          </a:xfrm>
          <a:prstGeom prst="rect">
            <a:avLst/>
          </a:prstGeom>
          <a:solidFill>
            <a:srgbClr val="FFF2E3"/>
          </a:solidFill>
          <a:ln>
            <a:solidFill>
              <a:srgbClr val="FFF2E3"/>
            </a:solidFill>
          </a:ln>
        </p:spPr>
        <p:txBody>
          <a:bodyPr wrap="square" lIns="0" tIns="0" rIns="0" bIns="0" rtlCol="0" anchor="ctr"/>
          <a:lstStyle/>
          <a:p>
            <a:pPr algn="ctr" indent="0" marL="0">
              <a:buNone/>
            </a:pPr>
            <a:r>
              <a:rPr lang="en-US" sz="1050" b="1" dirty="0">
                <a:solidFill>
                  <a:srgbClr val="F28E2B"/>
                </a:solidFill>
              </a:rPr>
              <a:t>TSS</a:t>
            </a:r>
            <a:endParaRPr lang="en-US" sz="1050" dirty="0"/>
          </a:p>
        </p:txBody>
      </p:sp>
      <p:sp>
        <p:nvSpPr>
          <p:cNvPr id="6" name="Text 4"/>
          <p:cNvSpPr/>
          <p:nvPr/>
        </p:nvSpPr>
        <p:spPr>
          <a:xfrm>
            <a:off x="758952" y="2395728"/>
            <a:ext cx="2331720" cy="365760"/>
          </a:xfrm>
          <a:prstGeom prst="rect">
            <a:avLst/>
          </a:prstGeom>
          <a:noFill/>
          <a:ln/>
        </p:spPr>
        <p:txBody>
          <a:bodyPr wrap="square" lIns="0" tIns="0" rIns="0" bIns="0" rtlCol="0" anchor="ctr"/>
          <a:lstStyle/>
          <a:p>
            <a:pPr indent="0" marL="0">
              <a:buNone/>
            </a:pPr>
            <a:r>
              <a:rPr lang="en-US" sz="2000" b="1" dirty="0">
                <a:solidFill>
                  <a:srgbClr val="12263A"/>
                </a:solidFill>
              </a:rPr>
              <a:t>Promoter choice</a:t>
            </a:r>
            <a:endParaRPr lang="en-US" sz="2000" dirty="0"/>
          </a:p>
        </p:txBody>
      </p:sp>
      <p:sp>
        <p:nvSpPr>
          <p:cNvPr id="7" name="Text 5"/>
          <p:cNvSpPr/>
          <p:nvPr/>
        </p:nvSpPr>
        <p:spPr>
          <a:xfrm>
            <a:off x="758952" y="2907792"/>
            <a:ext cx="2331720" cy="1143000"/>
          </a:xfrm>
          <a:prstGeom prst="rect">
            <a:avLst/>
          </a:prstGeom>
          <a:noFill/>
          <a:ln/>
        </p:spPr>
        <p:txBody>
          <a:bodyPr wrap="square" lIns="254" tIns="254" rIns="254" bIns="254" rtlCol="0" anchor="ctr"/>
          <a:lstStyle/>
          <a:p>
            <a:pPr indent="0" marL="0">
              <a:buNone/>
            </a:pPr>
            <a:r>
              <a:rPr lang="en-US" sz="1520" dirty="0">
                <a:solidFill>
                  <a:srgbClr val="667085"/>
                </a:solidFill>
              </a:rPr>
              <a:t>Alternative initiation changes 5′ UTRs and can expose embedded ORFs.</a:t>
            </a:r>
            <a:endParaRPr lang="en-US" sz="1520" dirty="0"/>
          </a:p>
        </p:txBody>
      </p:sp>
      <p:sp>
        <p:nvSpPr>
          <p:cNvPr id="8" name="Shape 6"/>
          <p:cNvSpPr/>
          <p:nvPr/>
        </p:nvSpPr>
        <p:spPr>
          <a:xfrm>
            <a:off x="1920240" y="4297680"/>
            <a:ext cx="0" cy="640080"/>
          </a:xfrm>
          <a:prstGeom prst="line">
            <a:avLst/>
          </a:prstGeom>
          <a:noFill/>
          <a:ln w="31750">
            <a:solidFill>
              <a:srgbClr val="F28E2B"/>
            </a:solidFill>
            <a:prstDash val="solid"/>
            <a:tailEnd type="triangle"/>
          </a:ln>
        </p:spPr>
      </p:sp>
      <p:sp>
        <p:nvSpPr>
          <p:cNvPr id="9" name="Text 7"/>
          <p:cNvSpPr/>
          <p:nvPr/>
        </p:nvSpPr>
        <p:spPr>
          <a:xfrm>
            <a:off x="3502152" y="1920240"/>
            <a:ext cx="1188720" cy="310896"/>
          </a:xfrm>
          <a:prstGeom prst="rect">
            <a:avLst/>
          </a:prstGeom>
          <a:solidFill>
            <a:srgbClr val="EAF2F8"/>
          </a:solidFill>
          <a:ln>
            <a:solidFill>
              <a:srgbClr val="EAF2F8"/>
            </a:solidFill>
          </a:ln>
        </p:spPr>
        <p:txBody>
          <a:bodyPr wrap="square" lIns="0" tIns="0" rIns="0" bIns="0" rtlCol="0" anchor="ctr"/>
          <a:lstStyle/>
          <a:p>
            <a:pPr algn="ctr" indent="0" marL="0">
              <a:buNone/>
            </a:pPr>
            <a:r>
              <a:rPr lang="en-US" sz="1050" b="1" dirty="0">
                <a:solidFill>
                  <a:srgbClr val="4E79A7"/>
                </a:solidFill>
              </a:rPr>
              <a:t>TES</a:t>
            </a:r>
            <a:endParaRPr lang="en-US" sz="1050" dirty="0"/>
          </a:p>
        </p:txBody>
      </p:sp>
      <p:sp>
        <p:nvSpPr>
          <p:cNvPr id="10" name="Text 8"/>
          <p:cNvSpPr/>
          <p:nvPr/>
        </p:nvSpPr>
        <p:spPr>
          <a:xfrm>
            <a:off x="3502152" y="2395728"/>
            <a:ext cx="2331720" cy="365760"/>
          </a:xfrm>
          <a:prstGeom prst="rect">
            <a:avLst/>
          </a:prstGeom>
          <a:noFill/>
          <a:ln/>
        </p:spPr>
        <p:txBody>
          <a:bodyPr wrap="square" lIns="0" tIns="0" rIns="0" bIns="0" rtlCol="0" anchor="ctr"/>
          <a:lstStyle/>
          <a:p>
            <a:pPr indent="0" marL="0">
              <a:buNone/>
            </a:pPr>
            <a:r>
              <a:rPr lang="en-US" sz="2000" b="1" dirty="0">
                <a:solidFill>
                  <a:srgbClr val="12263A"/>
                </a:solidFill>
              </a:rPr>
              <a:t>Termination choice</a:t>
            </a:r>
            <a:endParaRPr lang="en-US" sz="2000" dirty="0"/>
          </a:p>
        </p:txBody>
      </p:sp>
      <p:sp>
        <p:nvSpPr>
          <p:cNvPr id="11" name="Text 9"/>
          <p:cNvSpPr/>
          <p:nvPr/>
        </p:nvSpPr>
        <p:spPr>
          <a:xfrm>
            <a:off x="3502152" y="2907792"/>
            <a:ext cx="2331720" cy="1143000"/>
          </a:xfrm>
          <a:prstGeom prst="rect">
            <a:avLst/>
          </a:prstGeom>
          <a:noFill/>
          <a:ln/>
        </p:spPr>
        <p:txBody>
          <a:bodyPr wrap="square" lIns="254" tIns="254" rIns="254" bIns="254" rtlCol="0" anchor="ctr"/>
          <a:lstStyle/>
          <a:p>
            <a:pPr indent="0" marL="0">
              <a:buNone/>
            </a:pPr>
            <a:r>
              <a:rPr lang="en-US" sz="1520" dirty="0">
                <a:solidFill>
                  <a:srgbClr val="667085"/>
                </a:solidFill>
              </a:rPr>
              <a:t>Alternative TES usage and co-termination change transcript length and overlap.</a:t>
            </a:r>
            <a:endParaRPr lang="en-US" sz="1520" dirty="0"/>
          </a:p>
        </p:txBody>
      </p:sp>
      <p:sp>
        <p:nvSpPr>
          <p:cNvPr id="12" name="Shape 10"/>
          <p:cNvSpPr/>
          <p:nvPr/>
        </p:nvSpPr>
        <p:spPr>
          <a:xfrm>
            <a:off x="4663440" y="4297680"/>
            <a:ext cx="0" cy="640080"/>
          </a:xfrm>
          <a:prstGeom prst="line">
            <a:avLst/>
          </a:prstGeom>
          <a:noFill/>
          <a:ln w="31750">
            <a:solidFill>
              <a:srgbClr val="4E79A7"/>
            </a:solidFill>
            <a:prstDash val="solid"/>
            <a:tailEnd type="triangle"/>
          </a:ln>
        </p:spPr>
      </p:sp>
      <p:sp>
        <p:nvSpPr>
          <p:cNvPr id="13" name="Text 11"/>
          <p:cNvSpPr/>
          <p:nvPr/>
        </p:nvSpPr>
        <p:spPr>
          <a:xfrm>
            <a:off x="6245352" y="1920240"/>
            <a:ext cx="1188720" cy="310896"/>
          </a:xfrm>
          <a:prstGeom prst="rect">
            <a:avLst/>
          </a:prstGeom>
          <a:solidFill>
            <a:srgbClr val="F4ECF8"/>
          </a:solidFill>
          <a:ln>
            <a:solidFill>
              <a:srgbClr val="F4ECF8"/>
            </a:solidFill>
          </a:ln>
        </p:spPr>
        <p:txBody>
          <a:bodyPr wrap="square" lIns="0" tIns="0" rIns="0" bIns="0" rtlCol="0" anchor="ctr"/>
          <a:lstStyle/>
          <a:p>
            <a:pPr algn="ctr" indent="0" marL="0">
              <a:buNone/>
            </a:pPr>
            <a:r>
              <a:rPr lang="en-US" sz="1050" b="1" dirty="0">
                <a:solidFill>
                  <a:srgbClr val="9C6FB6"/>
                </a:solidFill>
              </a:rPr>
              <a:t>INTRONS</a:t>
            </a:r>
            <a:endParaRPr lang="en-US" sz="1050" dirty="0"/>
          </a:p>
        </p:txBody>
      </p:sp>
      <p:sp>
        <p:nvSpPr>
          <p:cNvPr id="14" name="Text 12"/>
          <p:cNvSpPr/>
          <p:nvPr/>
        </p:nvSpPr>
        <p:spPr>
          <a:xfrm>
            <a:off x="6245352" y="2395728"/>
            <a:ext cx="2331720" cy="365760"/>
          </a:xfrm>
          <a:prstGeom prst="rect">
            <a:avLst/>
          </a:prstGeom>
          <a:noFill/>
          <a:ln/>
        </p:spPr>
        <p:txBody>
          <a:bodyPr wrap="square" lIns="0" tIns="0" rIns="0" bIns="0" rtlCol="0" anchor="ctr"/>
          <a:lstStyle/>
          <a:p>
            <a:pPr indent="0" marL="0">
              <a:buNone/>
            </a:pPr>
            <a:r>
              <a:rPr lang="en-US" sz="2000" b="1" dirty="0">
                <a:solidFill>
                  <a:srgbClr val="12263A"/>
                </a:solidFill>
              </a:rPr>
              <a:t>Splicing</a:t>
            </a:r>
            <a:endParaRPr lang="en-US" sz="2000" dirty="0"/>
          </a:p>
        </p:txBody>
      </p:sp>
      <p:sp>
        <p:nvSpPr>
          <p:cNvPr id="15" name="Text 13"/>
          <p:cNvSpPr/>
          <p:nvPr/>
        </p:nvSpPr>
        <p:spPr>
          <a:xfrm>
            <a:off x="6245352" y="2907792"/>
            <a:ext cx="2331720" cy="1143000"/>
          </a:xfrm>
          <a:prstGeom prst="rect">
            <a:avLst/>
          </a:prstGeom>
          <a:noFill/>
          <a:ln/>
        </p:spPr>
        <p:txBody>
          <a:bodyPr wrap="square" lIns="254" tIns="254" rIns="254" bIns="254" rtlCol="0" anchor="ctr"/>
          <a:lstStyle/>
          <a:p>
            <a:pPr indent="0" marL="0">
              <a:buNone/>
            </a:pPr>
            <a:r>
              <a:rPr lang="en-US" sz="1520" dirty="0">
                <a:solidFill>
                  <a:srgbClr val="667085"/>
                </a:solidFill>
              </a:rPr>
              <a:t>Splice isoform fractions shift strongly with infection stage.</a:t>
            </a:r>
            <a:endParaRPr lang="en-US" sz="1520" dirty="0"/>
          </a:p>
        </p:txBody>
      </p:sp>
      <p:sp>
        <p:nvSpPr>
          <p:cNvPr id="16" name="Shape 14"/>
          <p:cNvSpPr/>
          <p:nvPr/>
        </p:nvSpPr>
        <p:spPr>
          <a:xfrm>
            <a:off x="7406640" y="4297680"/>
            <a:ext cx="0" cy="640080"/>
          </a:xfrm>
          <a:prstGeom prst="line">
            <a:avLst/>
          </a:prstGeom>
          <a:noFill/>
          <a:ln w="31750">
            <a:solidFill>
              <a:srgbClr val="9C6FB6"/>
            </a:solidFill>
            <a:prstDash val="solid"/>
            <a:tailEnd type="triangle"/>
          </a:ln>
        </p:spPr>
      </p:sp>
      <p:sp>
        <p:nvSpPr>
          <p:cNvPr id="17" name="Text 15"/>
          <p:cNvSpPr/>
          <p:nvPr/>
        </p:nvSpPr>
        <p:spPr>
          <a:xfrm>
            <a:off x="8988552" y="1920240"/>
            <a:ext cx="1188720" cy="310896"/>
          </a:xfrm>
          <a:prstGeom prst="rect">
            <a:avLst/>
          </a:prstGeom>
          <a:solidFill>
            <a:srgbClr val="E8F6F5"/>
          </a:solidFill>
          <a:ln>
            <a:solidFill>
              <a:srgbClr val="E8F6F5"/>
            </a:solidFill>
          </a:ln>
        </p:spPr>
        <p:txBody>
          <a:bodyPr wrap="square" lIns="0" tIns="0" rIns="0" bIns="0" rtlCol="0" anchor="ctr"/>
          <a:lstStyle/>
          <a:p>
            <a:pPr algn="ctr" indent="0" marL="0">
              <a:buNone/>
            </a:pPr>
            <a:r>
              <a:rPr lang="en-US" sz="1050" b="1" dirty="0">
                <a:solidFill>
                  <a:srgbClr val="1F8A8A"/>
                </a:solidFill>
              </a:rPr>
              <a:t>TOPOLOGY</a:t>
            </a:r>
            <a:endParaRPr lang="en-US" sz="1050" dirty="0"/>
          </a:p>
        </p:txBody>
      </p:sp>
      <p:sp>
        <p:nvSpPr>
          <p:cNvPr id="18" name="Text 16"/>
          <p:cNvSpPr/>
          <p:nvPr/>
        </p:nvSpPr>
        <p:spPr>
          <a:xfrm>
            <a:off x="8988552" y="2395728"/>
            <a:ext cx="2331720" cy="365760"/>
          </a:xfrm>
          <a:prstGeom prst="rect">
            <a:avLst/>
          </a:prstGeom>
          <a:noFill/>
          <a:ln/>
        </p:spPr>
        <p:txBody>
          <a:bodyPr wrap="square" lIns="0" tIns="0" rIns="0" bIns="0" rtlCol="0" anchor="ctr"/>
          <a:lstStyle/>
          <a:p>
            <a:pPr indent="0" marL="0">
              <a:buNone/>
            </a:pPr>
            <a:r>
              <a:rPr lang="en-US" sz="2000" b="1" dirty="0">
                <a:solidFill>
                  <a:srgbClr val="12263A"/>
                </a:solidFill>
              </a:rPr>
              <a:t>Overlap</a:t>
            </a:r>
            <a:endParaRPr lang="en-US" sz="2000" dirty="0"/>
          </a:p>
        </p:txBody>
      </p:sp>
      <p:sp>
        <p:nvSpPr>
          <p:cNvPr id="19" name="Text 17"/>
          <p:cNvSpPr/>
          <p:nvPr/>
        </p:nvSpPr>
        <p:spPr>
          <a:xfrm>
            <a:off x="8988552" y="2907792"/>
            <a:ext cx="2331720" cy="1143000"/>
          </a:xfrm>
          <a:prstGeom prst="rect">
            <a:avLst/>
          </a:prstGeom>
          <a:noFill/>
          <a:ln/>
        </p:spPr>
        <p:txBody>
          <a:bodyPr wrap="square" lIns="254" tIns="254" rIns="254" bIns="254" rtlCol="0" anchor="ctr"/>
          <a:lstStyle/>
          <a:p>
            <a:pPr indent="0" marL="0">
              <a:buNone/>
            </a:pPr>
            <a:r>
              <a:rPr lang="en-US" sz="1520" dirty="0">
                <a:solidFill>
                  <a:srgbClr val="667085"/>
                </a:solidFill>
              </a:rPr>
              <a:t>Long, complex and antisense RNAs reshape the transcriptional neighborhood.</a:t>
            </a:r>
            <a:endParaRPr lang="en-US" sz="1520" dirty="0"/>
          </a:p>
        </p:txBody>
      </p:sp>
      <p:sp>
        <p:nvSpPr>
          <p:cNvPr id="20" name="Shape 18"/>
          <p:cNvSpPr/>
          <p:nvPr/>
        </p:nvSpPr>
        <p:spPr>
          <a:xfrm>
            <a:off x="10149840" y="4297680"/>
            <a:ext cx="0" cy="640080"/>
          </a:xfrm>
          <a:prstGeom prst="line">
            <a:avLst/>
          </a:prstGeom>
          <a:noFill/>
          <a:ln w="31750">
            <a:solidFill>
              <a:srgbClr val="1F8A8A"/>
            </a:solidFill>
            <a:prstDash val="solid"/>
            <a:tailEnd type="triangle"/>
          </a:ln>
        </p:spPr>
      </p:sp>
      <p:sp>
        <p:nvSpPr>
          <p:cNvPr id="21" name="Text 19"/>
          <p:cNvSpPr/>
          <p:nvPr/>
        </p:nvSpPr>
        <p:spPr>
          <a:xfrm>
            <a:off x="2194560" y="5120640"/>
            <a:ext cx="7818120" cy="658368"/>
          </a:xfrm>
          <a:prstGeom prst="rect">
            <a:avLst/>
          </a:prstGeom>
          <a:solidFill>
            <a:srgbClr val="12263A"/>
          </a:solidFill>
          <a:ln/>
          <a:effectLst>
            <a:outerShdw sx="100000" sy="100000" kx="0" ky="0" algn="bl" rotWithShape="0" blurRad="5.409374798712724e+61" dist="1.4424999463233936e+62" dir="2.1158324305920003e+73">
              <a:srgbClr val="000000">
                <a:alpha val="1.3e+74"/>
              </a:srgbClr>
            </a:outerShdw>
          </a:effectLst>
        </p:spPr>
        <p:txBody>
          <a:bodyPr wrap="square" lIns="0" tIns="0" rIns="0" bIns="0" rtlCol="0" anchor="ctr"/>
          <a:lstStyle/>
          <a:p>
            <a:pPr algn="ctr" indent="0" marL="0">
              <a:buNone/>
            </a:pPr>
            <a:r>
              <a:rPr lang="en-US" sz="2400" b="1" dirty="0">
                <a:solidFill>
                  <a:srgbClr val="FFFFFF"/>
                </a:solidFill>
              </a:rPr>
              <a:t>TIME-RESOLVED TRANSCRIPT ARCHITECTURE</a:t>
            </a:r>
            <a:endParaRPr lang="en-US" sz="2400" dirty="0"/>
          </a:p>
        </p:txBody>
      </p:sp>
      <p:sp>
        <p:nvSpPr>
          <p:cNvPr id="22" name="Text 20"/>
          <p:cNvSpPr/>
          <p:nvPr/>
        </p:nvSpPr>
        <p:spPr>
          <a:xfrm>
            <a:off x="2816352" y="5833872"/>
            <a:ext cx="6583680" cy="310896"/>
          </a:xfrm>
          <a:prstGeom prst="rect">
            <a:avLst/>
          </a:prstGeom>
          <a:noFill/>
          <a:ln/>
        </p:spPr>
        <p:txBody>
          <a:bodyPr wrap="square" lIns="0" tIns="0" rIns="0" bIns="0" rtlCol="0" anchor="ctr"/>
          <a:lstStyle/>
          <a:p>
            <a:pPr algn="ctr" indent="0" marL="0">
              <a:buNone/>
            </a:pPr>
            <a:r>
              <a:rPr lang="en-US" sz="1420" dirty="0">
                <a:solidFill>
                  <a:srgbClr val="667085"/>
                </a:solidFill>
              </a:rPr>
              <a:t>A more informative unit of viral regulation than gene counts alone</a:t>
            </a:r>
            <a:endParaRPr lang="en-US" sz="1420" dirty="0"/>
          </a:p>
        </p:txBody>
      </p:sp>
      <p:sp>
        <p:nvSpPr>
          <p:cNvPr id="23" name="Text 21"/>
          <p:cNvSpPr/>
          <p:nvPr/>
        </p:nvSpPr>
        <p:spPr>
          <a:xfrm>
            <a:off x="640080" y="6236208"/>
            <a:ext cx="10881360" cy="182880"/>
          </a:xfrm>
          <a:prstGeom prst="rect">
            <a:avLst/>
          </a:prstGeom>
          <a:noFill/>
          <a:ln/>
        </p:spPr>
        <p:txBody>
          <a:bodyPr wrap="square" lIns="0" tIns="0" rIns="0" bIns="0" rtlCol="0" anchor="ctr"/>
          <a:lstStyle/>
          <a:p>
            <a:pPr algn="l" indent="0" marL="0">
              <a:buNone/>
            </a:pPr>
            <a:r>
              <a:rPr lang="en-US" sz="850" i="1" dirty="0">
                <a:solidFill>
                  <a:srgbClr val="7B8794"/>
                </a:solidFill>
              </a:rPr>
              <a:t>Synthesis of the published findings: alternative TSS/TES, splicing, isoform switching and overlap all vary through infection.</a:t>
            </a:r>
            <a:endParaRPr lang="en-US" sz="850" dirty="0"/>
          </a:p>
        </p:txBody>
      </p:sp>
      <p:sp>
        <p:nvSpPr>
          <p:cNvPr id="25" name="Slide Number Placeholder 0"/>
          <p:cNvSpPr>
            <a:spLocks noGrp="1"/>
          </p:cNvSpPr>
          <p:nvPr>
            <p:ph type="sldNum" sz="quarter" idx="4294967295"/>
          </p:nvPr>
        </p:nvSpPr>
        <p:spPr>
          <a:xfrm>
            <a:off x="11722608" y="6501384"/>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A97A6"/>
                </a:solidFill>
                <a:latin typeface="Aptos"/>
                <a:ea typeface="Aptos"/>
                <a:cs typeface="Apto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94360" y="347472"/>
            <a:ext cx="4114800" cy="228600"/>
          </a:xfrm>
          <a:prstGeom prst="rect">
            <a:avLst/>
          </a:prstGeom>
          <a:noFill/>
          <a:ln/>
        </p:spPr>
        <p:txBody>
          <a:bodyPr wrap="square" lIns="0" tIns="0" rIns="0" bIns="0" rtlCol="0" anchor="ctr"/>
          <a:lstStyle/>
          <a:p>
            <a:pPr indent="0" marL="0">
              <a:buNone/>
            </a:pPr>
            <a:r>
              <a:rPr lang="en-US" sz="1050" b="1" spc="160" kern="0" dirty="0">
                <a:solidFill>
                  <a:srgbClr val="1F8A8A"/>
                </a:solidFill>
              </a:rPr>
              <a:t>CONCLUSION</a:t>
            </a:r>
            <a:endParaRPr lang="en-US" sz="1050" dirty="0"/>
          </a:p>
        </p:txBody>
      </p:sp>
      <p:sp>
        <p:nvSpPr>
          <p:cNvPr id="3" name="Text 1"/>
          <p:cNvSpPr/>
          <p:nvPr/>
        </p:nvSpPr>
        <p:spPr>
          <a:xfrm>
            <a:off x="594360" y="603504"/>
            <a:ext cx="10972800" cy="493776"/>
          </a:xfrm>
          <a:prstGeom prst="rect">
            <a:avLst/>
          </a:prstGeom>
          <a:noFill/>
          <a:ln/>
        </p:spPr>
        <p:txBody>
          <a:bodyPr wrap="square" lIns="0" tIns="0" rIns="0" bIns="0" rtlCol="0" anchor="ctr"/>
          <a:lstStyle/>
          <a:p>
            <a:pPr indent="0" marL="0">
              <a:buNone/>
            </a:pPr>
            <a:r>
              <a:rPr lang="en-US" sz="2800" b="1" dirty="0">
                <a:solidFill>
                  <a:srgbClr val="12263A"/>
                </a:solidFill>
              </a:rPr>
              <a:t>Take-home messages</a:t>
            </a:r>
            <a:endParaRPr lang="en-US" sz="2800" dirty="0"/>
          </a:p>
        </p:txBody>
      </p:sp>
      <p:sp>
        <p:nvSpPr>
          <p:cNvPr id="4" name="Text 2"/>
          <p:cNvSpPr/>
          <p:nvPr/>
        </p:nvSpPr>
        <p:spPr>
          <a:xfrm>
            <a:off x="777240" y="1389888"/>
            <a:ext cx="566928" cy="566928"/>
          </a:xfrm>
          <a:prstGeom prst="rect">
            <a:avLst/>
          </a:prstGeom>
          <a:solidFill>
            <a:srgbClr val="1F8A8A"/>
          </a:solidFill>
          <a:ln/>
        </p:spPr>
        <p:txBody>
          <a:bodyPr wrap="square" lIns="0" tIns="0" rIns="0" bIns="0" rtlCol="0" anchor="ctr"/>
          <a:lstStyle/>
          <a:p>
            <a:pPr algn="ctr" indent="0" marL="0">
              <a:buNone/>
            </a:pPr>
            <a:r>
              <a:rPr lang="en-US" sz="2500" b="1" dirty="0">
                <a:solidFill>
                  <a:srgbClr val="FFFFFF"/>
                </a:solidFill>
              </a:rPr>
              <a:t>1</a:t>
            </a:r>
            <a:endParaRPr lang="en-US" sz="2500" dirty="0"/>
          </a:p>
        </p:txBody>
      </p:sp>
      <p:sp>
        <p:nvSpPr>
          <p:cNvPr id="5" name="Text 3"/>
          <p:cNvSpPr/>
          <p:nvPr/>
        </p:nvSpPr>
        <p:spPr>
          <a:xfrm>
            <a:off x="1600200" y="1380744"/>
            <a:ext cx="7040880" cy="347472"/>
          </a:xfrm>
          <a:prstGeom prst="rect">
            <a:avLst/>
          </a:prstGeom>
          <a:noFill/>
          <a:ln/>
        </p:spPr>
        <p:txBody>
          <a:bodyPr wrap="square" lIns="0" tIns="0" rIns="0" bIns="0" rtlCol="0" anchor="ctr"/>
          <a:lstStyle/>
          <a:p>
            <a:pPr indent="0" marL="0">
              <a:buNone/>
            </a:pPr>
            <a:r>
              <a:rPr lang="en-US" sz="2050" b="1" dirty="0">
                <a:solidFill>
                  <a:srgbClr val="12263A"/>
                </a:solidFill>
              </a:rPr>
              <a:t>Integrated CAGE + long reads refine viral transcript boundaries</a:t>
            </a:r>
            <a:endParaRPr lang="en-US" sz="2050" dirty="0"/>
          </a:p>
        </p:txBody>
      </p:sp>
      <p:sp>
        <p:nvSpPr>
          <p:cNvPr id="6" name="Text 4"/>
          <p:cNvSpPr/>
          <p:nvPr/>
        </p:nvSpPr>
        <p:spPr>
          <a:xfrm>
            <a:off x="1600200" y="1810512"/>
            <a:ext cx="7909560" cy="438912"/>
          </a:xfrm>
          <a:prstGeom prst="rect">
            <a:avLst/>
          </a:prstGeom>
          <a:noFill/>
          <a:ln/>
        </p:spPr>
        <p:txBody>
          <a:bodyPr wrap="square" lIns="0" tIns="0" rIns="0" bIns="0" rtlCol="0" anchor="ctr"/>
          <a:lstStyle/>
          <a:p>
            <a:pPr indent="0" marL="0">
              <a:buNone/>
            </a:pPr>
            <a:r>
              <a:rPr lang="en-US" sz="1530" dirty="0">
                <a:solidFill>
                  <a:srgbClr val="667085"/>
                </a:solidFill>
              </a:rPr>
              <a:t>169 novel transcripts and stringent multi-platform validation.</a:t>
            </a:r>
            <a:endParaRPr lang="en-US" sz="1530" dirty="0"/>
          </a:p>
        </p:txBody>
      </p:sp>
      <p:sp>
        <p:nvSpPr>
          <p:cNvPr id="7" name="Text 5"/>
          <p:cNvSpPr/>
          <p:nvPr/>
        </p:nvSpPr>
        <p:spPr>
          <a:xfrm>
            <a:off x="777240" y="2834640"/>
            <a:ext cx="566928" cy="566928"/>
          </a:xfrm>
          <a:prstGeom prst="rect">
            <a:avLst/>
          </a:prstGeom>
          <a:solidFill>
            <a:srgbClr val="E15759"/>
          </a:solidFill>
          <a:ln/>
        </p:spPr>
        <p:txBody>
          <a:bodyPr wrap="square" lIns="0" tIns="0" rIns="0" bIns="0" rtlCol="0" anchor="ctr"/>
          <a:lstStyle/>
          <a:p>
            <a:pPr algn="ctr" indent="0" marL="0">
              <a:buNone/>
            </a:pPr>
            <a:r>
              <a:rPr lang="en-US" sz="2500" b="1" dirty="0">
                <a:solidFill>
                  <a:srgbClr val="FFFFFF"/>
                </a:solidFill>
              </a:rPr>
              <a:t>2</a:t>
            </a:r>
            <a:endParaRPr lang="en-US" sz="2500" dirty="0"/>
          </a:p>
        </p:txBody>
      </p:sp>
      <p:sp>
        <p:nvSpPr>
          <p:cNvPr id="8" name="Text 6"/>
          <p:cNvSpPr/>
          <p:nvPr/>
        </p:nvSpPr>
        <p:spPr>
          <a:xfrm>
            <a:off x="1600200" y="2825496"/>
            <a:ext cx="7040880" cy="347472"/>
          </a:xfrm>
          <a:prstGeom prst="rect">
            <a:avLst/>
          </a:prstGeom>
          <a:noFill/>
          <a:ln/>
        </p:spPr>
        <p:txBody>
          <a:bodyPr wrap="square" lIns="0" tIns="0" rIns="0" bIns="0" rtlCol="0" anchor="ctr"/>
          <a:lstStyle/>
          <a:p>
            <a:pPr indent="0" marL="0">
              <a:buNone/>
            </a:pPr>
            <a:r>
              <a:rPr lang="en-US" sz="2050" b="1" dirty="0">
                <a:solidFill>
                  <a:srgbClr val="12263A"/>
                </a:solidFill>
              </a:rPr>
              <a:t>ORF64 is uniquely immediate-early</a:t>
            </a:r>
            <a:endParaRPr lang="en-US" sz="2050" dirty="0"/>
          </a:p>
        </p:txBody>
      </p:sp>
      <p:sp>
        <p:nvSpPr>
          <p:cNvPr id="9" name="Text 7"/>
          <p:cNvSpPr/>
          <p:nvPr/>
        </p:nvSpPr>
        <p:spPr>
          <a:xfrm>
            <a:off x="1600200" y="3255264"/>
            <a:ext cx="7909560" cy="438912"/>
          </a:xfrm>
          <a:prstGeom prst="rect">
            <a:avLst/>
          </a:prstGeom>
          <a:noFill/>
          <a:ln/>
        </p:spPr>
        <p:txBody>
          <a:bodyPr wrap="square" lIns="0" tIns="0" rIns="0" bIns="0" rtlCol="0" anchor="ctr"/>
          <a:lstStyle/>
          <a:p>
            <a:pPr indent="0" marL="0">
              <a:buNone/>
            </a:pPr>
            <a:r>
              <a:rPr lang="en-US" sz="1530" dirty="0">
                <a:solidFill>
                  <a:srgbClr val="667085"/>
                </a:solidFill>
              </a:rPr>
              <a:t>The beginning of the cascade is discrete; later expression is not.</a:t>
            </a:r>
            <a:endParaRPr lang="en-US" sz="1530" dirty="0"/>
          </a:p>
        </p:txBody>
      </p:sp>
      <p:sp>
        <p:nvSpPr>
          <p:cNvPr id="10" name="Text 8"/>
          <p:cNvSpPr/>
          <p:nvPr/>
        </p:nvSpPr>
        <p:spPr>
          <a:xfrm>
            <a:off x="777240" y="4279392"/>
            <a:ext cx="566928" cy="566928"/>
          </a:xfrm>
          <a:prstGeom prst="rect">
            <a:avLst/>
          </a:prstGeom>
          <a:solidFill>
            <a:srgbClr val="4E79A7"/>
          </a:solidFill>
          <a:ln/>
        </p:spPr>
        <p:txBody>
          <a:bodyPr wrap="square" lIns="0" tIns="0" rIns="0" bIns="0" rtlCol="0" anchor="ctr"/>
          <a:lstStyle/>
          <a:p>
            <a:pPr algn="ctr" indent="0" marL="0">
              <a:buNone/>
            </a:pPr>
            <a:r>
              <a:rPr lang="en-US" sz="2500" b="1" dirty="0">
                <a:solidFill>
                  <a:srgbClr val="FFFFFF"/>
                </a:solidFill>
              </a:rPr>
              <a:t>3</a:t>
            </a:r>
            <a:endParaRPr lang="en-US" sz="2500" dirty="0"/>
          </a:p>
        </p:txBody>
      </p:sp>
      <p:sp>
        <p:nvSpPr>
          <p:cNvPr id="11" name="Text 9"/>
          <p:cNvSpPr/>
          <p:nvPr/>
        </p:nvSpPr>
        <p:spPr>
          <a:xfrm>
            <a:off x="1600200" y="4270248"/>
            <a:ext cx="7040880" cy="347472"/>
          </a:xfrm>
          <a:prstGeom prst="rect">
            <a:avLst/>
          </a:prstGeom>
          <a:noFill/>
          <a:ln/>
        </p:spPr>
        <p:txBody>
          <a:bodyPr wrap="square" lIns="0" tIns="0" rIns="0" bIns="0" rtlCol="0" anchor="ctr"/>
          <a:lstStyle/>
          <a:p>
            <a:pPr indent="0" marL="0">
              <a:buNone/>
            </a:pPr>
            <a:r>
              <a:rPr lang="en-US" sz="2050" b="1" dirty="0">
                <a:solidFill>
                  <a:srgbClr val="12263A"/>
                </a:solidFill>
              </a:rPr>
              <a:t>The EHV-1 transcriptome is dynamically re-wired</a:t>
            </a:r>
            <a:endParaRPr lang="en-US" sz="2050" dirty="0"/>
          </a:p>
        </p:txBody>
      </p:sp>
      <p:sp>
        <p:nvSpPr>
          <p:cNvPr id="12" name="Text 10"/>
          <p:cNvSpPr/>
          <p:nvPr/>
        </p:nvSpPr>
        <p:spPr>
          <a:xfrm>
            <a:off x="1600200" y="4700016"/>
            <a:ext cx="7909560" cy="438912"/>
          </a:xfrm>
          <a:prstGeom prst="rect">
            <a:avLst/>
          </a:prstGeom>
          <a:noFill/>
          <a:ln/>
        </p:spPr>
        <p:txBody>
          <a:bodyPr wrap="square" lIns="0" tIns="0" rIns="0" bIns="0" rtlCol="0" anchor="ctr"/>
          <a:lstStyle/>
          <a:p>
            <a:pPr indent="0" marL="0">
              <a:buNone/>
            </a:pPr>
            <a:r>
              <a:rPr lang="en-US" sz="1530" dirty="0">
                <a:solidFill>
                  <a:srgbClr val="667085"/>
                </a:solidFill>
              </a:rPr>
              <a:t>Splicing, TSS/TES choice, isoform switching and overlap change across infection.</a:t>
            </a:r>
            <a:endParaRPr lang="en-US" sz="1530" dirty="0"/>
          </a:p>
        </p:txBody>
      </p:sp>
      <p:sp>
        <p:nvSpPr>
          <p:cNvPr id="13" name="Text 11"/>
          <p:cNvSpPr/>
          <p:nvPr/>
        </p:nvSpPr>
        <p:spPr>
          <a:xfrm>
            <a:off x="8915400" y="1536192"/>
            <a:ext cx="2148840" cy="256032"/>
          </a:xfrm>
          <a:prstGeom prst="rect">
            <a:avLst/>
          </a:prstGeom>
          <a:noFill/>
          <a:ln/>
        </p:spPr>
        <p:txBody>
          <a:bodyPr wrap="square" lIns="0" tIns="0" rIns="0" bIns="0" rtlCol="0" anchor="ctr"/>
          <a:lstStyle/>
          <a:p>
            <a:pPr algn="ctr" indent="0" marL="0">
              <a:buNone/>
            </a:pPr>
            <a:r>
              <a:rPr lang="en-US" sz="1100" b="1" spc="120" kern="0" dirty="0">
                <a:solidFill>
                  <a:srgbClr val="1F8A8A"/>
                </a:solidFill>
              </a:rPr>
              <a:t>The central message</a:t>
            </a:r>
            <a:endParaRPr lang="en-US" sz="1100" dirty="0"/>
          </a:p>
        </p:txBody>
      </p:sp>
      <p:sp>
        <p:nvSpPr>
          <p:cNvPr id="14" name="Text 12"/>
          <p:cNvSpPr/>
          <p:nvPr/>
        </p:nvSpPr>
        <p:spPr>
          <a:xfrm>
            <a:off x="8577072" y="1938528"/>
            <a:ext cx="2880360" cy="1874520"/>
          </a:xfrm>
          <a:prstGeom prst="rect">
            <a:avLst/>
          </a:prstGeom>
          <a:solidFill>
            <a:srgbClr val="12263A"/>
          </a:solidFill>
          <a:ln/>
          <a:effectLst>
            <a:outerShdw sx="100000" sy="100000" kx="0" ky="0" algn="bl" rotWithShape="0" blurRad="6.86990599436516e+65" dist="1.83197493183071e+66" dir="1.2694994583552002e+78">
              <a:srgbClr val="000000">
                <a:alpha val="1.3e+79"/>
              </a:srgbClr>
            </a:outerShdw>
          </a:effectLst>
        </p:spPr>
        <p:txBody>
          <a:bodyPr wrap="square" lIns="1270" tIns="1270" rIns="1270" bIns="1270" rtlCol="0" anchor="ctr"/>
          <a:lstStyle/>
          <a:p>
            <a:pPr algn="ctr" indent="0" marL="0">
              <a:buNone/>
            </a:pPr>
            <a:r>
              <a:rPr lang="en-US" sz="2300" b="1" dirty="0">
                <a:solidFill>
                  <a:srgbClr val="FFFFFF"/>
                </a:solidFill>
              </a:rPr>
              <a:t>EHV-1 gene regulation is a continuous, overlapping temporal landscape — not simply three kinetic boxes.</a:t>
            </a:r>
            <a:endParaRPr lang="en-US" sz="2300" dirty="0"/>
          </a:p>
        </p:txBody>
      </p:sp>
      <p:sp>
        <p:nvSpPr>
          <p:cNvPr id="15" name="Text 13"/>
          <p:cNvSpPr/>
          <p:nvPr/>
        </p:nvSpPr>
        <p:spPr>
          <a:xfrm>
            <a:off x="8915400" y="4315968"/>
            <a:ext cx="2194560" cy="502920"/>
          </a:xfrm>
          <a:prstGeom prst="rect">
            <a:avLst/>
          </a:prstGeom>
          <a:noFill/>
          <a:ln/>
        </p:spPr>
        <p:txBody>
          <a:bodyPr wrap="square" lIns="0" tIns="0" rIns="0" bIns="0" rtlCol="0" anchor="ctr"/>
          <a:lstStyle/>
          <a:p>
            <a:pPr algn="ctr" indent="0" marL="0">
              <a:buNone/>
            </a:pPr>
            <a:r>
              <a:rPr lang="en-US" sz="2700" b="1" dirty="0">
                <a:solidFill>
                  <a:srgbClr val="1F8A8A"/>
                </a:solidFill>
              </a:rPr>
              <a:t>Questions?</a:t>
            </a:r>
            <a:endParaRPr lang="en-US" sz="2700" dirty="0"/>
          </a:p>
        </p:txBody>
      </p:sp>
      <p:sp>
        <p:nvSpPr>
          <p:cNvPr id="16" name="Text 14"/>
          <p:cNvSpPr/>
          <p:nvPr/>
        </p:nvSpPr>
        <p:spPr>
          <a:xfrm>
            <a:off x="8732520" y="5010912"/>
            <a:ext cx="2560320" cy="530352"/>
          </a:xfrm>
          <a:prstGeom prst="rect">
            <a:avLst/>
          </a:prstGeom>
          <a:noFill/>
          <a:ln/>
        </p:spPr>
        <p:txBody>
          <a:bodyPr wrap="square" lIns="0" tIns="0" rIns="0" bIns="0" rtlCol="0" anchor="ctr"/>
          <a:lstStyle/>
          <a:p>
            <a:pPr algn="ctr" indent="0" marL="0">
              <a:buNone/>
            </a:pPr>
            <a:r>
              <a:rPr lang="en-US" sz="1120" dirty="0">
                <a:solidFill>
                  <a:srgbClr val="667085"/>
                </a:solidFill>
              </a:rPr>
              <a:t>PLOS ONE 20(4): e0320439</a:t>
            </a:r>
            <a:endParaRPr lang="en-US" sz="1120" dirty="0"/>
          </a:p>
          <a:p>
            <a:pPr algn="ctr" indent="0" marL="0">
              <a:buNone/>
            </a:pPr>
            <a:r>
              <a:rPr lang="en-US" sz="1120" dirty="0">
                <a:solidFill>
                  <a:srgbClr val="667085"/>
                </a:solidFill>
              </a:rPr>
              <a:t>github.com/Balays/EHV-1-dynamic</a:t>
            </a:r>
            <a:endParaRPr lang="en-US" sz="1120" dirty="0"/>
          </a:p>
        </p:txBody>
      </p:sp>
      <p:sp>
        <p:nvSpPr>
          <p:cNvPr id="17" name="Text 15"/>
          <p:cNvSpPr/>
          <p:nvPr/>
        </p:nvSpPr>
        <p:spPr>
          <a:xfrm>
            <a:off x="640080" y="6236208"/>
            <a:ext cx="10881360" cy="182880"/>
          </a:xfrm>
          <a:prstGeom prst="rect">
            <a:avLst/>
          </a:prstGeom>
          <a:noFill/>
          <a:ln/>
        </p:spPr>
        <p:txBody>
          <a:bodyPr wrap="square" lIns="0" tIns="0" rIns="0" bIns="0" rtlCol="0" anchor="ctr"/>
          <a:lstStyle/>
          <a:p>
            <a:pPr algn="l" indent="0" marL="0">
              <a:buNone/>
            </a:pPr>
            <a:r>
              <a:rPr lang="en-US" sz="850" i="1" dirty="0">
                <a:solidFill>
                  <a:srgbClr val="7B8794"/>
                </a:solidFill>
              </a:rPr>
              <a:t>Sequencing data: ENA PRJEB52190 and PRJEB6233 · analysis code: Balays/EHV-1-dynamic.</a:t>
            </a:r>
            <a:endParaRPr lang="en-US" sz="850" dirty="0"/>
          </a:p>
        </p:txBody>
      </p:sp>
      <p:sp>
        <p:nvSpPr>
          <p:cNvPr id="25" name="Slide Number Placeholder 0"/>
          <p:cNvSpPr>
            <a:spLocks noGrp="1"/>
          </p:cNvSpPr>
          <p:nvPr>
            <p:ph type="sldNum" sz="quarter" idx="4294967295"/>
          </p:nvPr>
        </p:nvSpPr>
        <p:spPr>
          <a:xfrm>
            <a:off x="11722608" y="6501384"/>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A97A6"/>
                </a:solidFill>
                <a:latin typeface="Aptos"/>
                <a:ea typeface="Aptos"/>
                <a:cs typeface="Apto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94360" y="347472"/>
            <a:ext cx="4114800" cy="228600"/>
          </a:xfrm>
          <a:prstGeom prst="rect">
            <a:avLst/>
          </a:prstGeom>
          <a:noFill/>
          <a:ln/>
        </p:spPr>
        <p:txBody>
          <a:bodyPr wrap="square" lIns="0" tIns="0" rIns="0" bIns="0" rtlCol="0" anchor="ctr"/>
          <a:lstStyle/>
          <a:p>
            <a:pPr indent="0" marL="0">
              <a:buNone/>
            </a:pPr>
            <a:r>
              <a:rPr lang="en-US" sz="1050" b="1" spc="160" kern="0" dirty="0">
                <a:solidFill>
                  <a:srgbClr val="1F8A8A"/>
                </a:solidFill>
              </a:rPr>
              <a:t>METHODS DETAIL</a:t>
            </a:r>
            <a:endParaRPr lang="en-US" sz="1050" dirty="0"/>
          </a:p>
        </p:txBody>
      </p:sp>
      <p:sp>
        <p:nvSpPr>
          <p:cNvPr id="3" name="Text 1"/>
          <p:cNvSpPr/>
          <p:nvPr/>
        </p:nvSpPr>
        <p:spPr>
          <a:xfrm>
            <a:off x="594360" y="603504"/>
            <a:ext cx="10972800" cy="493776"/>
          </a:xfrm>
          <a:prstGeom prst="rect">
            <a:avLst/>
          </a:prstGeom>
          <a:noFill/>
          <a:ln/>
        </p:spPr>
        <p:txBody>
          <a:bodyPr wrap="square" lIns="0" tIns="0" rIns="0" bIns="0" rtlCol="0" anchor="ctr"/>
          <a:lstStyle/>
          <a:p>
            <a:pPr indent="0" marL="0">
              <a:buNone/>
            </a:pPr>
            <a:r>
              <a:rPr lang="en-US" sz="2800" b="1" dirty="0">
                <a:solidFill>
                  <a:srgbClr val="12263A"/>
                </a:solidFill>
              </a:rPr>
              <a:t>Backup: acceptance criteria were deliberately stringent</a:t>
            </a:r>
            <a:endParaRPr lang="en-US" sz="2800" dirty="0"/>
          </a:p>
        </p:txBody>
      </p:sp>
      <p:sp>
        <p:nvSpPr>
          <p:cNvPr id="4" name="Text 2"/>
          <p:cNvSpPr/>
          <p:nvPr/>
        </p:nvSpPr>
        <p:spPr>
          <a:xfrm>
            <a:off x="749808" y="1371600"/>
            <a:ext cx="1874520" cy="786384"/>
          </a:xfrm>
          <a:prstGeom prst="rect">
            <a:avLst/>
          </a:prstGeom>
          <a:solidFill>
            <a:srgbClr val="1F8A8A"/>
          </a:solidFill>
          <a:ln/>
        </p:spPr>
        <p:txBody>
          <a:bodyPr wrap="square" lIns="635" tIns="635" rIns="635" bIns="635" rtlCol="0" anchor="ctr"/>
          <a:lstStyle/>
          <a:p>
            <a:pPr algn="ctr" indent="0" marL="0">
              <a:buNone/>
            </a:pPr>
            <a:r>
              <a:rPr lang="en-US" sz="1700" b="1" dirty="0">
                <a:solidFill>
                  <a:srgbClr val="FFFFFF"/>
                </a:solidFill>
              </a:rPr>
              <a:t>dcDNA evidence</a:t>
            </a:r>
            <a:endParaRPr lang="en-US" sz="1700" dirty="0"/>
          </a:p>
        </p:txBody>
      </p:sp>
      <p:sp>
        <p:nvSpPr>
          <p:cNvPr id="5" name="Text 3"/>
          <p:cNvSpPr/>
          <p:nvPr/>
        </p:nvSpPr>
        <p:spPr>
          <a:xfrm>
            <a:off x="2834640" y="1371600"/>
            <a:ext cx="3794760" cy="786384"/>
          </a:xfrm>
          <a:prstGeom prst="rect">
            <a:avLst/>
          </a:prstGeom>
          <a:solidFill>
            <a:srgbClr val="FFFFFF"/>
          </a:solidFill>
          <a:ln>
            <a:solidFill>
              <a:srgbClr val="E8EEF3"/>
            </a:solidFill>
          </a:ln>
        </p:spPr>
        <p:txBody>
          <a:bodyPr wrap="square" lIns="889" tIns="889" rIns="889" bIns="889" rtlCol="0" anchor="ctr"/>
          <a:lstStyle/>
          <a:p>
            <a:pPr algn="ctr" indent="0" marL="0">
              <a:buNone/>
            </a:pPr>
            <a:r>
              <a:rPr lang="en-US" sz="1520" dirty="0">
                <a:solidFill>
                  <a:srgbClr val="12263A"/>
                </a:solidFill>
              </a:rPr>
              <a:t>≥3 reads sharing transcript boundaries</a:t>
            </a:r>
            <a:endParaRPr lang="en-US" sz="1520" dirty="0"/>
          </a:p>
        </p:txBody>
      </p:sp>
      <p:sp>
        <p:nvSpPr>
          <p:cNvPr id="6" name="Text 4"/>
          <p:cNvSpPr/>
          <p:nvPr/>
        </p:nvSpPr>
        <p:spPr>
          <a:xfrm>
            <a:off x="6839712" y="1371600"/>
            <a:ext cx="4160520" cy="786384"/>
          </a:xfrm>
          <a:prstGeom prst="rect">
            <a:avLst/>
          </a:prstGeom>
          <a:solidFill>
            <a:srgbClr val="FFFFFF"/>
          </a:solidFill>
          <a:ln>
            <a:solidFill>
              <a:srgbClr val="E8EEF3"/>
            </a:solidFill>
          </a:ln>
        </p:spPr>
        <p:txBody>
          <a:bodyPr wrap="square" lIns="889" tIns="889" rIns="889" bIns="889" rtlCol="0" anchor="ctr"/>
          <a:lstStyle/>
          <a:p>
            <a:pPr algn="ctr" indent="0" marL="0">
              <a:buNone/>
            </a:pPr>
            <a:r>
              <a:rPr lang="en-US" sz="1520" dirty="0">
                <a:solidFill>
                  <a:srgbClr val="667085"/>
                </a:solidFill>
              </a:rPr>
              <a:t>correct 5′ adapter / strand evidence</a:t>
            </a:r>
            <a:endParaRPr lang="en-US" sz="1520" dirty="0"/>
          </a:p>
        </p:txBody>
      </p:sp>
      <p:sp>
        <p:nvSpPr>
          <p:cNvPr id="7" name="Text 5"/>
          <p:cNvSpPr/>
          <p:nvPr/>
        </p:nvSpPr>
        <p:spPr>
          <a:xfrm>
            <a:off x="749808" y="2505456"/>
            <a:ext cx="1874520" cy="786384"/>
          </a:xfrm>
          <a:prstGeom prst="rect">
            <a:avLst/>
          </a:prstGeom>
          <a:solidFill>
            <a:srgbClr val="F28E2B"/>
          </a:solidFill>
          <a:ln/>
        </p:spPr>
        <p:txBody>
          <a:bodyPr wrap="square" lIns="635" tIns="635" rIns="635" bIns="635" rtlCol="0" anchor="ctr"/>
          <a:lstStyle/>
          <a:p>
            <a:pPr algn="ctr" indent="0" marL="0">
              <a:buNone/>
            </a:pPr>
            <a:r>
              <a:rPr lang="en-US" sz="1700" b="1" dirty="0">
                <a:solidFill>
                  <a:srgbClr val="FFFFFF"/>
                </a:solidFill>
              </a:rPr>
              <a:t>CAGE evidence</a:t>
            </a:r>
            <a:endParaRPr lang="en-US" sz="1700" dirty="0"/>
          </a:p>
        </p:txBody>
      </p:sp>
      <p:sp>
        <p:nvSpPr>
          <p:cNvPr id="8" name="Text 6"/>
          <p:cNvSpPr/>
          <p:nvPr/>
        </p:nvSpPr>
        <p:spPr>
          <a:xfrm>
            <a:off x="2834640" y="2505456"/>
            <a:ext cx="3794760" cy="786384"/>
          </a:xfrm>
          <a:prstGeom prst="rect">
            <a:avLst/>
          </a:prstGeom>
          <a:solidFill>
            <a:srgbClr val="FFFFFF"/>
          </a:solidFill>
          <a:ln>
            <a:solidFill>
              <a:srgbClr val="E8EEF3"/>
            </a:solidFill>
          </a:ln>
        </p:spPr>
        <p:txBody>
          <a:bodyPr wrap="square" lIns="889" tIns="889" rIns="889" bIns="889" rtlCol="0" anchor="ctr"/>
          <a:lstStyle/>
          <a:p>
            <a:pPr algn="ctr" indent="0" marL="0">
              <a:buNone/>
            </a:pPr>
            <a:r>
              <a:rPr lang="en-US" sz="1520" dirty="0">
                <a:solidFill>
                  <a:srgbClr val="12263A"/>
                </a:solidFill>
              </a:rPr>
              <a:t>5′ end within ±10 nt of refined TSS peak</a:t>
            </a:r>
            <a:endParaRPr lang="en-US" sz="1520" dirty="0"/>
          </a:p>
        </p:txBody>
      </p:sp>
      <p:sp>
        <p:nvSpPr>
          <p:cNvPr id="9" name="Text 7"/>
          <p:cNvSpPr/>
          <p:nvPr/>
        </p:nvSpPr>
        <p:spPr>
          <a:xfrm>
            <a:off x="6839712" y="2505456"/>
            <a:ext cx="4160520" cy="786384"/>
          </a:xfrm>
          <a:prstGeom prst="rect">
            <a:avLst/>
          </a:prstGeom>
          <a:solidFill>
            <a:srgbClr val="FFFFFF"/>
          </a:solidFill>
          <a:ln>
            <a:solidFill>
              <a:srgbClr val="E8EEF3"/>
            </a:solidFill>
          </a:ln>
        </p:spPr>
        <p:txBody>
          <a:bodyPr wrap="square" lIns="889" tIns="889" rIns="889" bIns="889" rtlCol="0" anchor="ctr"/>
          <a:lstStyle/>
          <a:p>
            <a:pPr algn="ctr" indent="0" marL="0">
              <a:buNone/>
            </a:pPr>
            <a:r>
              <a:rPr lang="en-US" sz="1520" dirty="0">
                <a:solidFill>
                  <a:srgbClr val="667085"/>
                </a:solidFill>
              </a:rPr>
              <a:t>confidence from CAGE support + score</a:t>
            </a:r>
            <a:endParaRPr lang="en-US" sz="1520" dirty="0"/>
          </a:p>
        </p:txBody>
      </p:sp>
      <p:sp>
        <p:nvSpPr>
          <p:cNvPr id="10" name="Text 8"/>
          <p:cNvSpPr/>
          <p:nvPr/>
        </p:nvSpPr>
        <p:spPr>
          <a:xfrm>
            <a:off x="749808" y="3639312"/>
            <a:ext cx="1874520" cy="786384"/>
          </a:xfrm>
          <a:prstGeom prst="rect">
            <a:avLst/>
          </a:prstGeom>
          <a:solidFill>
            <a:srgbClr val="4E79A7"/>
          </a:solidFill>
          <a:ln/>
        </p:spPr>
        <p:txBody>
          <a:bodyPr wrap="square" lIns="635" tIns="635" rIns="635" bIns="635" rtlCol="0" anchor="ctr"/>
          <a:lstStyle/>
          <a:p>
            <a:pPr algn="ctr" indent="0" marL="0">
              <a:buNone/>
            </a:pPr>
            <a:r>
              <a:rPr lang="en-US" sz="1700" b="1" dirty="0">
                <a:solidFill>
                  <a:srgbClr val="FFFFFF"/>
                </a:solidFill>
              </a:rPr>
              <a:t>TES evidence</a:t>
            </a:r>
            <a:endParaRPr lang="en-US" sz="1700" dirty="0"/>
          </a:p>
        </p:txBody>
      </p:sp>
      <p:sp>
        <p:nvSpPr>
          <p:cNvPr id="11" name="Text 9"/>
          <p:cNvSpPr/>
          <p:nvPr/>
        </p:nvSpPr>
        <p:spPr>
          <a:xfrm>
            <a:off x="2834640" y="3639312"/>
            <a:ext cx="3794760" cy="786384"/>
          </a:xfrm>
          <a:prstGeom prst="rect">
            <a:avLst/>
          </a:prstGeom>
          <a:solidFill>
            <a:srgbClr val="FFFFFF"/>
          </a:solidFill>
          <a:ln>
            <a:solidFill>
              <a:srgbClr val="E8EEF3"/>
            </a:solidFill>
          </a:ln>
        </p:spPr>
        <p:txBody>
          <a:bodyPr wrap="square" lIns="889" tIns="889" rIns="889" bIns="889" rtlCol="0" anchor="ctr"/>
          <a:lstStyle/>
          <a:p>
            <a:pPr algn="ctr" indent="0" marL="0">
              <a:buNone/>
            </a:pPr>
            <a:r>
              <a:rPr lang="en-US" sz="1520" dirty="0">
                <a:solidFill>
                  <a:srgbClr val="12263A"/>
                </a:solidFill>
              </a:rPr>
              <a:t>3′ end within ±10 nt of validated TES</a:t>
            </a:r>
            <a:endParaRPr lang="en-US" sz="1520" dirty="0"/>
          </a:p>
        </p:txBody>
      </p:sp>
      <p:sp>
        <p:nvSpPr>
          <p:cNvPr id="12" name="Text 10"/>
          <p:cNvSpPr/>
          <p:nvPr/>
        </p:nvSpPr>
        <p:spPr>
          <a:xfrm>
            <a:off x="6839712" y="3639312"/>
            <a:ext cx="4160520" cy="786384"/>
          </a:xfrm>
          <a:prstGeom prst="rect">
            <a:avLst/>
          </a:prstGeom>
          <a:solidFill>
            <a:srgbClr val="FFFFFF"/>
          </a:solidFill>
          <a:ln>
            <a:solidFill>
              <a:srgbClr val="E8EEF3"/>
            </a:solidFill>
          </a:ln>
        </p:spPr>
        <p:txBody>
          <a:bodyPr wrap="square" lIns="889" tIns="889" rIns="889" bIns="889" rtlCol="0" anchor="ctr"/>
          <a:lstStyle/>
          <a:p>
            <a:pPr algn="ctr" indent="0" marL="0">
              <a:buNone/>
            </a:pPr>
            <a:r>
              <a:rPr lang="en-US" sz="1520" dirty="0">
                <a:solidFill>
                  <a:srgbClr val="667085"/>
                </a:solidFill>
              </a:rPr>
              <a:t>poly(A) and false-priming filters</a:t>
            </a:r>
            <a:endParaRPr lang="en-US" sz="1520" dirty="0"/>
          </a:p>
        </p:txBody>
      </p:sp>
      <p:sp>
        <p:nvSpPr>
          <p:cNvPr id="13" name="Text 11"/>
          <p:cNvSpPr/>
          <p:nvPr/>
        </p:nvSpPr>
        <p:spPr>
          <a:xfrm>
            <a:off x="749808" y="4773168"/>
            <a:ext cx="1874520" cy="786384"/>
          </a:xfrm>
          <a:prstGeom prst="rect">
            <a:avLst/>
          </a:prstGeom>
          <a:solidFill>
            <a:srgbClr val="E15759"/>
          </a:solidFill>
          <a:ln/>
        </p:spPr>
        <p:txBody>
          <a:bodyPr wrap="square" lIns="635" tIns="635" rIns="635" bIns="635" rtlCol="0" anchor="ctr"/>
          <a:lstStyle/>
          <a:p>
            <a:pPr algn="ctr" indent="0" marL="0">
              <a:buNone/>
            </a:pPr>
            <a:r>
              <a:rPr lang="en-US" sz="1700" b="1" dirty="0">
                <a:solidFill>
                  <a:srgbClr val="FFFFFF"/>
                </a:solidFill>
              </a:rPr>
              <a:t>Embedded mRNAs</a:t>
            </a:r>
            <a:endParaRPr lang="en-US" sz="1700" dirty="0"/>
          </a:p>
        </p:txBody>
      </p:sp>
      <p:sp>
        <p:nvSpPr>
          <p:cNvPr id="14" name="Text 12"/>
          <p:cNvSpPr/>
          <p:nvPr/>
        </p:nvSpPr>
        <p:spPr>
          <a:xfrm>
            <a:off x="2834640" y="4773168"/>
            <a:ext cx="3794760" cy="786384"/>
          </a:xfrm>
          <a:prstGeom prst="rect">
            <a:avLst/>
          </a:prstGeom>
          <a:solidFill>
            <a:srgbClr val="FFFFFF"/>
          </a:solidFill>
          <a:ln>
            <a:solidFill>
              <a:srgbClr val="E8EEF3"/>
            </a:solidFill>
          </a:ln>
        </p:spPr>
        <p:txBody>
          <a:bodyPr wrap="square" lIns="889" tIns="889" rIns="889" bIns="889" rtlCol="0" anchor="ctr"/>
          <a:lstStyle/>
          <a:p>
            <a:pPr algn="ctr" indent="0" marL="0">
              <a:buNone/>
            </a:pPr>
            <a:r>
              <a:rPr lang="en-US" sz="1520" dirty="0">
                <a:solidFill>
                  <a:srgbClr val="12263A"/>
                </a:solidFill>
              </a:rPr>
              <a:t>dRNA/NAGATA support within 25 nt</a:t>
            </a:r>
            <a:endParaRPr lang="en-US" sz="1520" dirty="0"/>
          </a:p>
        </p:txBody>
      </p:sp>
      <p:sp>
        <p:nvSpPr>
          <p:cNvPr id="15" name="Text 13"/>
          <p:cNvSpPr/>
          <p:nvPr/>
        </p:nvSpPr>
        <p:spPr>
          <a:xfrm>
            <a:off x="6839712" y="4773168"/>
            <a:ext cx="4160520" cy="786384"/>
          </a:xfrm>
          <a:prstGeom prst="rect">
            <a:avLst/>
          </a:prstGeom>
          <a:solidFill>
            <a:srgbClr val="FFFFFF"/>
          </a:solidFill>
          <a:ln>
            <a:solidFill>
              <a:srgbClr val="E8EEF3"/>
            </a:solidFill>
          </a:ln>
        </p:spPr>
        <p:txBody>
          <a:bodyPr wrap="square" lIns="889" tIns="889" rIns="889" bIns="889" rtlCol="0" anchor="ctr"/>
          <a:lstStyle/>
          <a:p>
            <a:pPr algn="ctr" indent="0" marL="0">
              <a:buNone/>
            </a:pPr>
            <a:r>
              <a:rPr lang="en-US" sz="1520" dirty="0">
                <a:solidFill>
                  <a:srgbClr val="667085"/>
                </a:solidFill>
              </a:rPr>
              <a:t>TSS signal ≥5% of canonical transcript</a:t>
            </a:r>
            <a:endParaRPr lang="en-US" sz="1520" dirty="0"/>
          </a:p>
        </p:txBody>
      </p:sp>
      <p:sp>
        <p:nvSpPr>
          <p:cNvPr id="16" name="Text 14"/>
          <p:cNvSpPr/>
          <p:nvPr/>
        </p:nvSpPr>
        <p:spPr>
          <a:xfrm>
            <a:off x="777240" y="5852160"/>
            <a:ext cx="1645920" cy="256032"/>
          </a:xfrm>
          <a:prstGeom prst="rect">
            <a:avLst/>
          </a:prstGeom>
          <a:noFill/>
          <a:ln/>
        </p:spPr>
        <p:txBody>
          <a:bodyPr wrap="square" lIns="0" tIns="0" rIns="0" bIns="0" rtlCol="0" anchor="ctr"/>
          <a:lstStyle/>
          <a:p>
            <a:pPr indent="0" marL="0">
              <a:buNone/>
            </a:pPr>
            <a:r>
              <a:rPr lang="en-US" sz="1150" b="1" dirty="0">
                <a:solidFill>
                  <a:srgbClr val="1F8A8A"/>
                </a:solidFill>
              </a:rPr>
              <a:t>Why this matters</a:t>
            </a:r>
            <a:endParaRPr lang="en-US" sz="1150" dirty="0"/>
          </a:p>
        </p:txBody>
      </p:sp>
      <p:sp>
        <p:nvSpPr>
          <p:cNvPr id="17" name="Text 15"/>
          <p:cNvSpPr/>
          <p:nvPr/>
        </p:nvSpPr>
        <p:spPr>
          <a:xfrm>
            <a:off x="2331720" y="5769864"/>
            <a:ext cx="8823960" cy="438912"/>
          </a:xfrm>
          <a:prstGeom prst="rect">
            <a:avLst/>
          </a:prstGeom>
          <a:noFill/>
          <a:ln/>
        </p:spPr>
        <p:txBody>
          <a:bodyPr wrap="square" lIns="0" tIns="0" rIns="0" bIns="0" rtlCol="0" anchor="ctr"/>
          <a:lstStyle/>
          <a:p>
            <a:pPr indent="0" marL="0">
              <a:buNone/>
            </a:pPr>
            <a:r>
              <a:rPr lang="en-US" sz="1420" dirty="0">
                <a:solidFill>
                  <a:srgbClr val="667085"/>
                </a:solidFill>
              </a:rPr>
              <a:t>5′ truncation can arise from sequencing/library artifacts or biological recapping, so independent evidence is essential before calling short isoforms genuine viral TSSs.</a:t>
            </a:r>
            <a:endParaRPr lang="en-US" sz="1420" dirty="0"/>
          </a:p>
        </p:txBody>
      </p:sp>
      <p:sp>
        <p:nvSpPr>
          <p:cNvPr id="18" name="Text 16"/>
          <p:cNvSpPr/>
          <p:nvPr/>
        </p:nvSpPr>
        <p:spPr>
          <a:xfrm>
            <a:off x="640080" y="6236208"/>
            <a:ext cx="10881360" cy="182880"/>
          </a:xfrm>
          <a:prstGeom prst="rect">
            <a:avLst/>
          </a:prstGeom>
          <a:noFill/>
          <a:ln/>
        </p:spPr>
        <p:txBody>
          <a:bodyPr wrap="square" lIns="0" tIns="0" rIns="0" bIns="0" rtlCol="0" anchor="ctr"/>
          <a:lstStyle/>
          <a:p>
            <a:pPr algn="l" indent="0" marL="0">
              <a:buNone/>
            </a:pPr>
            <a:r>
              <a:rPr lang="en-US" sz="850" i="1" dirty="0">
                <a:solidFill>
                  <a:srgbClr val="7B8794"/>
                </a:solidFill>
              </a:rPr>
              <a:t>Backup slide based on the final revised Methods and published filtering rationale.</a:t>
            </a:r>
            <a:endParaRPr lang="en-US" sz="850" dirty="0"/>
          </a:p>
        </p:txBody>
      </p:sp>
      <p:sp>
        <p:nvSpPr>
          <p:cNvPr id="25" name="Slide Number Placeholder 0"/>
          <p:cNvSpPr>
            <a:spLocks noGrp="1"/>
          </p:cNvSpPr>
          <p:nvPr>
            <p:ph type="sldNum" sz="quarter" idx="4294967295"/>
          </p:nvPr>
        </p:nvSpPr>
        <p:spPr>
          <a:xfrm>
            <a:off x="11722608" y="6501384"/>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A97A6"/>
                </a:solidFill>
                <a:latin typeface="Aptos"/>
                <a:ea typeface="Aptos"/>
                <a:cs typeface="Apto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94360" y="347472"/>
            <a:ext cx="4114800" cy="228600"/>
          </a:xfrm>
          <a:prstGeom prst="rect">
            <a:avLst/>
          </a:prstGeom>
          <a:noFill/>
          <a:ln/>
        </p:spPr>
        <p:txBody>
          <a:bodyPr wrap="square" lIns="0" tIns="0" rIns="0" bIns="0" rtlCol="0" anchor="ctr"/>
          <a:lstStyle/>
          <a:p>
            <a:pPr indent="0" marL="0">
              <a:buNone/>
            </a:pPr>
            <a:r>
              <a:rPr lang="en-US" sz="1050" b="1" spc="160" kern="0" dirty="0">
                <a:solidFill>
                  <a:srgbClr val="1F8A8A"/>
                </a:solidFill>
              </a:rPr>
              <a:t>RESOURCES</a:t>
            </a:r>
            <a:endParaRPr lang="en-US" sz="1050" dirty="0"/>
          </a:p>
        </p:txBody>
      </p:sp>
      <p:sp>
        <p:nvSpPr>
          <p:cNvPr id="3" name="Text 1"/>
          <p:cNvSpPr/>
          <p:nvPr/>
        </p:nvSpPr>
        <p:spPr>
          <a:xfrm>
            <a:off x="594360" y="603504"/>
            <a:ext cx="10972800" cy="493776"/>
          </a:xfrm>
          <a:prstGeom prst="rect">
            <a:avLst/>
          </a:prstGeom>
          <a:noFill/>
          <a:ln/>
        </p:spPr>
        <p:txBody>
          <a:bodyPr wrap="square" lIns="0" tIns="0" rIns="0" bIns="0" rtlCol="0" anchor="ctr"/>
          <a:lstStyle/>
          <a:p>
            <a:pPr indent="0" marL="0">
              <a:buNone/>
            </a:pPr>
            <a:r>
              <a:rPr lang="en-US" sz="2800" b="1" dirty="0">
                <a:solidFill>
                  <a:srgbClr val="12263A"/>
                </a:solidFill>
              </a:rPr>
              <a:t>Backup: data, code and reproducibility</a:t>
            </a:r>
            <a:endParaRPr lang="en-US" sz="2800" dirty="0"/>
          </a:p>
        </p:txBody>
      </p:sp>
      <p:sp>
        <p:nvSpPr>
          <p:cNvPr id="4" name="Text 2"/>
          <p:cNvSpPr/>
          <p:nvPr/>
        </p:nvSpPr>
        <p:spPr>
          <a:xfrm>
            <a:off x="822960" y="1481328"/>
            <a:ext cx="2057400" cy="877824"/>
          </a:xfrm>
          <a:prstGeom prst="rect">
            <a:avLst/>
          </a:prstGeom>
          <a:solidFill>
            <a:srgbClr val="FFF2E3"/>
          </a:solidFill>
          <a:ln>
            <a:solidFill>
              <a:srgbClr val="F28E2B"/>
            </a:solidFill>
          </a:ln>
        </p:spPr>
        <p:txBody>
          <a:bodyPr wrap="square" lIns="1016" tIns="1016" rIns="1016" bIns="1016" rtlCol="0" anchor="ctr"/>
          <a:lstStyle/>
          <a:p>
            <a:pPr algn="ctr" indent="0" marL="0">
              <a:buNone/>
            </a:pPr>
            <a:r>
              <a:rPr lang="en-US" sz="1750" b="1" dirty="0">
                <a:solidFill>
                  <a:srgbClr val="12263A"/>
                </a:solidFill>
              </a:rPr>
              <a:t>Published article</a:t>
            </a:r>
            <a:endParaRPr lang="en-US" sz="1750" dirty="0"/>
          </a:p>
        </p:txBody>
      </p:sp>
      <p:sp>
        <p:nvSpPr>
          <p:cNvPr id="5" name="Text 3"/>
          <p:cNvSpPr/>
          <p:nvPr/>
        </p:nvSpPr>
        <p:spPr>
          <a:xfrm>
            <a:off x="3154680" y="1527048"/>
            <a:ext cx="3657600" cy="658368"/>
          </a:xfrm>
          <a:prstGeom prst="rect">
            <a:avLst/>
          </a:prstGeom>
          <a:noFill/>
          <a:ln/>
        </p:spPr>
        <p:txBody>
          <a:bodyPr wrap="square" lIns="254" tIns="254" rIns="254" bIns="254" rtlCol="0" anchor="ctr"/>
          <a:lstStyle/>
          <a:p>
            <a:pPr indent="0" marL="0">
              <a:buNone/>
            </a:pPr>
            <a:r>
              <a:rPr lang="en-US" sz="1700" b="1" dirty="0">
                <a:solidFill>
                  <a:srgbClr val="12263A"/>
                </a:solidFill>
              </a:rPr>
              <a:t>Tombácz et al. (2025)</a:t>
            </a:r>
            <a:endParaRPr lang="en-US" sz="1700" dirty="0"/>
          </a:p>
          <a:p>
            <a:pPr indent="0" marL="0">
              <a:buNone/>
            </a:pPr>
            <a:r>
              <a:rPr lang="en-US" sz="1700" b="1" dirty="0">
                <a:solidFill>
                  <a:srgbClr val="12263A"/>
                </a:solidFill>
              </a:rPr>
              <a:t>PLOS ONE 20(4): e0320439</a:t>
            </a:r>
            <a:endParaRPr lang="en-US" sz="1700" dirty="0"/>
          </a:p>
        </p:txBody>
      </p:sp>
      <p:sp>
        <p:nvSpPr>
          <p:cNvPr id="6" name="Text 4"/>
          <p:cNvSpPr/>
          <p:nvPr/>
        </p:nvSpPr>
        <p:spPr>
          <a:xfrm>
            <a:off x="7040880" y="1527048"/>
            <a:ext cx="3886200" cy="658368"/>
          </a:xfrm>
          <a:prstGeom prst="rect">
            <a:avLst/>
          </a:prstGeom>
          <a:noFill/>
          <a:ln/>
        </p:spPr>
        <p:txBody>
          <a:bodyPr wrap="square" lIns="254" tIns="254" rIns="254" bIns="254" rtlCol="0" anchor="ctr"/>
          <a:lstStyle/>
          <a:p>
            <a:pPr indent="0" marL="0">
              <a:buNone/>
            </a:pPr>
            <a:r>
              <a:rPr lang="en-US" sz="1420" dirty="0">
                <a:solidFill>
                  <a:srgbClr val="667085"/>
                </a:solidFill>
              </a:rPr>
              <a:t>doi:10.1371/journal.pone.0320439</a:t>
            </a:r>
            <a:endParaRPr lang="en-US" sz="1420" dirty="0"/>
          </a:p>
        </p:txBody>
      </p:sp>
      <p:sp>
        <p:nvSpPr>
          <p:cNvPr id="7" name="Text 5"/>
          <p:cNvSpPr/>
          <p:nvPr/>
        </p:nvSpPr>
        <p:spPr>
          <a:xfrm>
            <a:off x="822960" y="2871216"/>
            <a:ext cx="2057400" cy="877824"/>
          </a:xfrm>
          <a:prstGeom prst="rect">
            <a:avLst/>
          </a:prstGeom>
          <a:solidFill>
            <a:srgbClr val="EAF2F8"/>
          </a:solidFill>
          <a:ln>
            <a:solidFill>
              <a:srgbClr val="4E79A7"/>
            </a:solidFill>
          </a:ln>
        </p:spPr>
        <p:txBody>
          <a:bodyPr wrap="square" lIns="1016" tIns="1016" rIns="1016" bIns="1016" rtlCol="0" anchor="ctr"/>
          <a:lstStyle/>
          <a:p>
            <a:pPr algn="ctr" indent="0" marL="0">
              <a:buNone/>
            </a:pPr>
            <a:r>
              <a:rPr lang="en-US" sz="1750" b="1" dirty="0">
                <a:solidFill>
                  <a:srgbClr val="12263A"/>
                </a:solidFill>
              </a:rPr>
              <a:t>Raw sequencing data</a:t>
            </a:r>
            <a:endParaRPr lang="en-US" sz="1750" dirty="0"/>
          </a:p>
        </p:txBody>
      </p:sp>
      <p:sp>
        <p:nvSpPr>
          <p:cNvPr id="8" name="Text 6"/>
          <p:cNvSpPr/>
          <p:nvPr/>
        </p:nvSpPr>
        <p:spPr>
          <a:xfrm>
            <a:off x="3154680" y="2916936"/>
            <a:ext cx="3657600" cy="658368"/>
          </a:xfrm>
          <a:prstGeom prst="rect">
            <a:avLst/>
          </a:prstGeom>
          <a:noFill/>
          <a:ln/>
        </p:spPr>
        <p:txBody>
          <a:bodyPr wrap="square" lIns="254" tIns="254" rIns="254" bIns="254" rtlCol="0" anchor="ctr"/>
          <a:lstStyle/>
          <a:p>
            <a:pPr indent="0" marL="0">
              <a:buNone/>
            </a:pPr>
            <a:r>
              <a:rPr lang="en-US" sz="1700" b="1" dirty="0">
                <a:solidFill>
                  <a:srgbClr val="12263A"/>
                </a:solidFill>
              </a:rPr>
              <a:t>European Nucleotide Archive</a:t>
            </a:r>
            <a:endParaRPr lang="en-US" sz="1700" dirty="0"/>
          </a:p>
        </p:txBody>
      </p:sp>
      <p:sp>
        <p:nvSpPr>
          <p:cNvPr id="9" name="Text 7"/>
          <p:cNvSpPr/>
          <p:nvPr/>
        </p:nvSpPr>
        <p:spPr>
          <a:xfrm>
            <a:off x="7040880" y="2916936"/>
            <a:ext cx="3886200" cy="658368"/>
          </a:xfrm>
          <a:prstGeom prst="rect">
            <a:avLst/>
          </a:prstGeom>
          <a:noFill/>
          <a:ln/>
        </p:spPr>
        <p:txBody>
          <a:bodyPr wrap="square" lIns="254" tIns="254" rIns="254" bIns="254" rtlCol="0" anchor="ctr"/>
          <a:lstStyle/>
          <a:p>
            <a:pPr indent="0" marL="0">
              <a:buNone/>
            </a:pPr>
            <a:r>
              <a:rPr lang="en-US" sz="1420" dirty="0">
                <a:solidFill>
                  <a:srgbClr val="667085"/>
                </a:solidFill>
              </a:rPr>
              <a:t>PRJEB52190 · PRJEB6233</a:t>
            </a:r>
            <a:endParaRPr lang="en-US" sz="1420" dirty="0"/>
          </a:p>
        </p:txBody>
      </p:sp>
      <p:sp>
        <p:nvSpPr>
          <p:cNvPr id="10" name="Text 8"/>
          <p:cNvSpPr/>
          <p:nvPr/>
        </p:nvSpPr>
        <p:spPr>
          <a:xfrm>
            <a:off x="822960" y="4261104"/>
            <a:ext cx="2057400" cy="877824"/>
          </a:xfrm>
          <a:prstGeom prst="rect">
            <a:avLst/>
          </a:prstGeom>
          <a:solidFill>
            <a:srgbClr val="E8F6F5"/>
          </a:solidFill>
          <a:ln>
            <a:solidFill>
              <a:srgbClr val="1F8A8A"/>
            </a:solidFill>
          </a:ln>
        </p:spPr>
        <p:txBody>
          <a:bodyPr wrap="square" lIns="1016" tIns="1016" rIns="1016" bIns="1016" rtlCol="0" anchor="ctr"/>
          <a:lstStyle/>
          <a:p>
            <a:pPr algn="ctr" indent="0" marL="0">
              <a:buNone/>
            </a:pPr>
            <a:r>
              <a:rPr lang="en-US" sz="1750" b="1" dirty="0">
                <a:solidFill>
                  <a:srgbClr val="12263A"/>
                </a:solidFill>
              </a:rPr>
              <a:t>Analysis repository</a:t>
            </a:r>
            <a:endParaRPr lang="en-US" sz="1750" dirty="0"/>
          </a:p>
        </p:txBody>
      </p:sp>
      <p:sp>
        <p:nvSpPr>
          <p:cNvPr id="11" name="Text 9"/>
          <p:cNvSpPr/>
          <p:nvPr/>
        </p:nvSpPr>
        <p:spPr>
          <a:xfrm>
            <a:off x="3154680" y="4306824"/>
            <a:ext cx="3657600" cy="658368"/>
          </a:xfrm>
          <a:prstGeom prst="rect">
            <a:avLst/>
          </a:prstGeom>
          <a:noFill/>
          <a:ln/>
        </p:spPr>
        <p:txBody>
          <a:bodyPr wrap="square" lIns="254" tIns="254" rIns="254" bIns="254" rtlCol="0" anchor="ctr"/>
          <a:lstStyle/>
          <a:p>
            <a:pPr indent="0" marL="0">
              <a:buNone/>
            </a:pPr>
            <a:r>
              <a:rPr lang="en-US" sz="1700" b="1" dirty="0">
                <a:solidFill>
                  <a:srgbClr val="12263A"/>
                </a:solidFill>
              </a:rPr>
              <a:t>Balays/EHV-1-dynamic</a:t>
            </a:r>
            <a:endParaRPr lang="en-US" sz="1700" dirty="0"/>
          </a:p>
        </p:txBody>
      </p:sp>
      <p:sp>
        <p:nvSpPr>
          <p:cNvPr id="12" name="Text 10"/>
          <p:cNvSpPr/>
          <p:nvPr/>
        </p:nvSpPr>
        <p:spPr>
          <a:xfrm>
            <a:off x="7040880" y="4306824"/>
            <a:ext cx="3886200" cy="658368"/>
          </a:xfrm>
          <a:prstGeom prst="rect">
            <a:avLst/>
          </a:prstGeom>
          <a:noFill/>
          <a:ln/>
        </p:spPr>
        <p:txBody>
          <a:bodyPr wrap="square" lIns="254" tIns="254" rIns="254" bIns="254" rtlCol="0" anchor="ctr"/>
          <a:lstStyle/>
          <a:p>
            <a:pPr indent="0" marL="0">
              <a:buNone/>
            </a:pPr>
            <a:r>
              <a:rPr lang="en-US" sz="1420" dirty="0">
                <a:solidFill>
                  <a:srgbClr val="667085"/>
                </a:solidFill>
              </a:rPr>
              <a:t>R/Rmd workflows, processed tables and publication figures</a:t>
            </a:r>
            <a:endParaRPr lang="en-US" sz="1420" dirty="0"/>
          </a:p>
        </p:txBody>
      </p:sp>
      <p:sp>
        <p:nvSpPr>
          <p:cNvPr id="13" name="Text 11"/>
          <p:cNvSpPr/>
          <p:nvPr/>
        </p:nvSpPr>
        <p:spPr>
          <a:xfrm>
            <a:off x="822960" y="5724144"/>
            <a:ext cx="2468880" cy="256032"/>
          </a:xfrm>
          <a:prstGeom prst="rect">
            <a:avLst/>
          </a:prstGeom>
          <a:noFill/>
          <a:ln/>
        </p:spPr>
        <p:txBody>
          <a:bodyPr wrap="square" lIns="0" tIns="0" rIns="0" bIns="0" rtlCol="0" anchor="ctr"/>
          <a:lstStyle/>
          <a:p>
            <a:pPr indent="0" marL="0">
              <a:buNone/>
            </a:pPr>
            <a:r>
              <a:rPr lang="en-US" sz="1150" b="1" dirty="0">
                <a:solidFill>
                  <a:srgbClr val="1F8A8A"/>
                </a:solidFill>
              </a:rPr>
              <a:t>Repository status used for this deck</a:t>
            </a:r>
            <a:endParaRPr lang="en-US" sz="1150" dirty="0"/>
          </a:p>
        </p:txBody>
      </p:sp>
      <p:sp>
        <p:nvSpPr>
          <p:cNvPr id="14" name="Text 12"/>
          <p:cNvSpPr/>
          <p:nvPr/>
        </p:nvSpPr>
        <p:spPr>
          <a:xfrm>
            <a:off x="3273552" y="5696712"/>
            <a:ext cx="7498080" cy="310896"/>
          </a:xfrm>
          <a:prstGeom prst="rect">
            <a:avLst/>
          </a:prstGeom>
          <a:noFill/>
          <a:ln/>
        </p:spPr>
        <p:txBody>
          <a:bodyPr wrap="square" lIns="0" tIns="0" rIns="0" bIns="0" rtlCol="0" anchor="ctr"/>
          <a:lstStyle/>
          <a:p>
            <a:pPr indent="0" marL="0">
              <a:buNone/>
            </a:pPr>
            <a:r>
              <a:rPr lang="en-US" sz="1350" dirty="0">
                <a:solidFill>
                  <a:srgbClr val="667085"/>
                </a:solidFill>
              </a:rPr>
              <a:t>main branch · latest checked repository commit before deck creation: df4589e (17 Mar 2025)</a:t>
            </a:r>
            <a:endParaRPr lang="en-US" sz="1350" dirty="0"/>
          </a:p>
        </p:txBody>
      </p:sp>
      <p:sp>
        <p:nvSpPr>
          <p:cNvPr id="15" name="Text 13"/>
          <p:cNvSpPr/>
          <p:nvPr/>
        </p:nvSpPr>
        <p:spPr>
          <a:xfrm>
            <a:off x="640080" y="6236208"/>
            <a:ext cx="10881360" cy="182880"/>
          </a:xfrm>
          <a:prstGeom prst="rect">
            <a:avLst/>
          </a:prstGeom>
          <a:noFill/>
          <a:ln/>
        </p:spPr>
        <p:txBody>
          <a:bodyPr wrap="square" lIns="0" tIns="0" rIns="0" bIns="0" rtlCol="0" anchor="ctr"/>
          <a:lstStyle/>
          <a:p>
            <a:pPr algn="l" indent="0" marL="0">
              <a:buNone/>
            </a:pPr>
            <a:r>
              <a:rPr lang="en-US" sz="850" i="1" dirty="0">
                <a:solidFill>
                  <a:srgbClr val="7B8794"/>
                </a:solidFill>
              </a:rPr>
              <a:t>The deck is grounded in the published paper and the analysis repository used to generate the publication results.</a:t>
            </a:r>
            <a:endParaRPr lang="en-US" sz="850" dirty="0"/>
          </a:p>
        </p:txBody>
      </p:sp>
      <p:sp>
        <p:nvSpPr>
          <p:cNvPr id="25" name="Slide Number Placeholder 0"/>
          <p:cNvSpPr>
            <a:spLocks noGrp="1"/>
          </p:cNvSpPr>
          <p:nvPr>
            <p:ph type="sldNum" sz="quarter" idx="4294967295"/>
          </p:nvPr>
        </p:nvSpPr>
        <p:spPr>
          <a:xfrm>
            <a:off x="11722608" y="6501384"/>
            <a:ext cx="2286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8A97A6"/>
                </a:solidFill>
                <a:latin typeface="Aptos"/>
                <a:ea typeface="Aptos"/>
                <a:cs typeface="Aptos"/>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University of Szeged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Long-read transcriptomics reveals the dynamic EHV-1 transcriptional program</dc:title>
  <dc:subject>EHV-1 dynamic transcriptome conference presentation</dc:subject>
  <dc:creator>Balázs Kakuk</dc:creator>
  <cp:lastModifiedBy>Balázs Kakuk</cp:lastModifiedBy>
  <cp:revision>1</cp:revision>
  <dcterms:created xsi:type="dcterms:W3CDTF">2026-09-15T13:34:52Z</dcterms:created>
  <dcterms:modified xsi:type="dcterms:W3CDTF">2026-09-15T13:34:52Z</dcterms:modified>
</cp:coreProperties>
</file>